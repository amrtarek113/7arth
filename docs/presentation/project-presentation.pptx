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gif" Extension="gif"/>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8288000" cy="10287000"/>
  <p:notesSz cx="6858000" cy="9144000"/>
  <p:embeddedFontLst>
    <p:embeddedFont>
      <p:font typeface="TT Lakes Neue" charset="1" panose="02010001040000080307"/>
      <p:regular r:id="rId56"/>
    </p:embeddedFont>
    <p:embeddedFont>
      <p:font typeface="TT Lakes Neue Bold" charset="1" panose="02010001040000080307"/>
      <p:regular r:id="rId57"/>
    </p:embeddedFont>
    <p:embeddedFont>
      <p:font typeface="Canva Sans" charset="1" panose="020B0503030501040103"/>
      <p:regular r:id="rId58"/>
    </p:embeddedFont>
    <p:embeddedFont>
      <p:font typeface="Canva Sans Bold" charset="1" panose="020B0803030501040103"/>
      <p:regular r:id="rId59"/>
    </p:embeddedFont>
    <p:embeddedFont>
      <p:font typeface="Open Sans 1" charset="1" panose="00000000000000000000"/>
      <p:regular r:id="rId60"/>
    </p:embeddedFont>
    <p:embeddedFont>
      <p:font typeface="TT Lakes Neue Bold Italics" charset="1" panose="02010001040000080307"/>
      <p:regular r:id="rId61"/>
    </p:embeddedFont>
    <p:embeddedFont>
      <p:font typeface="Barlow Bold" charset="1" panose="00000800000000000000"/>
      <p:regular r:id="rId62"/>
    </p:embeddedFont>
    <p:embeddedFont>
      <p:font typeface="Barlow Ultra-Bold" charset="1" panose="00000900000000000000"/>
      <p:regular r:id="rId63"/>
    </p:embeddedFont>
    <p:embeddedFont>
      <p:font typeface="Aileron Ultra-Bold" charset="1" panose="00000A00000000000000"/>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VAHJ895_V0Y.mp4" Type="http://schemas.openxmlformats.org/officeDocument/2006/relationships/video"/><Relationship Id="rId4" Target="../media/VAHJ895_V0Y.mp4" Type="http://schemas.microsoft.com/office/2007/relationships/media"/></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gif"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embeddings/oleObject1.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embeddings/oleObject2.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embeddings/oleObject3.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embeddings/oleObject4.bin" Type="http://schemas.openxmlformats.org/officeDocument/2006/relationships/oleObjec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embeddings/oleObject5.bin" Type="http://schemas.openxmlformats.org/officeDocument/2006/relationships/oleObject"/><Relationship Id="rId4" Target="../media/image4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embeddings/oleObject6.bin" Type="http://schemas.openxmlformats.org/officeDocument/2006/relationships/oleObjec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embeddings/oleObject7.bin" Type="http://schemas.openxmlformats.org/officeDocument/2006/relationships/oleObjec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embeddings/oleObject8.bin" Type="http://schemas.openxmlformats.org/officeDocument/2006/relationships/oleObject"/><Relationship Id="rId4" Target="../media/image48.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embeddings/oleObject9.bin" Type="http://schemas.openxmlformats.org/officeDocument/2006/relationships/oleObjec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 Id="rId3" Target="../media/image61.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63.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 Id="rId3" Target="../media/image67.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embeddings/oleObject10.bin" Type="http://schemas.openxmlformats.org/officeDocument/2006/relationships/oleObjec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 Id="rId3" Target="../media/image70.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https://link.springer.com/book/10.1007/978-3-031-54497-2" TargetMode="External" Type="http://schemas.openxmlformats.org/officeDocument/2006/relationships/hyperlink"/><Relationship Id="rId3" Target="https://www.kaggle.com/datasets/supplejade/rt-iot2022real-time-internet-of-things" TargetMode="External" Type="http://schemas.openxmlformats.org/officeDocument/2006/relationships/hyperlink"/><Relationship Id="rId4" Target="https://www.kaggle.com/datasets/sid321axn/malicious-urls-dataset/data" TargetMode="External" Type="http://schemas.openxmlformats.org/officeDocument/2006/relationships/hyperlink"/><Relationship Id="rId5" Target="https://www.sciencedirect.com/science/article/pii/S1877050924008871?fr=RR-2&amp;ref=pdf_download&amp;rr=9f317f25bff5defa" TargetMode="External" Type="http://schemas.openxmlformats.org/officeDocument/2006/relationships/hyperlink"/><Relationship Id="rId6" Target="https://www.netacad.com/cisco-packet-tracer" TargetMode="External" Type="http://schemas.openxmlformats.org/officeDocument/2006/relationships/hyperlink"/><Relationship Id="rId7" Target="https://www.gns3.com" TargetMode="External" Type="http://schemas.openxmlformats.org/officeDocument/2006/relationships/hyperlink"/><Relationship Id="rId8" Target="https://www.ic3.gov/AnnualReport/Reports/2025_IC3Report.pdf" TargetMode="External" Type="http://schemas.openxmlformats.org/officeDocument/2006/relationships/hyperlink"/></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 Id="rId3" Target="../media/image7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0" y="0"/>
            <a:ext cx="18288000" cy="102870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894" y="2537818"/>
            <a:ext cx="16230600"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AutoShape 3" id="3"/>
          <p:cNvSpPr/>
          <p:nvPr/>
        </p:nvSpPr>
        <p:spPr>
          <a:xfrm>
            <a:off x="4839874" y="2547343"/>
            <a:ext cx="0" cy="1769629"/>
          </a:xfrm>
          <a:prstGeom prst="line">
            <a:avLst/>
          </a:prstGeom>
          <a:ln cap="flat" w="28575">
            <a:gradFill>
              <a:gsLst>
                <a:gs pos="0">
                  <a:srgbClr val="004AAD">
                    <a:alpha val="100000"/>
                  </a:srgbClr>
                </a:gs>
                <a:gs pos="100000">
                  <a:srgbClr val="CB6CE6">
                    <a:alpha val="100000"/>
                  </a:srgbClr>
                </a:gs>
              </a:gsLst>
              <a:lin ang="0"/>
            </a:gradFill>
            <a:prstDash val="solid"/>
            <a:headEnd type="none" len="sm" w="sm"/>
            <a:tailEnd type="none" len="sm" w="sm"/>
          </a:ln>
        </p:spPr>
      </p:sp>
      <p:sp>
        <p:nvSpPr>
          <p:cNvPr name="AutoShape 4" id="4"/>
          <p:cNvSpPr/>
          <p:nvPr/>
        </p:nvSpPr>
        <p:spPr>
          <a:xfrm>
            <a:off x="8142878" y="2547343"/>
            <a:ext cx="0" cy="1769629"/>
          </a:xfrm>
          <a:prstGeom prst="line">
            <a:avLst/>
          </a:prstGeom>
          <a:ln cap="flat" w="28575">
            <a:gradFill>
              <a:gsLst>
                <a:gs pos="0">
                  <a:srgbClr val="004AAD">
                    <a:alpha val="100000"/>
                  </a:srgbClr>
                </a:gs>
                <a:gs pos="100000">
                  <a:srgbClr val="CB6CE6">
                    <a:alpha val="100000"/>
                  </a:srgbClr>
                </a:gs>
              </a:gsLst>
              <a:lin ang="0"/>
            </a:gradFill>
            <a:prstDash val="solid"/>
            <a:headEnd type="none" len="sm" w="sm"/>
            <a:tailEnd type="none" len="sm" w="sm"/>
          </a:ln>
        </p:spPr>
      </p:sp>
      <p:sp>
        <p:nvSpPr>
          <p:cNvPr name="AutoShape 5" id="5"/>
          <p:cNvSpPr/>
          <p:nvPr/>
        </p:nvSpPr>
        <p:spPr>
          <a:xfrm>
            <a:off x="12032439" y="2537818"/>
            <a:ext cx="0" cy="1769629"/>
          </a:xfrm>
          <a:prstGeom prst="line">
            <a:avLst/>
          </a:prstGeom>
          <a:ln cap="flat" w="28575">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6" id="6"/>
          <p:cNvSpPr/>
          <p:nvPr/>
        </p:nvSpPr>
        <p:spPr>
          <a:xfrm flipH="false" flipV="false" rot="0">
            <a:off x="695719" y="4872648"/>
            <a:ext cx="8448281" cy="4385652"/>
          </a:xfrm>
          <a:custGeom>
            <a:avLst/>
            <a:gdLst/>
            <a:ahLst/>
            <a:cxnLst/>
            <a:rect r="r" b="b" t="t" l="l"/>
            <a:pathLst>
              <a:path h="4385652" w="8448281">
                <a:moveTo>
                  <a:pt x="0" y="0"/>
                </a:moveTo>
                <a:lnTo>
                  <a:pt x="8448281" y="0"/>
                </a:lnTo>
                <a:lnTo>
                  <a:pt x="8448281" y="4385652"/>
                </a:lnTo>
                <a:lnTo>
                  <a:pt x="0" y="4385652"/>
                </a:lnTo>
                <a:lnTo>
                  <a:pt x="0" y="0"/>
                </a:lnTo>
                <a:close/>
              </a:path>
            </a:pathLst>
          </a:custGeom>
          <a:blipFill>
            <a:blip r:embed="rId2"/>
            <a:stretch>
              <a:fillRect l="0" t="0" r="0" b="0"/>
            </a:stretch>
          </a:blipFill>
        </p:spPr>
      </p:sp>
      <p:sp>
        <p:nvSpPr>
          <p:cNvPr name="Freeform 7" id="7"/>
          <p:cNvSpPr/>
          <p:nvPr/>
        </p:nvSpPr>
        <p:spPr>
          <a:xfrm flipH="false" flipV="false" rot="0">
            <a:off x="9357744" y="5109299"/>
            <a:ext cx="8115494" cy="4149001"/>
          </a:xfrm>
          <a:custGeom>
            <a:avLst/>
            <a:gdLst/>
            <a:ahLst/>
            <a:cxnLst/>
            <a:rect r="r" b="b" t="t" l="l"/>
            <a:pathLst>
              <a:path h="4149001" w="8115494">
                <a:moveTo>
                  <a:pt x="0" y="0"/>
                </a:moveTo>
                <a:lnTo>
                  <a:pt x="8115494" y="0"/>
                </a:lnTo>
                <a:lnTo>
                  <a:pt x="8115494" y="4149001"/>
                </a:lnTo>
                <a:lnTo>
                  <a:pt x="0" y="4149001"/>
                </a:lnTo>
                <a:lnTo>
                  <a:pt x="0" y="0"/>
                </a:lnTo>
                <a:close/>
              </a:path>
            </a:pathLst>
          </a:custGeom>
          <a:blipFill>
            <a:blip r:embed="rId3"/>
            <a:stretch>
              <a:fillRect l="0" t="0" r="0" b="0"/>
            </a:stretch>
          </a:blipFill>
        </p:spPr>
      </p:sp>
      <p:sp>
        <p:nvSpPr>
          <p:cNvPr name="TextBox 8" id="8"/>
          <p:cNvSpPr txBox="true"/>
          <p:nvPr/>
        </p:nvSpPr>
        <p:spPr>
          <a:xfrm rot="0">
            <a:off x="1028700" y="556260"/>
            <a:ext cx="7094934" cy="472440"/>
          </a:xfrm>
          <a:prstGeom prst="rect">
            <a:avLst/>
          </a:prstGeom>
        </p:spPr>
        <p:txBody>
          <a:bodyPr anchor="t" rtlCol="false" tIns="0" lIns="0" bIns="0" rIns="0">
            <a:spAutoFit/>
          </a:bodyPr>
          <a:lstStyle/>
          <a:p>
            <a:pPr algn="ctr">
              <a:lnSpc>
                <a:spcPts val="3900"/>
              </a:lnSpc>
              <a:spcBef>
                <a:spcPct val="0"/>
              </a:spcBef>
            </a:pPr>
            <a:r>
              <a:rPr lang="en-US" sz="2600">
                <a:gradFill>
                  <a:gsLst>
                    <a:gs pos="0">
                      <a:srgbClr val="004AAD">
                        <a:alpha val="100000"/>
                      </a:srgbClr>
                    </a:gs>
                    <a:gs pos="100000">
                      <a:srgbClr val="CB6CE6">
                        <a:alpha val="100000"/>
                      </a:srgbClr>
                    </a:gs>
                  </a:gsLst>
                  <a:lin ang="0"/>
                </a:gradFill>
                <a:latin typeface="TT Lakes Neue"/>
                <a:ea typeface="TT Lakes Neue"/>
                <a:cs typeface="TT Lakes Neue"/>
                <a:sym typeface="TT Lakes Neue"/>
              </a:rPr>
              <a:t>FBI  INTERNET CRIME COMPLAINT CENTER</a:t>
            </a:r>
          </a:p>
        </p:txBody>
      </p:sp>
      <p:sp>
        <p:nvSpPr>
          <p:cNvPr name="TextBox 9" id="9"/>
          <p:cNvSpPr txBox="true"/>
          <p:nvPr/>
        </p:nvSpPr>
        <p:spPr>
          <a:xfrm rot="0">
            <a:off x="1028700" y="885825"/>
            <a:ext cx="10617755" cy="925830"/>
          </a:xfrm>
          <a:prstGeom prst="rect">
            <a:avLst/>
          </a:prstGeom>
        </p:spPr>
        <p:txBody>
          <a:bodyPr anchor="t" rtlCol="false" tIns="0" lIns="0" bIns="0" rIns="0">
            <a:spAutoFit/>
          </a:bodyPr>
          <a:lstStyle/>
          <a:p>
            <a:pPr algn="ctr">
              <a:lnSpc>
                <a:spcPts val="7799"/>
              </a:lnSpc>
              <a:spcBef>
                <a:spcPct val="0"/>
              </a:spcBef>
            </a:pPr>
            <a:r>
              <a:rPr lang="en-US" b="true" sz="51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CYBER-ENABLED FRAUD 2025</a:t>
            </a:r>
          </a:p>
        </p:txBody>
      </p:sp>
      <p:sp>
        <p:nvSpPr>
          <p:cNvPr name="TextBox 10" id="10"/>
          <p:cNvSpPr txBox="true"/>
          <p:nvPr/>
        </p:nvSpPr>
        <p:spPr>
          <a:xfrm rot="0">
            <a:off x="1028700" y="2763947"/>
            <a:ext cx="3702010" cy="1403954"/>
          </a:xfrm>
          <a:prstGeom prst="rect">
            <a:avLst/>
          </a:prstGeom>
        </p:spPr>
        <p:txBody>
          <a:bodyPr anchor="t" rtlCol="false" tIns="0" lIns="0" bIns="0" rIns="0">
            <a:spAutoFit/>
          </a:bodyPr>
          <a:lstStyle/>
          <a:p>
            <a:pPr algn="ctr">
              <a:lnSpc>
                <a:spcPts val="4033"/>
              </a:lnSpc>
              <a:spcBef>
                <a:spcPct val="0"/>
              </a:spcBef>
            </a:pPr>
            <a:r>
              <a:rPr lang="en-US" sz="2688">
                <a:solidFill>
                  <a:srgbClr val="000000"/>
                </a:solidFill>
                <a:latin typeface="Canva Sans"/>
                <a:ea typeface="Canva Sans"/>
                <a:cs typeface="Canva Sans"/>
                <a:sym typeface="Canva Sans"/>
              </a:rPr>
              <a:t>T</a:t>
            </a:r>
            <a:r>
              <a:rPr lang="en-US" sz="2688">
                <a:solidFill>
                  <a:srgbClr val="000000"/>
                </a:solidFill>
                <a:latin typeface="Canva Sans"/>
                <a:ea typeface="Canva Sans"/>
                <a:cs typeface="Canva Sans"/>
                <a:sym typeface="Canva Sans"/>
              </a:rPr>
              <a:t>otal Complaints</a:t>
            </a:r>
          </a:p>
          <a:p>
            <a:pPr algn="ctr">
              <a:lnSpc>
                <a:spcPts val="4033"/>
              </a:lnSpc>
              <a:spcBef>
                <a:spcPct val="0"/>
              </a:spcBef>
            </a:pPr>
            <a:r>
              <a:rPr lang="en-US" b="true" sz="2688">
                <a:solidFill>
                  <a:srgbClr val="000000"/>
                </a:solidFill>
                <a:latin typeface="Canva Sans Bold"/>
                <a:ea typeface="Canva Sans Bold"/>
                <a:cs typeface="Canva Sans Bold"/>
                <a:sym typeface="Canva Sans Bold"/>
              </a:rPr>
              <a:t>1,008,597</a:t>
            </a:r>
          </a:p>
          <a:p>
            <a:pPr algn="ctr">
              <a:lnSpc>
                <a:spcPts val="3169"/>
              </a:lnSpc>
              <a:spcBef>
                <a:spcPct val="0"/>
              </a:spcBef>
            </a:pPr>
            <a:r>
              <a:rPr lang="en-US" sz="2112">
                <a:solidFill>
                  <a:srgbClr val="000000"/>
                </a:solidFill>
                <a:latin typeface="Canva Sans"/>
                <a:ea typeface="Canva Sans"/>
                <a:cs typeface="Canva Sans"/>
                <a:sym typeface="Canva Sans"/>
              </a:rPr>
              <a:t>First time exceeding 1M/year</a:t>
            </a:r>
          </a:p>
        </p:txBody>
      </p:sp>
      <p:sp>
        <p:nvSpPr>
          <p:cNvPr name="TextBox 11" id="11"/>
          <p:cNvSpPr txBox="true"/>
          <p:nvPr/>
        </p:nvSpPr>
        <p:spPr>
          <a:xfrm rot="0">
            <a:off x="5289440" y="2773472"/>
            <a:ext cx="2403872" cy="1438275"/>
          </a:xfrm>
          <a:prstGeom prst="rect">
            <a:avLst/>
          </a:prstGeom>
        </p:spPr>
        <p:txBody>
          <a:bodyPr anchor="t" rtlCol="false" tIns="0" lIns="0" bIns="0" rIns="0">
            <a:spAutoFit/>
          </a:bodyPr>
          <a:lstStyle/>
          <a:p>
            <a:pPr algn="ctr" marL="0" indent="0" lvl="0">
              <a:lnSpc>
                <a:spcPts val="4199"/>
              </a:lnSpc>
              <a:spcBef>
                <a:spcPct val="0"/>
              </a:spcBef>
            </a:pPr>
            <a:r>
              <a:rPr lang="en-US" sz="2799" strike="noStrike" u="none">
                <a:solidFill>
                  <a:srgbClr val="000000"/>
                </a:solidFill>
                <a:latin typeface="Canva Sans"/>
                <a:ea typeface="Canva Sans"/>
                <a:cs typeface="Canva Sans"/>
                <a:sym typeface="Canva Sans"/>
              </a:rPr>
              <a:t>Total Losses</a:t>
            </a:r>
          </a:p>
          <a:p>
            <a:pPr algn="ctr" marL="0" indent="0" lvl="0">
              <a:lnSpc>
                <a:spcPts val="4199"/>
              </a:lnSpc>
              <a:spcBef>
                <a:spcPct val="0"/>
              </a:spcBef>
            </a:pPr>
            <a:r>
              <a:rPr lang="en-US" b="true" sz="2799" strike="noStrike" u="none">
                <a:solidFill>
                  <a:srgbClr val="000000"/>
                </a:solidFill>
                <a:latin typeface="Canva Sans Bold"/>
                <a:ea typeface="Canva Sans Bold"/>
                <a:cs typeface="Canva Sans Bold"/>
                <a:sym typeface="Canva Sans Bold"/>
              </a:rPr>
              <a:t>$20.88B</a:t>
            </a:r>
          </a:p>
          <a:p>
            <a:pPr algn="ctr" marL="0" indent="0" lvl="0">
              <a:lnSpc>
                <a:spcPts val="3299"/>
              </a:lnSpc>
              <a:spcBef>
                <a:spcPct val="0"/>
              </a:spcBef>
            </a:pPr>
            <a:r>
              <a:rPr lang="en-US" sz="2199" strike="noStrike" u="none">
                <a:solidFill>
                  <a:srgbClr val="000000"/>
                </a:solidFill>
                <a:latin typeface="Canva Sans"/>
                <a:ea typeface="Canva Sans"/>
                <a:cs typeface="Canva Sans"/>
                <a:sym typeface="Canva Sans"/>
              </a:rPr>
              <a:t>vs. $16.6B in 2024</a:t>
            </a:r>
          </a:p>
        </p:txBody>
      </p:sp>
      <p:sp>
        <p:nvSpPr>
          <p:cNvPr name="TextBox 12" id="12"/>
          <p:cNvSpPr txBox="true"/>
          <p:nvPr/>
        </p:nvSpPr>
        <p:spPr>
          <a:xfrm rot="0">
            <a:off x="8516999" y="2763947"/>
            <a:ext cx="3143964" cy="1394460"/>
          </a:xfrm>
          <a:prstGeom prst="rect">
            <a:avLst/>
          </a:prstGeom>
        </p:spPr>
        <p:txBody>
          <a:bodyPr anchor="t" rtlCol="false" tIns="0" lIns="0" bIns="0" rIns="0">
            <a:spAutoFit/>
          </a:bodyPr>
          <a:lstStyle/>
          <a:p>
            <a:pPr algn="ctr" marL="0" indent="0" lvl="0">
              <a:lnSpc>
                <a:spcPts val="3900"/>
              </a:lnSpc>
              <a:spcBef>
                <a:spcPct val="0"/>
              </a:spcBef>
            </a:pPr>
            <a:r>
              <a:rPr lang="en-US" sz="2600" strike="noStrike" u="none">
                <a:solidFill>
                  <a:srgbClr val="000000"/>
                </a:solidFill>
                <a:latin typeface="Canva Sans"/>
                <a:ea typeface="Canva Sans"/>
                <a:cs typeface="Canva Sans"/>
                <a:sym typeface="Canva Sans"/>
              </a:rPr>
              <a:t>Average Loss</a:t>
            </a:r>
          </a:p>
          <a:p>
            <a:pPr algn="ctr" marL="0" indent="0" lvl="0">
              <a:lnSpc>
                <a:spcPts val="3900"/>
              </a:lnSpc>
              <a:spcBef>
                <a:spcPct val="0"/>
              </a:spcBef>
            </a:pPr>
            <a:r>
              <a:rPr lang="en-US" b="true" sz="2600" strike="noStrike" u="none">
                <a:solidFill>
                  <a:srgbClr val="000000"/>
                </a:solidFill>
                <a:latin typeface="Canva Sans Bold"/>
                <a:ea typeface="Canva Sans Bold"/>
                <a:cs typeface="Canva Sans Bold"/>
                <a:sym typeface="Canva Sans Bold"/>
              </a:rPr>
              <a:t>$20,699</a:t>
            </a:r>
          </a:p>
          <a:p>
            <a:pPr algn="ctr" marL="0" indent="0" lvl="0">
              <a:lnSpc>
                <a:spcPts val="3299"/>
              </a:lnSpc>
              <a:spcBef>
                <a:spcPct val="0"/>
              </a:spcBef>
            </a:pPr>
            <a:r>
              <a:rPr lang="en-US" sz="2199" strike="noStrike" u="none">
                <a:solidFill>
                  <a:srgbClr val="000000"/>
                </a:solidFill>
                <a:latin typeface="Canva Sans"/>
                <a:ea typeface="Canva Sans"/>
                <a:cs typeface="Canva Sans"/>
                <a:sym typeface="Canva Sans"/>
              </a:rPr>
              <a:t>Per complaint reported</a:t>
            </a:r>
          </a:p>
        </p:txBody>
      </p:sp>
      <p:sp>
        <p:nvSpPr>
          <p:cNvPr name="TextBox 13" id="13"/>
          <p:cNvSpPr txBox="true"/>
          <p:nvPr/>
        </p:nvSpPr>
        <p:spPr>
          <a:xfrm rot="0">
            <a:off x="12137214" y="2817287"/>
            <a:ext cx="5336024" cy="1394460"/>
          </a:xfrm>
          <a:prstGeom prst="rect">
            <a:avLst/>
          </a:prstGeom>
        </p:spPr>
        <p:txBody>
          <a:bodyPr anchor="t" rtlCol="false" tIns="0" lIns="0" bIns="0" rIns="0">
            <a:spAutoFit/>
          </a:bodyPr>
          <a:lstStyle/>
          <a:p>
            <a:pPr algn="ctr" marL="0" indent="0" lvl="0">
              <a:lnSpc>
                <a:spcPts val="3900"/>
              </a:lnSpc>
              <a:spcBef>
                <a:spcPct val="0"/>
              </a:spcBef>
            </a:pPr>
            <a:r>
              <a:rPr lang="en-US" sz="2600" strike="noStrike" u="none">
                <a:solidFill>
                  <a:srgbClr val="000000"/>
                </a:solidFill>
                <a:latin typeface="Canva Sans"/>
                <a:ea typeface="Canva Sans"/>
                <a:cs typeface="Canva Sans"/>
                <a:sym typeface="Canva Sans"/>
              </a:rPr>
              <a:t>Daily Complaints</a:t>
            </a:r>
          </a:p>
          <a:p>
            <a:pPr algn="ctr" marL="0" indent="0" lvl="0">
              <a:lnSpc>
                <a:spcPts val="3900"/>
              </a:lnSpc>
              <a:spcBef>
                <a:spcPct val="0"/>
              </a:spcBef>
            </a:pPr>
            <a:r>
              <a:rPr lang="en-US" b="true" sz="2600" strike="noStrike" u="none">
                <a:solidFill>
                  <a:srgbClr val="000000"/>
                </a:solidFill>
                <a:latin typeface="Canva Sans Bold"/>
                <a:ea typeface="Canva Sans Bold"/>
                <a:cs typeface="Canva Sans Bold"/>
                <a:sym typeface="Canva Sans Bold"/>
              </a:rPr>
              <a:t>~3,000</a:t>
            </a:r>
          </a:p>
          <a:p>
            <a:pPr algn="ctr" marL="0" indent="0" lvl="0">
              <a:lnSpc>
                <a:spcPts val="3299"/>
              </a:lnSpc>
              <a:spcBef>
                <a:spcPct val="0"/>
              </a:spcBef>
            </a:pPr>
            <a:r>
              <a:rPr lang="en-US" sz="2199" strike="noStrike" u="none">
                <a:solidFill>
                  <a:srgbClr val="000000"/>
                </a:solidFill>
                <a:latin typeface="Canva Sans"/>
                <a:ea typeface="Canva Sans"/>
                <a:cs typeface="Canva Sans"/>
                <a:sym typeface="Canva Sans"/>
              </a:rPr>
              <a:t>Up from a few thousand/month in 2000</a:t>
            </a:r>
          </a:p>
        </p:txBody>
      </p:sp>
      <p:sp>
        <p:nvSpPr>
          <p:cNvPr name="TextBox 14" id="14"/>
          <p:cNvSpPr txBox="true"/>
          <p:nvPr/>
        </p:nvSpPr>
        <p:spPr>
          <a:xfrm rot="0">
            <a:off x="13723576" y="782955"/>
            <a:ext cx="3535918" cy="916305"/>
          </a:xfrm>
          <a:prstGeom prst="rect">
            <a:avLst/>
          </a:prstGeom>
        </p:spPr>
        <p:txBody>
          <a:bodyPr anchor="t" rtlCol="false" tIns="0" lIns="0" bIns="0" rIns="0">
            <a:spAutoFit/>
          </a:bodyPr>
          <a:lstStyle/>
          <a:p>
            <a:pPr algn="ctr">
              <a:lnSpc>
                <a:spcPts val="2700"/>
              </a:lnSpc>
              <a:spcBef>
                <a:spcPct val="0"/>
              </a:spcBef>
            </a:pPr>
            <a:r>
              <a:rPr lang="en-US" b="true" sz="1800">
                <a:solidFill>
                  <a:srgbClr val="000000"/>
                </a:solidFill>
                <a:latin typeface="Canva Sans Bold"/>
                <a:ea typeface="Canva Sans Bold"/>
                <a:cs typeface="Canva Sans Bold"/>
                <a:sym typeface="Canva Sans Bold"/>
              </a:rPr>
              <a:t>Source: IC3 Annual Report 2025</a:t>
            </a:r>
          </a:p>
          <a:p>
            <a:pPr algn="ctr">
              <a:lnSpc>
                <a:spcPts val="2399"/>
              </a:lnSpc>
              <a:spcBef>
                <a:spcPct val="0"/>
              </a:spcBef>
            </a:pPr>
            <a:r>
              <a:rPr lang="en-US" sz="1599">
                <a:solidFill>
                  <a:srgbClr val="000000"/>
                </a:solidFill>
                <a:latin typeface="Canva Sans"/>
                <a:ea typeface="Canva Sans"/>
                <a:cs typeface="Canva Sans"/>
                <a:sym typeface="Canva Sans"/>
              </a:rPr>
              <a:t>Federal Bureau of Investigation</a:t>
            </a:r>
          </a:p>
          <a:p>
            <a:pPr algn="ctr">
              <a:lnSpc>
                <a:spcPts val="2399"/>
              </a:lnSpc>
              <a:spcBef>
                <a:spcPct val="0"/>
              </a:spcBef>
            </a:pPr>
            <a:r>
              <a:rPr lang="en-US" sz="1599">
                <a:solidFill>
                  <a:srgbClr val="000000"/>
                </a:solidFill>
                <a:latin typeface="Canva Sans"/>
                <a:ea typeface="Canva Sans"/>
                <a:cs typeface="Canva Sans"/>
                <a:sym typeface="Canva Sans"/>
              </a:rPr>
              <a:t>25th Anniversary Report · ic3.gov</a:t>
            </a:r>
          </a:p>
        </p:txBody>
      </p:sp>
      <p:sp>
        <p:nvSpPr>
          <p:cNvPr name="AutoShape 15" id="15"/>
          <p:cNvSpPr/>
          <p:nvPr/>
        </p:nvSpPr>
        <p:spPr>
          <a:xfrm flipH="true">
            <a:off x="9250872" y="4872648"/>
            <a:ext cx="0" cy="4385652"/>
          </a:xfrm>
          <a:prstGeom prst="line">
            <a:avLst/>
          </a:prstGeom>
          <a:ln cap="flat" w="19050">
            <a:solidFill>
              <a:srgbClr val="1481D0">
                <a:alpha val="45882"/>
              </a:srgbClr>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4465975" cy="781546"/>
          </a:xfrm>
          <a:custGeom>
            <a:avLst/>
            <a:gdLst/>
            <a:ahLst/>
            <a:cxnLst/>
            <a:rect r="r" b="b" t="t" l="l"/>
            <a:pathLst>
              <a:path h="781546" w="4465975">
                <a:moveTo>
                  <a:pt x="0" y="0"/>
                </a:moveTo>
                <a:lnTo>
                  <a:pt x="4465975" y="0"/>
                </a:lnTo>
                <a:lnTo>
                  <a:pt x="4465975" y="781546"/>
                </a:lnTo>
                <a:lnTo>
                  <a:pt x="0" y="781546"/>
                </a:lnTo>
                <a:lnTo>
                  <a:pt x="0" y="0"/>
                </a:lnTo>
                <a:close/>
              </a:path>
            </a:pathLst>
          </a:custGeom>
          <a:blipFill>
            <a:blip r:embed="rId2"/>
            <a:stretch>
              <a:fillRect l="0" t="0" r="0" b="0"/>
            </a:stretch>
          </a:blipFill>
        </p:spPr>
      </p:sp>
      <p:grpSp>
        <p:nvGrpSpPr>
          <p:cNvPr name="Group 3" id="3"/>
          <p:cNvGrpSpPr/>
          <p:nvPr/>
        </p:nvGrpSpPr>
        <p:grpSpPr>
          <a:xfrm rot="0">
            <a:off x="6682264" y="-5691818"/>
            <a:ext cx="18250946" cy="19208239"/>
            <a:chOff x="0" y="0"/>
            <a:chExt cx="848856" cy="893380"/>
          </a:xfrm>
        </p:grpSpPr>
        <p:sp>
          <p:nvSpPr>
            <p:cNvPr name="Freeform 4" id="4"/>
            <p:cNvSpPr/>
            <p:nvPr/>
          </p:nvSpPr>
          <p:spPr>
            <a:xfrm flipH="false" flipV="false" rot="0">
              <a:off x="0" y="0"/>
              <a:ext cx="848856" cy="893380"/>
            </a:xfrm>
            <a:custGeom>
              <a:avLst/>
              <a:gdLst/>
              <a:ahLst/>
              <a:cxnLst/>
              <a:rect r="r" b="b" t="t" l="l"/>
              <a:pathLst>
                <a:path h="893380" w="848856">
                  <a:moveTo>
                    <a:pt x="424428" y="0"/>
                  </a:moveTo>
                  <a:lnTo>
                    <a:pt x="848856" y="893380"/>
                  </a:lnTo>
                  <a:lnTo>
                    <a:pt x="0" y="893380"/>
                  </a:lnTo>
                  <a:lnTo>
                    <a:pt x="424428" y="0"/>
                  </a:lnTo>
                  <a:close/>
                </a:path>
              </a:pathLst>
            </a:custGeom>
            <a:blipFill>
              <a:blip r:embed="rId3"/>
              <a:stretch>
                <a:fillRect l="-93505" t="0" r="-144631" b="0"/>
              </a:stretch>
            </a:blipFill>
          </p:spPr>
        </p:sp>
      </p:grpSp>
      <p:sp>
        <p:nvSpPr>
          <p:cNvPr name="TextBox 5" id="5"/>
          <p:cNvSpPr txBox="true"/>
          <p:nvPr/>
        </p:nvSpPr>
        <p:spPr>
          <a:xfrm rot="0">
            <a:off x="3992096" y="2694222"/>
            <a:ext cx="3005157" cy="1019178"/>
          </a:xfrm>
          <a:prstGeom prst="rect">
            <a:avLst/>
          </a:prstGeom>
        </p:spPr>
        <p:txBody>
          <a:bodyPr anchor="t" rtlCol="false" tIns="0" lIns="0" bIns="0" rIns="0">
            <a:spAutoFit/>
          </a:bodyPr>
          <a:lstStyle/>
          <a:p>
            <a:pPr algn="ctr" rtl="true">
              <a:lnSpc>
                <a:spcPts val="8399"/>
              </a:lnSpc>
              <a:spcBef>
                <a:spcPct val="0"/>
              </a:spcBef>
            </a:pPr>
            <a:r>
              <a:rPr lang="ar-EG" b="true" sz="5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tl val="true"/>
              </a:rPr>
              <a:t>(</a:t>
            </a:r>
            <a:r>
              <a:rPr lang="en-US" b="true" sz="5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7arth</a:t>
            </a:r>
            <a:r>
              <a:rPr lang="ar-EG" b="true" sz="5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tl val="true"/>
              </a:rPr>
              <a:t>)</a:t>
            </a:r>
          </a:p>
        </p:txBody>
      </p:sp>
      <p:sp>
        <p:nvSpPr>
          <p:cNvPr name="TextBox 6" id="6"/>
          <p:cNvSpPr txBox="true"/>
          <p:nvPr/>
        </p:nvSpPr>
        <p:spPr>
          <a:xfrm rot="0">
            <a:off x="1028700" y="4047152"/>
            <a:ext cx="8931950" cy="1374679"/>
          </a:xfrm>
          <a:prstGeom prst="rect">
            <a:avLst/>
          </a:prstGeom>
        </p:spPr>
        <p:txBody>
          <a:bodyPr anchor="t" rtlCol="false" tIns="0" lIns="0" bIns="0" rIns="0">
            <a:spAutoFit/>
          </a:bodyPr>
          <a:lstStyle/>
          <a:p>
            <a:pPr algn="ctr">
              <a:lnSpc>
                <a:spcPts val="5605"/>
              </a:lnSpc>
            </a:pPr>
            <a:r>
              <a:rPr lang="en-US" sz="4003">
                <a:solidFill>
                  <a:srgbClr val="000000"/>
                </a:solidFill>
                <a:latin typeface="TT Lakes Neue"/>
                <a:ea typeface="TT Lakes Neue"/>
                <a:cs typeface="TT Lakes Neue"/>
                <a:sym typeface="TT Lakes Neue"/>
              </a:rPr>
              <a:t>AI-Powered</a:t>
            </a:r>
          </a:p>
          <a:p>
            <a:pPr algn="ctr">
              <a:lnSpc>
                <a:spcPts val="5605"/>
              </a:lnSpc>
              <a:spcBef>
                <a:spcPct val="0"/>
              </a:spcBef>
            </a:pPr>
            <a:r>
              <a:rPr lang="en-US" sz="4003">
                <a:solidFill>
                  <a:srgbClr val="000000"/>
                </a:solidFill>
                <a:latin typeface="TT Lakes Neue"/>
                <a:ea typeface="TT Lakes Neue"/>
                <a:cs typeface="TT Lakes Neue"/>
                <a:sym typeface="TT Lakes Neue"/>
              </a:rPr>
              <a:t> Network Intrusion Detection System </a:t>
            </a:r>
          </a:p>
        </p:txBody>
      </p:sp>
      <p:sp>
        <p:nvSpPr>
          <p:cNvPr name="TextBox 7" id="7"/>
          <p:cNvSpPr txBox="true"/>
          <p:nvPr/>
        </p:nvSpPr>
        <p:spPr>
          <a:xfrm rot="0">
            <a:off x="1028700" y="5989596"/>
            <a:ext cx="3412080" cy="422178"/>
          </a:xfrm>
          <a:prstGeom prst="rect">
            <a:avLst/>
          </a:prstGeom>
        </p:spPr>
        <p:txBody>
          <a:bodyPr anchor="t" rtlCol="false" tIns="0" lIns="0" bIns="0" rIns="0">
            <a:spAutoFit/>
          </a:bodyPr>
          <a:lstStyle/>
          <a:p>
            <a:pPr algn="ctr">
              <a:lnSpc>
                <a:spcPts val="3505"/>
              </a:lnSpc>
              <a:spcBef>
                <a:spcPct val="0"/>
              </a:spcBef>
            </a:pPr>
            <a:r>
              <a:rPr lang="en-US" b="true" sz="2503">
                <a:solidFill>
                  <a:srgbClr val="000000"/>
                </a:solidFill>
                <a:latin typeface="TT Lakes Neue Bold"/>
                <a:ea typeface="TT Lakes Neue Bold"/>
                <a:cs typeface="TT Lakes Neue Bold"/>
                <a:sym typeface="TT Lakes Neue Bold"/>
              </a:rPr>
              <a:t>Supervised by</a:t>
            </a:r>
          </a:p>
        </p:txBody>
      </p:sp>
      <p:sp>
        <p:nvSpPr>
          <p:cNvPr name="TextBox 8" id="8"/>
          <p:cNvSpPr txBox="true"/>
          <p:nvPr/>
        </p:nvSpPr>
        <p:spPr>
          <a:xfrm rot="0">
            <a:off x="1028700" y="6548180"/>
            <a:ext cx="5679728" cy="2784379"/>
          </a:xfrm>
          <a:prstGeom prst="rect">
            <a:avLst/>
          </a:prstGeom>
        </p:spPr>
        <p:txBody>
          <a:bodyPr anchor="t" rtlCol="false" tIns="0" lIns="0" bIns="0" rIns="0">
            <a:spAutoFit/>
          </a:bodyPr>
          <a:lstStyle/>
          <a:p>
            <a:pPr algn="l">
              <a:lnSpc>
                <a:spcPts val="5605"/>
              </a:lnSpc>
            </a:pPr>
            <a:r>
              <a:rPr lang="en-US" sz="4003">
                <a:solidFill>
                  <a:srgbClr val="000000"/>
                </a:solidFill>
                <a:latin typeface="TT Lakes Neue"/>
                <a:ea typeface="TT Lakes Neue"/>
                <a:cs typeface="TT Lakes Neue"/>
                <a:sym typeface="TT Lakes Neue"/>
              </a:rPr>
              <a:t>Dr. Waleed Gaballah</a:t>
            </a:r>
          </a:p>
          <a:p>
            <a:pPr algn="l">
              <a:lnSpc>
                <a:spcPts val="5605"/>
              </a:lnSpc>
            </a:pPr>
            <a:r>
              <a:rPr lang="en-US" sz="4003">
                <a:solidFill>
                  <a:srgbClr val="000000"/>
                </a:solidFill>
                <a:latin typeface="TT Lakes Neue"/>
                <a:ea typeface="TT Lakes Neue"/>
                <a:cs typeface="TT Lakes Neue"/>
                <a:sym typeface="TT Lakes Neue"/>
              </a:rPr>
              <a:t>Dr. Shaimaa Elsabbahi</a:t>
            </a:r>
          </a:p>
          <a:p>
            <a:pPr algn="l">
              <a:lnSpc>
                <a:spcPts val="5605"/>
              </a:lnSpc>
            </a:pPr>
            <a:r>
              <a:rPr lang="en-US" sz="4003">
                <a:solidFill>
                  <a:srgbClr val="000000"/>
                </a:solidFill>
                <a:latin typeface="TT Lakes Neue"/>
                <a:ea typeface="TT Lakes Neue"/>
                <a:cs typeface="TT Lakes Neue"/>
                <a:sym typeface="TT Lakes Neue"/>
              </a:rPr>
              <a:t>Eng. Amira Basuoni</a:t>
            </a:r>
          </a:p>
          <a:p>
            <a:pPr algn="l">
              <a:lnSpc>
                <a:spcPts val="5605"/>
              </a:lnSpc>
              <a:spcBef>
                <a:spcPct val="0"/>
              </a:spcBef>
            </a:pPr>
            <a:r>
              <a:rPr lang="en-US" sz="4003">
                <a:solidFill>
                  <a:srgbClr val="000000"/>
                </a:solidFill>
                <a:latin typeface="TT Lakes Neue"/>
                <a:ea typeface="TT Lakes Neue"/>
                <a:cs typeface="TT Lakes Neue"/>
                <a:sym typeface="TT Lakes Neue"/>
              </a:rPr>
              <a:t>Eng. Shrouk Abdelnaser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04875"/>
            <a:ext cx="6948964" cy="1184275"/>
          </a:xfrm>
          <a:prstGeom prst="rect">
            <a:avLst/>
          </a:prstGeom>
        </p:spPr>
        <p:txBody>
          <a:bodyPr anchor="t" rtlCol="false" tIns="0" lIns="0" bIns="0" rIns="0">
            <a:spAutoFit/>
          </a:bodyPr>
          <a:lstStyle/>
          <a:p>
            <a:pPr algn="ctr">
              <a:lnSpc>
                <a:spcPts val="9799"/>
              </a:lnSpc>
              <a:spcBef>
                <a:spcPct val="0"/>
              </a:spcBef>
            </a:pPr>
            <a:r>
              <a:rPr lang="en-US" b="true" sz="6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Team Members</a:t>
            </a:r>
          </a:p>
        </p:txBody>
      </p:sp>
      <p:sp>
        <p:nvSpPr>
          <p:cNvPr name="TextBox 3" id="3"/>
          <p:cNvSpPr txBox="true"/>
          <p:nvPr/>
        </p:nvSpPr>
        <p:spPr>
          <a:xfrm rot="0">
            <a:off x="1860918" y="2980230"/>
            <a:ext cx="6841570" cy="3964305"/>
          </a:xfrm>
          <a:prstGeom prst="rect">
            <a:avLst/>
          </a:prstGeom>
        </p:spPr>
        <p:txBody>
          <a:bodyPr anchor="t" rtlCol="false" tIns="0" lIns="0" bIns="0" rIns="0">
            <a:spAutoFit/>
          </a:bodyPr>
          <a:lstStyle/>
          <a:p>
            <a:pPr algn="just">
              <a:lnSpc>
                <a:spcPts val="6300"/>
              </a:lnSpc>
            </a:pPr>
            <a:r>
              <a:rPr lang="en-US" sz="4200">
                <a:solidFill>
                  <a:srgbClr val="000000"/>
                </a:solidFill>
                <a:latin typeface="TT Lakes Neue"/>
                <a:ea typeface="TT Lakes Neue"/>
                <a:cs typeface="TT Lakes Neue"/>
                <a:sym typeface="TT Lakes Neue"/>
              </a:rPr>
              <a:t>Mahm</a:t>
            </a:r>
            <a:r>
              <a:rPr lang="en-US" sz="4200">
                <a:solidFill>
                  <a:srgbClr val="000000"/>
                </a:solidFill>
                <a:latin typeface="TT Lakes Neue"/>
                <a:ea typeface="TT Lakes Neue"/>
                <a:cs typeface="TT Lakes Neue"/>
                <a:sym typeface="TT Lakes Neue"/>
              </a:rPr>
              <a:t>oud Magdi Elbahi</a:t>
            </a:r>
          </a:p>
          <a:p>
            <a:pPr algn="just">
              <a:lnSpc>
                <a:spcPts val="6300"/>
              </a:lnSpc>
            </a:pPr>
            <a:r>
              <a:rPr lang="en-US" sz="4200">
                <a:solidFill>
                  <a:srgbClr val="000000"/>
                </a:solidFill>
                <a:latin typeface="TT Lakes Neue"/>
                <a:ea typeface="TT Lakes Neue"/>
                <a:cs typeface="TT Lakes Neue"/>
                <a:sym typeface="TT Lakes Neue"/>
              </a:rPr>
              <a:t>Doaa Ibrahim Saad</a:t>
            </a:r>
          </a:p>
          <a:p>
            <a:pPr algn="just">
              <a:lnSpc>
                <a:spcPts val="6300"/>
              </a:lnSpc>
            </a:pPr>
            <a:r>
              <a:rPr lang="en-US" sz="4200">
                <a:solidFill>
                  <a:srgbClr val="000000"/>
                </a:solidFill>
                <a:latin typeface="TT Lakes Neue"/>
                <a:ea typeface="TT Lakes Neue"/>
                <a:cs typeface="TT Lakes Neue"/>
                <a:sym typeface="TT Lakes Neue"/>
              </a:rPr>
              <a:t>Hager Ibrahim Abdullah</a:t>
            </a:r>
          </a:p>
          <a:p>
            <a:pPr algn="just">
              <a:lnSpc>
                <a:spcPts val="6300"/>
              </a:lnSpc>
            </a:pPr>
            <a:r>
              <a:rPr lang="en-US" sz="4200">
                <a:solidFill>
                  <a:srgbClr val="000000"/>
                </a:solidFill>
                <a:latin typeface="TT Lakes Neue"/>
                <a:ea typeface="TT Lakes Neue"/>
                <a:cs typeface="TT Lakes Neue"/>
                <a:sym typeface="TT Lakes Neue"/>
              </a:rPr>
              <a:t> Ahmed Mostafa Eid</a:t>
            </a:r>
          </a:p>
          <a:p>
            <a:pPr algn="just">
              <a:lnSpc>
                <a:spcPts val="6300"/>
              </a:lnSpc>
            </a:pPr>
            <a:r>
              <a:rPr lang="en-US" sz="4200">
                <a:solidFill>
                  <a:srgbClr val="000000"/>
                </a:solidFill>
                <a:latin typeface="TT Lakes Neue"/>
                <a:ea typeface="TT Lakes Neue"/>
                <a:cs typeface="TT Lakes Neue"/>
                <a:sym typeface="TT Lakes Neue"/>
              </a:rPr>
              <a:t>Ahmed Mohamed Abdelaziz </a:t>
            </a:r>
          </a:p>
        </p:txBody>
      </p:sp>
      <p:sp>
        <p:nvSpPr>
          <p:cNvPr name="TextBox 4" id="4"/>
          <p:cNvSpPr txBox="true"/>
          <p:nvPr/>
        </p:nvSpPr>
        <p:spPr>
          <a:xfrm rot="0">
            <a:off x="10799689" y="2980230"/>
            <a:ext cx="6160770" cy="3964305"/>
          </a:xfrm>
          <a:prstGeom prst="rect">
            <a:avLst/>
          </a:prstGeom>
        </p:spPr>
        <p:txBody>
          <a:bodyPr anchor="t" rtlCol="false" tIns="0" lIns="0" bIns="0" rIns="0">
            <a:spAutoFit/>
          </a:bodyPr>
          <a:lstStyle/>
          <a:p>
            <a:pPr algn="just">
              <a:lnSpc>
                <a:spcPts val="6300"/>
              </a:lnSpc>
            </a:pPr>
            <a:r>
              <a:rPr lang="en-US" sz="4200">
                <a:solidFill>
                  <a:srgbClr val="000000"/>
                </a:solidFill>
                <a:latin typeface="TT Lakes Neue"/>
                <a:ea typeface="TT Lakes Neue"/>
                <a:cs typeface="TT Lakes Neue"/>
                <a:sym typeface="TT Lakes Neue"/>
              </a:rPr>
              <a:t>Amr Tarek Mabrouk</a:t>
            </a:r>
          </a:p>
          <a:p>
            <a:pPr algn="just">
              <a:lnSpc>
                <a:spcPts val="6300"/>
              </a:lnSpc>
            </a:pPr>
            <a:r>
              <a:rPr lang="en-US" sz="4200">
                <a:solidFill>
                  <a:srgbClr val="000000"/>
                </a:solidFill>
                <a:latin typeface="TT Lakes Neue"/>
                <a:ea typeface="TT Lakes Neue"/>
                <a:cs typeface="TT Lakes Neue"/>
                <a:sym typeface="TT Lakes Neue"/>
              </a:rPr>
              <a:t>Diaa Mohamed Abdelaziz</a:t>
            </a:r>
          </a:p>
          <a:p>
            <a:pPr algn="just">
              <a:lnSpc>
                <a:spcPts val="6300"/>
              </a:lnSpc>
            </a:pPr>
            <a:r>
              <a:rPr lang="en-US" sz="4200">
                <a:solidFill>
                  <a:srgbClr val="000000"/>
                </a:solidFill>
                <a:latin typeface="TT Lakes Neue"/>
                <a:ea typeface="TT Lakes Neue"/>
                <a:cs typeface="TT Lakes Neue"/>
                <a:sym typeface="TT Lakes Neue"/>
              </a:rPr>
              <a:t>Fatma Mohamed Anas</a:t>
            </a:r>
          </a:p>
          <a:p>
            <a:pPr algn="just">
              <a:lnSpc>
                <a:spcPts val="6300"/>
              </a:lnSpc>
            </a:pPr>
            <a:r>
              <a:rPr lang="en-US" sz="4200">
                <a:solidFill>
                  <a:srgbClr val="000000"/>
                </a:solidFill>
                <a:latin typeface="TT Lakes Neue"/>
                <a:ea typeface="TT Lakes Neue"/>
                <a:cs typeface="TT Lakes Neue"/>
                <a:sym typeface="TT Lakes Neue"/>
              </a:rPr>
              <a:t>Israa Ibrahim Ali </a:t>
            </a:r>
          </a:p>
          <a:p>
            <a:pPr algn="just">
              <a:lnSpc>
                <a:spcPts val="6300"/>
              </a:lnSpc>
            </a:pPr>
            <a:r>
              <a:rPr lang="en-US" sz="4200">
                <a:solidFill>
                  <a:srgbClr val="000000"/>
                </a:solidFill>
                <a:latin typeface="TT Lakes Neue"/>
                <a:ea typeface="TT Lakes Neue"/>
                <a:cs typeface="TT Lakes Neue"/>
                <a:sym typeface="TT Lakes Neue"/>
              </a:rPr>
              <a:t>Merna Elsayed Morad</a:t>
            </a:r>
          </a:p>
        </p:txBody>
      </p:sp>
      <p:sp>
        <p:nvSpPr>
          <p:cNvPr name="AutoShape 5" id="5"/>
          <p:cNvSpPr/>
          <p:nvPr/>
        </p:nvSpPr>
        <p:spPr>
          <a:xfrm flipH="true">
            <a:off x="1028700" y="2098675"/>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95350"/>
            <a:ext cx="4697016" cy="1193706"/>
          </a:xfrm>
          <a:prstGeom prst="rect">
            <a:avLst/>
          </a:prstGeom>
        </p:spPr>
        <p:txBody>
          <a:bodyPr anchor="t" rtlCol="false" tIns="0" lIns="0" bIns="0" rIns="0">
            <a:spAutoFit/>
          </a:bodyPr>
          <a:lstStyle/>
          <a:p>
            <a:pPr algn="ctr">
              <a:lnSpc>
                <a:spcPts val="9805"/>
              </a:lnSpc>
              <a:spcBef>
                <a:spcPct val="0"/>
              </a:spcBef>
            </a:pPr>
            <a:r>
              <a:rPr lang="en-US" b="true" sz="7003">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M</a:t>
            </a:r>
            <a:r>
              <a:rPr lang="en-US" b="true" sz="7003">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otivition</a:t>
            </a:r>
          </a:p>
        </p:txBody>
      </p:sp>
      <p:sp>
        <p:nvSpPr>
          <p:cNvPr name="TextBox 3" id="3"/>
          <p:cNvSpPr txBox="true"/>
          <p:nvPr/>
        </p:nvSpPr>
        <p:spPr>
          <a:xfrm rot="0">
            <a:off x="1028700" y="2442825"/>
            <a:ext cx="16230600" cy="2407596"/>
          </a:xfrm>
          <a:prstGeom prst="rect">
            <a:avLst/>
          </a:prstGeom>
        </p:spPr>
        <p:txBody>
          <a:bodyPr anchor="t" rtlCol="false" tIns="0" lIns="0" bIns="0" rIns="0">
            <a:spAutoFit/>
          </a:bodyPr>
          <a:lstStyle/>
          <a:p>
            <a:pPr algn="l">
              <a:lnSpc>
                <a:spcPts val="4847"/>
              </a:lnSpc>
              <a:spcBef>
                <a:spcPct val="0"/>
              </a:spcBef>
            </a:pPr>
          </a:p>
          <a:p>
            <a:pPr algn="l" marL="747608" indent="-373804" lvl="1">
              <a:lnSpc>
                <a:spcPts val="4847"/>
              </a:lnSpc>
              <a:spcBef>
                <a:spcPct val="0"/>
              </a:spcBef>
              <a:buFont typeface="Arial"/>
              <a:buChar char="•"/>
            </a:pPr>
            <a:r>
              <a:rPr lang="en-US" sz="3462">
                <a:solidFill>
                  <a:srgbClr val="000000"/>
                </a:solidFill>
                <a:latin typeface="Canva Sans"/>
                <a:ea typeface="Canva Sans"/>
                <a:cs typeface="Canva Sans"/>
                <a:sym typeface="Canva Sans"/>
              </a:rPr>
              <a:t>Increasing number of cyber threats targeting networks across sectors.</a:t>
            </a:r>
          </a:p>
          <a:p>
            <a:pPr algn="l" marL="747608" indent="-373804" lvl="1">
              <a:lnSpc>
                <a:spcPts val="4847"/>
              </a:lnSpc>
              <a:spcBef>
                <a:spcPct val="0"/>
              </a:spcBef>
              <a:buFont typeface="Arial"/>
              <a:buChar char="•"/>
            </a:pPr>
            <a:r>
              <a:rPr lang="en-US" sz="3462">
                <a:solidFill>
                  <a:srgbClr val="000000"/>
                </a:solidFill>
                <a:latin typeface="Canva Sans"/>
                <a:ea typeface="Canva Sans"/>
                <a:cs typeface="Canva Sans"/>
                <a:sym typeface="Canva Sans"/>
              </a:rPr>
              <a:t>Traditional security systems struggle to detect novel or evolving attacks.</a:t>
            </a:r>
          </a:p>
          <a:p>
            <a:pPr algn="l">
              <a:lnSpc>
                <a:spcPts val="4847"/>
              </a:lnSpc>
              <a:spcBef>
                <a:spcPct val="0"/>
              </a:spcBef>
            </a:pPr>
          </a:p>
        </p:txBody>
      </p:sp>
      <p:sp>
        <p:nvSpPr>
          <p:cNvPr name="TextBox 4" id="4"/>
          <p:cNvSpPr txBox="true"/>
          <p:nvPr/>
        </p:nvSpPr>
        <p:spPr>
          <a:xfrm rot="0">
            <a:off x="1028700" y="5317557"/>
            <a:ext cx="16230600" cy="3636391"/>
          </a:xfrm>
          <a:prstGeom prst="rect">
            <a:avLst/>
          </a:prstGeom>
        </p:spPr>
        <p:txBody>
          <a:bodyPr anchor="t" rtlCol="false" tIns="0" lIns="0" bIns="0" rIns="0">
            <a:spAutoFit/>
          </a:bodyPr>
          <a:lstStyle/>
          <a:p>
            <a:pPr algn="l">
              <a:lnSpc>
                <a:spcPts val="4843"/>
              </a:lnSpc>
              <a:spcBef>
                <a:spcPct val="0"/>
              </a:spcBef>
            </a:pPr>
            <a:r>
              <a:rPr lang="en-US" b="true" sz="3459">
                <a:solidFill>
                  <a:srgbClr val="000000"/>
                </a:solidFill>
                <a:latin typeface="Canva Sans Bold"/>
                <a:ea typeface="Canva Sans Bold"/>
                <a:cs typeface="Canva Sans Bold"/>
                <a:sym typeface="Canva Sans Bold"/>
              </a:rPr>
              <a:t>Our Visi</a:t>
            </a:r>
            <a:r>
              <a:rPr lang="en-US" b="true" sz="3459">
                <a:solidFill>
                  <a:srgbClr val="000000"/>
                </a:solidFill>
                <a:latin typeface="Canva Sans Bold"/>
                <a:ea typeface="Canva Sans Bold"/>
                <a:cs typeface="Canva Sans Bold"/>
                <a:sym typeface="Canva Sans Bold"/>
              </a:rPr>
              <a:t>on:</a:t>
            </a:r>
          </a:p>
          <a:p>
            <a:pPr algn="l" marL="747013" indent="-373507" lvl="1">
              <a:lnSpc>
                <a:spcPts val="4843"/>
              </a:lnSpc>
              <a:spcBef>
                <a:spcPct val="0"/>
              </a:spcBef>
              <a:buFont typeface="Arial"/>
              <a:buChar char="•"/>
            </a:pPr>
            <a:r>
              <a:rPr lang="en-US" sz="3459">
                <a:solidFill>
                  <a:srgbClr val="000000"/>
                </a:solidFill>
                <a:latin typeface="Canva Sans"/>
                <a:ea typeface="Canva Sans"/>
                <a:cs typeface="Canva Sans"/>
                <a:sym typeface="Canva Sans"/>
              </a:rPr>
              <a:t>Build an intelligent, efficient, and user-friendly Network Intrusion Detection System (NIDS).</a:t>
            </a:r>
          </a:p>
          <a:p>
            <a:pPr algn="l" marL="747013" indent="-373507" lvl="1">
              <a:lnSpc>
                <a:spcPts val="4843"/>
              </a:lnSpc>
              <a:spcBef>
                <a:spcPct val="0"/>
              </a:spcBef>
              <a:buFont typeface="Arial"/>
              <a:buChar char="•"/>
            </a:pPr>
            <a:r>
              <a:rPr lang="en-US" sz="3459">
                <a:solidFill>
                  <a:srgbClr val="000000"/>
                </a:solidFill>
                <a:latin typeface="Canva Sans"/>
                <a:ea typeface="Canva Sans"/>
                <a:cs typeface="Canva Sans"/>
                <a:sym typeface="Canva Sans"/>
              </a:rPr>
              <a:t>Empower security teams with a tool that combines AI detection with a visual dashboard (7arth) for easy monitoring.</a:t>
            </a:r>
          </a:p>
          <a:p>
            <a:pPr algn="ctr">
              <a:lnSpc>
                <a:spcPts val="4843"/>
              </a:lnSpc>
              <a:spcBef>
                <a:spcPct val="0"/>
              </a:spcBef>
            </a:pPr>
          </a:p>
        </p:txBody>
      </p:sp>
      <p:sp>
        <p:nvSpPr>
          <p:cNvPr name="AutoShape 5" id="5"/>
          <p:cNvSpPr/>
          <p:nvPr/>
        </p:nvSpPr>
        <p:spPr>
          <a:xfrm flipH="true">
            <a:off x="1028700" y="2098581"/>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04875"/>
            <a:ext cx="5993368" cy="1184275"/>
          </a:xfrm>
          <a:prstGeom prst="rect">
            <a:avLst/>
          </a:prstGeom>
        </p:spPr>
        <p:txBody>
          <a:bodyPr anchor="t" rtlCol="false" tIns="0" lIns="0" bIns="0" rIns="0">
            <a:spAutoFit/>
          </a:bodyPr>
          <a:lstStyle/>
          <a:p>
            <a:pPr algn="ctr">
              <a:lnSpc>
                <a:spcPts val="9799"/>
              </a:lnSpc>
              <a:spcBef>
                <a:spcPct val="0"/>
              </a:spcBef>
            </a:pPr>
            <a:r>
              <a:rPr lang="en-US" b="true" sz="6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Intr</a:t>
            </a:r>
            <a:r>
              <a:rPr lang="en-US" b="true" sz="6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oduction</a:t>
            </a:r>
          </a:p>
        </p:txBody>
      </p:sp>
      <p:sp>
        <p:nvSpPr>
          <p:cNvPr name="TextBox 3" id="3"/>
          <p:cNvSpPr txBox="true"/>
          <p:nvPr/>
        </p:nvSpPr>
        <p:spPr>
          <a:xfrm rot="0">
            <a:off x="1028700" y="2876550"/>
            <a:ext cx="10480018" cy="5848350"/>
          </a:xfrm>
          <a:prstGeom prst="rect">
            <a:avLst/>
          </a:prstGeom>
        </p:spPr>
        <p:txBody>
          <a:bodyPr anchor="t" rtlCol="false" tIns="0" lIns="0" bIns="0" rIns="0">
            <a:spAutoFit/>
          </a:bodyPr>
          <a:lstStyle/>
          <a:p>
            <a:pPr algn="l">
              <a:lnSpc>
                <a:spcPts val="4200"/>
              </a:lnSpc>
            </a:pPr>
            <a:r>
              <a:rPr lang="en-US" sz="3000" b="true">
                <a:solidFill>
                  <a:srgbClr val="000000"/>
                </a:solidFill>
                <a:latin typeface="Canva Sans Bold"/>
                <a:ea typeface="Canva Sans Bold"/>
                <a:cs typeface="Canva Sans Bold"/>
                <a:sym typeface="Canva Sans Bold"/>
              </a:rPr>
              <a:t>What is a NIDS?</a:t>
            </a:r>
          </a:p>
          <a:p>
            <a:pPr algn="l">
              <a:lnSpc>
                <a:spcPts val="4200"/>
              </a:lnSpc>
            </a:pPr>
            <a:r>
              <a:rPr lang="en-US" sz="3000">
                <a:solidFill>
                  <a:srgbClr val="000000"/>
                </a:solidFill>
                <a:latin typeface="Canva Sans"/>
                <a:ea typeface="Canva Sans"/>
                <a:cs typeface="Canva Sans"/>
                <a:sym typeface="Canva Sans"/>
              </a:rPr>
              <a:t>        </a:t>
            </a:r>
            <a:r>
              <a:rPr lang="en-US" sz="3000">
                <a:solidFill>
                  <a:srgbClr val="000000"/>
                </a:solidFill>
                <a:latin typeface="Canva Sans"/>
                <a:ea typeface="Canva Sans"/>
                <a:cs typeface="Canva Sans"/>
                <a:sym typeface="Canva Sans"/>
              </a:rPr>
              <a:t>A Network Intrusion Detection System (NIDS) is </a:t>
            </a:r>
          </a:p>
          <a:p>
            <a:pPr algn="l">
              <a:lnSpc>
                <a:spcPts val="4200"/>
              </a:lnSpc>
            </a:pPr>
            <a:r>
              <a:rPr lang="en-US" sz="3000">
                <a:solidFill>
                  <a:srgbClr val="000000"/>
                </a:solidFill>
                <a:latin typeface="Canva Sans"/>
                <a:ea typeface="Canva Sans"/>
                <a:cs typeface="Canva Sans"/>
                <a:sym typeface="Canva Sans"/>
              </a:rPr>
              <a:t>a system that monitors network traffic for malicious activity or policy violations.</a:t>
            </a:r>
          </a:p>
          <a:p>
            <a:pPr algn="l">
              <a:lnSpc>
                <a:spcPts val="4200"/>
              </a:lnSpc>
            </a:pPr>
          </a:p>
          <a:p>
            <a:pPr algn="l">
              <a:lnSpc>
                <a:spcPts val="4200"/>
              </a:lnSpc>
            </a:pPr>
            <a:r>
              <a:rPr lang="en-US" sz="3000">
                <a:solidFill>
                  <a:srgbClr val="000000"/>
                </a:solidFill>
                <a:latin typeface="Canva Sans"/>
                <a:ea typeface="Canva Sans"/>
                <a:cs typeface="Canva Sans"/>
                <a:sym typeface="Canva Sans"/>
              </a:rPr>
              <a:t> Key Functions:</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Monitors data flowing thr</a:t>
            </a:r>
            <a:r>
              <a:rPr lang="en-US" sz="3000">
                <a:solidFill>
                  <a:srgbClr val="000000"/>
                </a:solidFill>
                <a:latin typeface="Canva Sans"/>
                <a:ea typeface="Canva Sans"/>
                <a:cs typeface="Canva Sans"/>
                <a:sym typeface="Canva Sans"/>
              </a:rPr>
              <a:t>ough the network.</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Identify attack type.</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Alerts system administrators when threats are detected.</a:t>
            </a:r>
          </a:p>
          <a:p>
            <a:pPr algn="l">
              <a:lnSpc>
                <a:spcPts val="4200"/>
              </a:lnSpc>
              <a:spcBef>
                <a:spcPct val="0"/>
              </a:spcBef>
            </a:pPr>
          </a:p>
        </p:txBody>
      </p:sp>
      <p:sp>
        <p:nvSpPr>
          <p:cNvPr name="Freeform 4" id="4"/>
          <p:cNvSpPr/>
          <p:nvPr/>
        </p:nvSpPr>
        <p:spPr>
          <a:xfrm flipH="false" flipV="false" rot="0">
            <a:off x="10903554" y="2419000"/>
            <a:ext cx="6138864" cy="6138864"/>
          </a:xfrm>
          <a:custGeom>
            <a:avLst/>
            <a:gdLst/>
            <a:ahLst/>
            <a:cxnLst/>
            <a:rect r="r" b="b" t="t" l="l"/>
            <a:pathLst>
              <a:path h="6138864" w="6138864">
                <a:moveTo>
                  <a:pt x="0" y="0"/>
                </a:moveTo>
                <a:lnTo>
                  <a:pt x="6138864" y="0"/>
                </a:lnTo>
                <a:lnTo>
                  <a:pt x="6138864" y="6138864"/>
                </a:lnTo>
                <a:lnTo>
                  <a:pt x="0" y="6138864"/>
                </a:lnTo>
                <a:lnTo>
                  <a:pt x="0" y="0"/>
                </a:lnTo>
                <a:close/>
              </a:path>
            </a:pathLst>
          </a:custGeom>
          <a:blipFill>
            <a:blip r:embed="rId2">
              <a:alphaModFix amt="7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686672" y="3447616"/>
            <a:ext cx="6572628" cy="4081631"/>
          </a:xfrm>
          <a:custGeom>
            <a:avLst/>
            <a:gdLst/>
            <a:ahLst/>
            <a:cxnLst/>
            <a:rect r="r" b="b" t="t" l="l"/>
            <a:pathLst>
              <a:path h="4081631" w="6572628">
                <a:moveTo>
                  <a:pt x="0" y="0"/>
                </a:moveTo>
                <a:lnTo>
                  <a:pt x="6572628" y="0"/>
                </a:lnTo>
                <a:lnTo>
                  <a:pt x="6572628" y="4081632"/>
                </a:lnTo>
                <a:lnTo>
                  <a:pt x="0" y="4081632"/>
                </a:lnTo>
                <a:lnTo>
                  <a:pt x="0" y="0"/>
                </a:lnTo>
                <a:close/>
              </a:path>
            </a:pathLst>
          </a:custGeom>
          <a:blipFill>
            <a:blip r:embed="rId4"/>
            <a:stretch>
              <a:fillRect l="-283" t="0" r="-283" b="0"/>
            </a:stretch>
          </a:blipFill>
          <a:ln w="9525" cap="sq">
            <a:solidFill>
              <a:srgbClr val="000000"/>
            </a:solidFill>
            <a:prstDash val="solid"/>
            <a:miter/>
          </a:ln>
        </p:spPr>
      </p:sp>
      <p:sp>
        <p:nvSpPr>
          <p:cNvPr name="AutoShape 6" id="6"/>
          <p:cNvSpPr/>
          <p:nvPr/>
        </p:nvSpPr>
        <p:spPr>
          <a:xfrm flipH="true">
            <a:off x="1028700" y="2098671"/>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433459" y="876300"/>
            <a:ext cx="13421082" cy="1368428"/>
          </a:xfrm>
          <a:prstGeom prst="rect">
            <a:avLst/>
          </a:prstGeom>
        </p:spPr>
        <p:txBody>
          <a:bodyPr anchor="t" rtlCol="false" tIns="0" lIns="0" bIns="0" rIns="0">
            <a:spAutoFit/>
          </a:bodyPr>
          <a:lstStyle/>
          <a:p>
            <a:pPr algn="ctr">
              <a:lnSpc>
                <a:spcPts val="11199"/>
              </a:lnSpc>
              <a:spcBef>
                <a:spcPct val="0"/>
              </a:spcBef>
            </a:pPr>
            <a:r>
              <a:rPr lang="en-US" b="true" sz="7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O</a:t>
            </a:r>
            <a:r>
              <a:rPr lang="en-US" b="true" sz="7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ur Proposal: 7arth NIDS</a:t>
            </a:r>
          </a:p>
        </p:txBody>
      </p:sp>
      <p:sp>
        <p:nvSpPr>
          <p:cNvPr name="TextBox 3" id="3"/>
          <p:cNvSpPr txBox="true"/>
          <p:nvPr/>
        </p:nvSpPr>
        <p:spPr>
          <a:xfrm rot="0">
            <a:off x="1028700" y="2482636"/>
            <a:ext cx="12668154" cy="6318250"/>
          </a:xfrm>
          <a:prstGeom prst="rect">
            <a:avLst/>
          </a:prstGeom>
        </p:spPr>
        <p:txBody>
          <a:bodyPr anchor="t" rtlCol="false" tIns="0" lIns="0" bIns="0" rIns="0">
            <a:spAutoFit/>
          </a:bodyPr>
          <a:lstStyle/>
          <a:p>
            <a:pPr algn="l" marL="863599" indent="-431800" lvl="1">
              <a:lnSpc>
                <a:spcPts val="5599"/>
              </a:lnSpc>
              <a:spcBef>
                <a:spcPct val="0"/>
              </a:spcBef>
              <a:buFont typeface="Arial"/>
              <a:buChar char="•"/>
            </a:pPr>
            <a:r>
              <a:rPr lang="en-US" sz="3999">
                <a:solidFill>
                  <a:srgbClr val="000000"/>
                </a:solidFill>
                <a:latin typeface="Canva Sans"/>
                <a:ea typeface="Canva Sans"/>
                <a:cs typeface="Canva Sans"/>
                <a:sym typeface="Canva Sans"/>
              </a:rPr>
              <a:t>AI-based detecti</a:t>
            </a:r>
            <a:r>
              <a:rPr lang="en-US" sz="3999">
                <a:solidFill>
                  <a:srgbClr val="000000"/>
                </a:solidFill>
                <a:latin typeface="Canva Sans"/>
                <a:ea typeface="Canva Sans"/>
                <a:cs typeface="Canva Sans"/>
                <a:sym typeface="Canva Sans"/>
              </a:rPr>
              <a:t>on to identify unknown threats (solves zero-day issue)</a:t>
            </a:r>
          </a:p>
          <a:p>
            <a:pPr algn="l" marL="863599" indent="-431800" lvl="1">
              <a:lnSpc>
                <a:spcPts val="5599"/>
              </a:lnSpc>
              <a:spcBef>
                <a:spcPct val="0"/>
              </a:spcBef>
              <a:buFont typeface="Arial"/>
              <a:buChar char="•"/>
            </a:pPr>
            <a:r>
              <a:rPr lang="en-US" sz="3999">
                <a:solidFill>
                  <a:srgbClr val="000000"/>
                </a:solidFill>
                <a:latin typeface="Canva Sans"/>
                <a:ea typeface="Canva Sans"/>
                <a:cs typeface="Canva Sans"/>
                <a:sym typeface="Canva Sans"/>
              </a:rPr>
              <a:t>User-friendly dashboard for real-time monitoring</a:t>
            </a:r>
          </a:p>
          <a:p>
            <a:pPr algn="l" marL="863599" indent="-431800" lvl="1">
              <a:lnSpc>
                <a:spcPts val="5599"/>
              </a:lnSpc>
              <a:spcBef>
                <a:spcPct val="0"/>
              </a:spcBef>
              <a:buFont typeface="Arial"/>
              <a:buChar char="•"/>
            </a:pPr>
            <a:r>
              <a:rPr lang="en-US" sz="3999">
                <a:solidFill>
                  <a:srgbClr val="000000"/>
                </a:solidFill>
                <a:latin typeface="Canva Sans"/>
                <a:ea typeface="Canva Sans"/>
                <a:cs typeface="Canva Sans"/>
                <a:sym typeface="Canva Sans"/>
              </a:rPr>
              <a:t> Low-cost design — open-source and lightweight</a:t>
            </a:r>
          </a:p>
          <a:p>
            <a:pPr algn="l" marL="863599" indent="-431800" lvl="1">
              <a:lnSpc>
                <a:spcPts val="5599"/>
              </a:lnSpc>
              <a:spcBef>
                <a:spcPct val="0"/>
              </a:spcBef>
              <a:buFont typeface="Arial"/>
              <a:buChar char="•"/>
            </a:pPr>
            <a:r>
              <a:rPr lang="en-US" sz="3999">
                <a:solidFill>
                  <a:srgbClr val="000000"/>
                </a:solidFill>
                <a:latin typeface="Canva Sans"/>
                <a:ea typeface="Canva Sans"/>
                <a:cs typeface="Canva Sans"/>
                <a:sym typeface="Canva Sans"/>
              </a:rPr>
              <a:t> minimal setup and system requirements</a:t>
            </a:r>
          </a:p>
          <a:p>
            <a:pPr algn="l" marL="863599" indent="-431800" lvl="1">
              <a:lnSpc>
                <a:spcPts val="5599"/>
              </a:lnSpc>
              <a:spcBef>
                <a:spcPct val="0"/>
              </a:spcBef>
              <a:buFont typeface="Arial"/>
              <a:buChar char="•"/>
            </a:pPr>
            <a:r>
              <a:rPr lang="en-US" sz="3999">
                <a:solidFill>
                  <a:srgbClr val="000000"/>
                </a:solidFill>
                <a:latin typeface="Canva Sans"/>
                <a:ea typeface="Canva Sans"/>
                <a:cs typeface="Canva Sans"/>
                <a:sym typeface="Canva Sans"/>
              </a:rPr>
              <a:t> High accuracy with tuned ML models</a:t>
            </a:r>
          </a:p>
          <a:p>
            <a:pPr algn="l" marL="863599" indent="-431800" lvl="1">
              <a:lnSpc>
                <a:spcPts val="5599"/>
              </a:lnSpc>
              <a:spcBef>
                <a:spcPct val="0"/>
              </a:spcBef>
              <a:buFont typeface="Arial"/>
              <a:buChar char="•"/>
            </a:pPr>
            <a:r>
              <a:rPr lang="en-US" sz="3999">
                <a:solidFill>
                  <a:srgbClr val="000000"/>
                </a:solidFill>
                <a:latin typeface="Canva Sans"/>
                <a:ea typeface="Canva Sans"/>
                <a:cs typeface="Canva Sans"/>
                <a:sym typeface="Canva Sans"/>
              </a:rPr>
              <a:t> Modular and scalable for future growth</a:t>
            </a:r>
          </a:p>
          <a:p>
            <a:pPr algn="l">
              <a:lnSpc>
                <a:spcPts val="5599"/>
              </a:lnSpc>
              <a:spcBef>
                <a:spcPct val="0"/>
              </a:spcBef>
            </a:pPr>
          </a:p>
        </p:txBody>
      </p:sp>
      <p:pic>
        <p:nvPicPr>
          <p:cNvPr name="Picture 4" id="4"/>
          <p:cNvPicPr>
            <a:picLocks noChangeAspect="true"/>
          </p:cNvPicPr>
          <p:nvPr/>
        </p:nvPicPr>
        <p:blipFill>
          <a:blip r:embed="rId2"/>
          <a:srcRect l="0" t="0" r="0" b="0"/>
          <a:stretch>
            <a:fillRect/>
          </a:stretch>
        </p:blipFill>
        <p:spPr>
          <a:xfrm flipH="false" flipV="false" rot="0">
            <a:off x="13933013" y="4551416"/>
            <a:ext cx="3326287" cy="1995772"/>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68018" y="155850"/>
            <a:ext cx="10951964" cy="1184275"/>
          </a:xfrm>
          <a:prstGeom prst="rect">
            <a:avLst/>
          </a:prstGeom>
        </p:spPr>
        <p:txBody>
          <a:bodyPr anchor="t" rtlCol="false" tIns="0" lIns="0" bIns="0" rIns="0">
            <a:spAutoFit/>
          </a:bodyPr>
          <a:lstStyle/>
          <a:p>
            <a:pPr algn="ctr">
              <a:lnSpc>
                <a:spcPts val="9799"/>
              </a:lnSpc>
              <a:spcBef>
                <a:spcPct val="0"/>
              </a:spcBef>
            </a:pPr>
            <a:r>
              <a:rPr lang="en-US" b="true" sz="6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Related </a:t>
            </a:r>
            <a:r>
              <a:rPr lang="en-US" b="true" sz="6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NIDS Solutions</a:t>
            </a:r>
          </a:p>
        </p:txBody>
      </p:sp>
      <p:graphicFrame>
        <p:nvGraphicFramePr>
          <p:cNvPr name="Object 3" id="3"/>
          <p:cNvGraphicFramePr/>
          <p:nvPr/>
        </p:nvGraphicFramePr>
        <p:xfrm>
          <a:off x="1922034" y="1653096"/>
          <a:ext cx="14768573" cy="8295167"/>
        </p:xfrm>
        <a:graphic>
          <a:graphicData uri="http://schemas.openxmlformats.org/presentationml/2006/ole">
            <p:oleObj imgW="17716500" imgH="11239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77239" y="7122863"/>
            <a:ext cx="1381462" cy="1381462"/>
          </a:xfrm>
          <a:custGeom>
            <a:avLst/>
            <a:gdLst/>
            <a:ahLst/>
            <a:cxnLst/>
            <a:rect r="r" b="b" t="t" l="l"/>
            <a:pathLst>
              <a:path h="1381462" w="1381462">
                <a:moveTo>
                  <a:pt x="0" y="0"/>
                </a:moveTo>
                <a:lnTo>
                  <a:pt x="1381462" y="0"/>
                </a:lnTo>
                <a:lnTo>
                  <a:pt x="1381462" y="1381462"/>
                </a:lnTo>
                <a:lnTo>
                  <a:pt x="0" y="1381462"/>
                </a:lnTo>
                <a:lnTo>
                  <a:pt x="0" y="0"/>
                </a:lnTo>
                <a:close/>
              </a:path>
            </a:pathLst>
          </a:custGeom>
          <a:blipFill>
            <a:blip r:embed="rId2"/>
            <a:stretch>
              <a:fillRect l="0" t="0" r="0" b="0"/>
            </a:stretch>
          </a:blipFill>
        </p:spPr>
      </p:sp>
      <p:sp>
        <p:nvSpPr>
          <p:cNvPr name="Freeform 3" id="3"/>
          <p:cNvSpPr/>
          <p:nvPr/>
        </p:nvSpPr>
        <p:spPr>
          <a:xfrm flipH="false" flipV="false" rot="0">
            <a:off x="13758701" y="5143500"/>
            <a:ext cx="1345948" cy="1197333"/>
          </a:xfrm>
          <a:custGeom>
            <a:avLst/>
            <a:gdLst/>
            <a:ahLst/>
            <a:cxnLst/>
            <a:rect r="r" b="b" t="t" l="l"/>
            <a:pathLst>
              <a:path h="1197333" w="1345948">
                <a:moveTo>
                  <a:pt x="0" y="0"/>
                </a:moveTo>
                <a:lnTo>
                  <a:pt x="1345948" y="0"/>
                </a:lnTo>
                <a:lnTo>
                  <a:pt x="1345948" y="1197333"/>
                </a:lnTo>
                <a:lnTo>
                  <a:pt x="0" y="1197333"/>
                </a:lnTo>
                <a:lnTo>
                  <a:pt x="0" y="0"/>
                </a:lnTo>
                <a:close/>
              </a:path>
            </a:pathLst>
          </a:custGeom>
          <a:blipFill>
            <a:blip r:embed="rId3"/>
            <a:stretch>
              <a:fillRect l="0" t="0" r="0" b="0"/>
            </a:stretch>
          </a:blipFill>
        </p:spPr>
      </p:sp>
      <p:sp>
        <p:nvSpPr>
          <p:cNvPr name="Freeform 4" id="4"/>
          <p:cNvSpPr/>
          <p:nvPr/>
        </p:nvSpPr>
        <p:spPr>
          <a:xfrm flipH="false" flipV="false" rot="0">
            <a:off x="7298963" y="5691269"/>
            <a:ext cx="2217651" cy="1299127"/>
          </a:xfrm>
          <a:custGeom>
            <a:avLst/>
            <a:gdLst/>
            <a:ahLst/>
            <a:cxnLst/>
            <a:rect r="r" b="b" t="t" l="l"/>
            <a:pathLst>
              <a:path h="1299127" w="2217651">
                <a:moveTo>
                  <a:pt x="0" y="0"/>
                </a:moveTo>
                <a:lnTo>
                  <a:pt x="2217650" y="0"/>
                </a:lnTo>
                <a:lnTo>
                  <a:pt x="2217650" y="1299128"/>
                </a:lnTo>
                <a:lnTo>
                  <a:pt x="0" y="1299128"/>
                </a:lnTo>
                <a:lnTo>
                  <a:pt x="0" y="0"/>
                </a:lnTo>
                <a:close/>
              </a:path>
            </a:pathLst>
          </a:custGeom>
          <a:blipFill>
            <a:blip r:embed="rId4"/>
            <a:stretch>
              <a:fillRect l="0" t="0" r="0" b="0"/>
            </a:stretch>
          </a:blipFill>
        </p:spPr>
      </p:sp>
      <p:sp>
        <p:nvSpPr>
          <p:cNvPr name="Freeform 5" id="5"/>
          <p:cNvSpPr/>
          <p:nvPr/>
        </p:nvSpPr>
        <p:spPr>
          <a:xfrm flipH="false" flipV="false" rot="0">
            <a:off x="15380983" y="7237637"/>
            <a:ext cx="1151913" cy="1151913"/>
          </a:xfrm>
          <a:custGeom>
            <a:avLst/>
            <a:gdLst/>
            <a:ahLst/>
            <a:cxnLst/>
            <a:rect r="r" b="b" t="t" l="l"/>
            <a:pathLst>
              <a:path h="1151913" w="1151913">
                <a:moveTo>
                  <a:pt x="0" y="0"/>
                </a:moveTo>
                <a:lnTo>
                  <a:pt x="1151913" y="0"/>
                </a:lnTo>
                <a:lnTo>
                  <a:pt x="1151913" y="1151913"/>
                </a:lnTo>
                <a:lnTo>
                  <a:pt x="0" y="1151913"/>
                </a:lnTo>
                <a:lnTo>
                  <a:pt x="0" y="0"/>
                </a:lnTo>
                <a:close/>
              </a:path>
            </a:pathLst>
          </a:custGeom>
          <a:blipFill>
            <a:blip r:embed="rId5"/>
            <a:stretch>
              <a:fillRect l="0" t="0" r="0" b="0"/>
            </a:stretch>
          </a:blipFill>
        </p:spPr>
      </p:sp>
      <p:sp>
        <p:nvSpPr>
          <p:cNvPr name="Freeform 6" id="6"/>
          <p:cNvSpPr/>
          <p:nvPr/>
        </p:nvSpPr>
        <p:spPr>
          <a:xfrm flipH="false" flipV="false" rot="0">
            <a:off x="10009942" y="3700945"/>
            <a:ext cx="2885110" cy="2885110"/>
          </a:xfrm>
          <a:custGeom>
            <a:avLst/>
            <a:gdLst/>
            <a:ahLst/>
            <a:cxnLst/>
            <a:rect r="r" b="b" t="t" l="l"/>
            <a:pathLst>
              <a:path h="2885110" w="2885110">
                <a:moveTo>
                  <a:pt x="0" y="0"/>
                </a:moveTo>
                <a:lnTo>
                  <a:pt x="2885110" y="0"/>
                </a:lnTo>
                <a:lnTo>
                  <a:pt x="2885110" y="2885110"/>
                </a:lnTo>
                <a:lnTo>
                  <a:pt x="0" y="2885110"/>
                </a:lnTo>
                <a:lnTo>
                  <a:pt x="0" y="0"/>
                </a:lnTo>
                <a:close/>
              </a:path>
            </a:pathLst>
          </a:custGeom>
          <a:blipFill>
            <a:blip r:embed="rId6"/>
            <a:stretch>
              <a:fillRect l="0" t="0" r="0" b="0"/>
            </a:stretch>
          </a:blipFill>
        </p:spPr>
      </p:sp>
      <p:sp>
        <p:nvSpPr>
          <p:cNvPr name="Freeform 7" id="7"/>
          <p:cNvSpPr/>
          <p:nvPr/>
        </p:nvSpPr>
        <p:spPr>
          <a:xfrm flipH="false" flipV="false" rot="0">
            <a:off x="1596824" y="5350271"/>
            <a:ext cx="1399537" cy="1399537"/>
          </a:xfrm>
          <a:custGeom>
            <a:avLst/>
            <a:gdLst/>
            <a:ahLst/>
            <a:cxnLst/>
            <a:rect r="r" b="b" t="t" l="l"/>
            <a:pathLst>
              <a:path h="1399537" w="1399537">
                <a:moveTo>
                  <a:pt x="0" y="0"/>
                </a:moveTo>
                <a:lnTo>
                  <a:pt x="1399536" y="0"/>
                </a:lnTo>
                <a:lnTo>
                  <a:pt x="1399536" y="1399537"/>
                </a:lnTo>
                <a:lnTo>
                  <a:pt x="0" y="1399537"/>
                </a:lnTo>
                <a:lnTo>
                  <a:pt x="0" y="0"/>
                </a:lnTo>
                <a:close/>
              </a:path>
            </a:pathLst>
          </a:custGeom>
          <a:blipFill>
            <a:blip r:embed="rId7"/>
            <a:stretch>
              <a:fillRect l="0" t="0" r="0" b="0"/>
            </a:stretch>
          </a:blipFill>
        </p:spPr>
      </p:sp>
      <p:sp>
        <p:nvSpPr>
          <p:cNvPr name="Freeform 8" id="8"/>
          <p:cNvSpPr/>
          <p:nvPr/>
        </p:nvSpPr>
        <p:spPr>
          <a:xfrm flipH="false" flipV="false" rot="0">
            <a:off x="1472868" y="7122863"/>
            <a:ext cx="1381462" cy="1381462"/>
          </a:xfrm>
          <a:custGeom>
            <a:avLst/>
            <a:gdLst/>
            <a:ahLst/>
            <a:cxnLst/>
            <a:rect r="r" b="b" t="t" l="l"/>
            <a:pathLst>
              <a:path h="1381462" w="1381462">
                <a:moveTo>
                  <a:pt x="0" y="0"/>
                </a:moveTo>
                <a:lnTo>
                  <a:pt x="1381461" y="0"/>
                </a:lnTo>
                <a:lnTo>
                  <a:pt x="1381461" y="1381462"/>
                </a:lnTo>
                <a:lnTo>
                  <a:pt x="0" y="1381462"/>
                </a:lnTo>
                <a:lnTo>
                  <a:pt x="0" y="0"/>
                </a:lnTo>
                <a:close/>
              </a:path>
            </a:pathLst>
          </a:custGeom>
          <a:blipFill>
            <a:blip r:embed="rId8"/>
            <a:stretch>
              <a:fillRect l="0" t="0" r="0" b="0"/>
            </a:stretch>
          </a:blipFill>
        </p:spPr>
      </p:sp>
      <p:sp>
        <p:nvSpPr>
          <p:cNvPr name="Freeform 9" id="9"/>
          <p:cNvSpPr/>
          <p:nvPr/>
        </p:nvSpPr>
        <p:spPr>
          <a:xfrm flipH="false" flipV="false" rot="0">
            <a:off x="7077507" y="7698819"/>
            <a:ext cx="2660563" cy="1076895"/>
          </a:xfrm>
          <a:custGeom>
            <a:avLst/>
            <a:gdLst/>
            <a:ahLst/>
            <a:cxnLst/>
            <a:rect r="r" b="b" t="t" l="l"/>
            <a:pathLst>
              <a:path h="1076895" w="2660563">
                <a:moveTo>
                  <a:pt x="0" y="0"/>
                </a:moveTo>
                <a:lnTo>
                  <a:pt x="2660563" y="0"/>
                </a:lnTo>
                <a:lnTo>
                  <a:pt x="2660563" y="1076895"/>
                </a:lnTo>
                <a:lnTo>
                  <a:pt x="0" y="1076895"/>
                </a:lnTo>
                <a:lnTo>
                  <a:pt x="0" y="0"/>
                </a:lnTo>
                <a:close/>
              </a:path>
            </a:pathLst>
          </a:custGeom>
          <a:blipFill>
            <a:blip r:embed="rId9"/>
            <a:stretch>
              <a:fillRect l="0" t="0" r="0" b="0"/>
            </a:stretch>
          </a:blipFill>
        </p:spPr>
      </p:sp>
      <p:sp>
        <p:nvSpPr>
          <p:cNvPr name="Freeform 10" id="10"/>
          <p:cNvSpPr/>
          <p:nvPr/>
        </p:nvSpPr>
        <p:spPr>
          <a:xfrm flipH="false" flipV="false" rot="0">
            <a:off x="3737968" y="6204978"/>
            <a:ext cx="1493841" cy="1493841"/>
          </a:xfrm>
          <a:custGeom>
            <a:avLst/>
            <a:gdLst/>
            <a:ahLst/>
            <a:cxnLst/>
            <a:rect r="r" b="b" t="t" l="l"/>
            <a:pathLst>
              <a:path h="1493841" w="1493841">
                <a:moveTo>
                  <a:pt x="0" y="0"/>
                </a:moveTo>
                <a:lnTo>
                  <a:pt x="1493841" y="0"/>
                </a:lnTo>
                <a:lnTo>
                  <a:pt x="1493841" y="1493841"/>
                </a:lnTo>
                <a:lnTo>
                  <a:pt x="0" y="1493841"/>
                </a:lnTo>
                <a:lnTo>
                  <a:pt x="0" y="0"/>
                </a:lnTo>
                <a:close/>
              </a:path>
            </a:pathLst>
          </a:custGeom>
          <a:blipFill>
            <a:blip r:embed="rId10"/>
            <a:stretch>
              <a:fillRect l="0" t="0" r="0" b="0"/>
            </a:stretch>
          </a:blipFill>
        </p:spPr>
      </p:sp>
      <p:sp>
        <p:nvSpPr>
          <p:cNvPr name="TextBox 11" id="11"/>
          <p:cNvSpPr txBox="true"/>
          <p:nvPr/>
        </p:nvSpPr>
        <p:spPr>
          <a:xfrm rot="0">
            <a:off x="7545050" y="159703"/>
            <a:ext cx="3197900" cy="1566544"/>
          </a:xfrm>
          <a:prstGeom prst="rect">
            <a:avLst/>
          </a:prstGeom>
        </p:spPr>
        <p:txBody>
          <a:bodyPr anchor="t" rtlCol="false" tIns="0" lIns="0" bIns="0" rIns="0">
            <a:spAutoFit/>
          </a:bodyPr>
          <a:lstStyle/>
          <a:p>
            <a:pPr algn="ctr">
              <a:lnSpc>
                <a:spcPts val="12880"/>
              </a:lnSpc>
            </a:pPr>
            <a:r>
              <a:rPr lang="en-US" b="true" sz="9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Tools</a:t>
            </a:r>
          </a:p>
        </p:txBody>
      </p:sp>
      <p:sp>
        <p:nvSpPr>
          <p:cNvPr name="TextBox 12" id="12"/>
          <p:cNvSpPr txBox="true"/>
          <p:nvPr/>
        </p:nvSpPr>
        <p:spPr>
          <a:xfrm rot="0">
            <a:off x="1028700" y="2196199"/>
            <a:ext cx="10951607" cy="366394"/>
          </a:xfrm>
          <a:prstGeom prst="rect">
            <a:avLst/>
          </a:prstGeom>
        </p:spPr>
        <p:txBody>
          <a:bodyPr anchor="t" rtlCol="false" tIns="0" lIns="0" bIns="0" rIns="0">
            <a:spAutoFit/>
          </a:bodyPr>
          <a:lstStyle/>
          <a:p>
            <a:pPr algn="ctr">
              <a:lnSpc>
                <a:spcPts val="2799"/>
              </a:lnSpc>
              <a:spcBef>
                <a:spcPct val="0"/>
              </a:spcBef>
            </a:pPr>
            <a:r>
              <a:rPr lang="en-US" sz="2799">
                <a:solidFill>
                  <a:srgbClr val="000000"/>
                </a:solidFill>
                <a:latin typeface="Canva Sans"/>
                <a:ea typeface="Canva Sans"/>
                <a:cs typeface="Canva Sans"/>
                <a:sym typeface="Canva Sans"/>
              </a:rPr>
              <a:t>THE T</a:t>
            </a:r>
            <a:r>
              <a:rPr lang="en-US" sz="2799">
                <a:solidFill>
                  <a:srgbClr val="000000"/>
                </a:solidFill>
                <a:latin typeface="Canva Sans"/>
                <a:ea typeface="Canva Sans"/>
                <a:cs typeface="Canva Sans"/>
                <a:sym typeface="Canva Sans"/>
              </a:rPr>
              <a:t>OOLS ARE DIVIDED INTO SEVERAL DIVISIONS, WHICH ARE</a:t>
            </a:r>
          </a:p>
        </p:txBody>
      </p:sp>
      <p:sp>
        <p:nvSpPr>
          <p:cNvPr name="TextBox 13" id="13"/>
          <p:cNvSpPr txBox="true"/>
          <p:nvPr/>
        </p:nvSpPr>
        <p:spPr>
          <a:xfrm rot="0">
            <a:off x="1028700" y="2965870"/>
            <a:ext cx="8981242" cy="1515237"/>
          </a:xfrm>
          <a:prstGeom prst="rect">
            <a:avLst/>
          </a:prstGeom>
        </p:spPr>
        <p:txBody>
          <a:bodyPr anchor="t" rtlCol="false" tIns="0" lIns="0" bIns="0" rIns="0">
            <a:spAutoFit/>
          </a:bodyPr>
          <a:lstStyle/>
          <a:p>
            <a:pPr algn="just">
              <a:lnSpc>
                <a:spcPts val="3023"/>
              </a:lnSpc>
            </a:pPr>
            <a:r>
              <a:rPr lang="en-US" b="true" sz="2399">
                <a:solidFill>
                  <a:srgbClr val="000000"/>
                </a:solidFill>
                <a:latin typeface="Canva Sans Bold"/>
                <a:ea typeface="Canva Sans Bold"/>
                <a:cs typeface="Canva Sans Bold"/>
                <a:sym typeface="Canva Sans Bold"/>
              </a:rPr>
              <a:t>1. NETWORKING: </a:t>
            </a:r>
            <a:r>
              <a:rPr lang="en-US" sz="2399">
                <a:solidFill>
                  <a:srgbClr val="000000"/>
                </a:solidFill>
                <a:latin typeface="Canva Sans"/>
                <a:ea typeface="Canva Sans"/>
                <a:cs typeface="Canva Sans"/>
                <a:sym typeface="Canva Sans"/>
              </a:rPr>
              <a:t>GNS3, CISCO PACKET TRACER, WIRESHARK.</a:t>
            </a:r>
          </a:p>
          <a:p>
            <a:pPr algn="just">
              <a:lnSpc>
                <a:spcPts val="3023"/>
              </a:lnSpc>
            </a:pPr>
            <a:r>
              <a:rPr lang="en-US" b="true" sz="2399">
                <a:solidFill>
                  <a:srgbClr val="000000"/>
                </a:solidFill>
                <a:latin typeface="Canva Sans Bold"/>
                <a:ea typeface="Canva Sans Bold"/>
                <a:cs typeface="Canva Sans Bold"/>
                <a:sym typeface="Canva Sans Bold"/>
              </a:rPr>
              <a:t>2. AI &amp; DATA: </a:t>
            </a:r>
            <a:r>
              <a:rPr lang="en-US" sz="2399">
                <a:solidFill>
                  <a:srgbClr val="000000"/>
                </a:solidFill>
                <a:latin typeface="Canva Sans"/>
                <a:ea typeface="Canva Sans"/>
                <a:cs typeface="Canva Sans"/>
                <a:sym typeface="Canva Sans"/>
              </a:rPr>
              <a:t>KAGGLE, GOOGLE COLAB.</a:t>
            </a:r>
          </a:p>
          <a:p>
            <a:pPr algn="just">
              <a:lnSpc>
                <a:spcPts val="3023"/>
              </a:lnSpc>
            </a:pPr>
            <a:r>
              <a:rPr lang="en-US" b="true" sz="2399">
                <a:solidFill>
                  <a:srgbClr val="000000"/>
                </a:solidFill>
                <a:latin typeface="Canva Sans Bold"/>
                <a:ea typeface="Canva Sans Bold"/>
                <a:cs typeface="Canva Sans Bold"/>
                <a:sym typeface="Canva Sans Bold"/>
              </a:rPr>
              <a:t>3. DESIGN: </a:t>
            </a:r>
            <a:r>
              <a:rPr lang="en-US" sz="2399">
                <a:solidFill>
                  <a:srgbClr val="000000"/>
                </a:solidFill>
                <a:latin typeface="Canva Sans"/>
                <a:ea typeface="Canva Sans"/>
                <a:cs typeface="Canva Sans"/>
                <a:sym typeface="Canva Sans"/>
              </a:rPr>
              <a:t>FIGMA.</a:t>
            </a:r>
          </a:p>
          <a:p>
            <a:pPr algn="just">
              <a:lnSpc>
                <a:spcPts val="3023"/>
              </a:lnSpc>
            </a:pPr>
            <a:r>
              <a:rPr lang="en-US" b="true" sz="2399">
                <a:solidFill>
                  <a:srgbClr val="000000"/>
                </a:solidFill>
                <a:latin typeface="Canva Sans Bold"/>
                <a:ea typeface="Canva Sans Bold"/>
                <a:cs typeface="Canva Sans Bold"/>
                <a:sym typeface="Canva Sans Bold"/>
              </a:rPr>
              <a:t>4. DEVELOPMENT:</a:t>
            </a:r>
            <a:r>
              <a:rPr lang="en-US" sz="2399">
                <a:solidFill>
                  <a:srgbClr val="000000"/>
                </a:solidFill>
                <a:latin typeface="Canva Sans"/>
                <a:ea typeface="Canva Sans"/>
                <a:cs typeface="Canva Sans"/>
                <a:sym typeface="Canva Sans"/>
              </a:rPr>
              <a:t> PYTHON, VS CODE, REACT.</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74241"/>
            <a:ext cx="16230600" cy="712470"/>
          </a:xfrm>
          <a:prstGeom prst="rect">
            <a:avLst/>
          </a:prstGeom>
        </p:spPr>
        <p:txBody>
          <a:bodyPr anchor="t" rtlCol="false" tIns="0" lIns="0" bIns="0" rIns="0">
            <a:spAutoFit/>
          </a:bodyPr>
          <a:lstStyle/>
          <a:p>
            <a:pPr algn="ctr">
              <a:lnSpc>
                <a:spcPts val="5880"/>
              </a:lnSpc>
              <a:spcBef>
                <a:spcPct val="0"/>
              </a:spcBef>
            </a:pPr>
            <a:r>
              <a:rPr lang="en-US" b="true" sz="4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The Backbone of Defense: Network Infrastructure Design</a:t>
            </a:r>
          </a:p>
        </p:txBody>
      </p:sp>
      <p:sp>
        <p:nvSpPr>
          <p:cNvPr name="TextBox 3" id="3"/>
          <p:cNvSpPr txBox="true"/>
          <p:nvPr/>
        </p:nvSpPr>
        <p:spPr>
          <a:xfrm rot="0">
            <a:off x="1028700" y="2257579"/>
            <a:ext cx="16230600" cy="6783070"/>
          </a:xfrm>
          <a:prstGeom prst="rect">
            <a:avLst/>
          </a:prstGeom>
        </p:spPr>
        <p:txBody>
          <a:bodyPr anchor="t" rtlCol="false" tIns="0" lIns="0" bIns="0" rIns="0">
            <a:spAutoFit/>
          </a:bodyPr>
          <a:lstStyle/>
          <a:p>
            <a:pPr algn="l">
              <a:lnSpc>
                <a:spcPts val="4160"/>
              </a:lnSpc>
            </a:pPr>
            <a:r>
              <a:rPr lang="en-US" b="true" sz="2600">
                <a:solidFill>
                  <a:srgbClr val="000000"/>
                </a:solidFill>
                <a:latin typeface="Canva Sans Bold"/>
                <a:ea typeface="Canva Sans Bold"/>
                <a:cs typeface="Canva Sans Bold"/>
                <a:sym typeface="Canva Sans Bold"/>
              </a:rPr>
              <a:t>Design Philosophy:</a:t>
            </a:r>
          </a:p>
          <a:p>
            <a:pPr algn="l" marL="561341" indent="-280670" lvl="1">
              <a:lnSpc>
                <a:spcPts val="4160"/>
              </a:lnSpc>
              <a:buFont typeface="Arial"/>
              <a:buChar char="•"/>
            </a:pPr>
            <a:r>
              <a:rPr lang="en-US" sz="2600">
                <a:solidFill>
                  <a:srgbClr val="000000"/>
                </a:solidFill>
                <a:latin typeface="Canva Sans"/>
                <a:ea typeface="Canva Sans"/>
                <a:cs typeface="Canva Sans"/>
                <a:sym typeface="Canva Sans"/>
              </a:rPr>
              <a:t>Building a secure environment is the first line of defense before deploying the AI detection engine.</a:t>
            </a:r>
          </a:p>
          <a:p>
            <a:pPr algn="l">
              <a:lnSpc>
                <a:spcPts val="4160"/>
              </a:lnSpc>
            </a:pPr>
            <a:r>
              <a:rPr lang="en-US" b="true" sz="2600">
                <a:solidFill>
                  <a:srgbClr val="000000"/>
                </a:solidFill>
                <a:latin typeface="Canva Sans Bold"/>
                <a:ea typeface="Canva Sans Bold"/>
                <a:cs typeface="Canva Sans Bold"/>
                <a:sym typeface="Canva Sans Bold"/>
              </a:rPr>
              <a:t>Core Objectives:</a:t>
            </a:r>
          </a:p>
          <a:p>
            <a:pPr algn="l" marL="561341" indent="-280670" lvl="1">
              <a:lnSpc>
                <a:spcPts val="4160"/>
              </a:lnSpc>
              <a:buFont typeface="Arial"/>
              <a:buChar char="•"/>
            </a:pPr>
            <a:r>
              <a:rPr lang="en-US" sz="2600">
                <a:solidFill>
                  <a:srgbClr val="000000"/>
                </a:solidFill>
                <a:latin typeface="Canva Sans"/>
                <a:ea typeface="Canva Sans"/>
                <a:cs typeface="Canva Sans"/>
                <a:sym typeface="Canva Sans"/>
              </a:rPr>
              <a:t>Traffic Segmentation: Dividing the institute's network into logical zones (VLANs) to limit the "Blast Radius" in case of a breach.</a:t>
            </a:r>
          </a:p>
          <a:p>
            <a:pPr algn="l" marL="561341" indent="-280670" lvl="1">
              <a:lnSpc>
                <a:spcPts val="4160"/>
              </a:lnSpc>
              <a:buFont typeface="Arial"/>
              <a:buChar char="•"/>
            </a:pPr>
            <a:r>
              <a:rPr lang="en-US" sz="2600">
                <a:solidFill>
                  <a:srgbClr val="000000"/>
                </a:solidFill>
                <a:latin typeface="Canva Sans"/>
                <a:ea typeface="Canva Sans"/>
                <a:cs typeface="Canva Sans"/>
                <a:sym typeface="Canva Sans"/>
              </a:rPr>
              <a:t>Strategic Placement: Implementing Layer 3 switching at the distribution level to ensure efficient routing and monitoring.</a:t>
            </a:r>
          </a:p>
          <a:p>
            <a:pPr algn="l" marL="561341" indent="-280670" lvl="1">
              <a:lnSpc>
                <a:spcPts val="4160"/>
              </a:lnSpc>
              <a:buFont typeface="Arial"/>
              <a:buChar char="•"/>
            </a:pPr>
            <a:r>
              <a:rPr lang="en-US" sz="2600">
                <a:solidFill>
                  <a:srgbClr val="000000"/>
                </a:solidFill>
                <a:latin typeface="Canva Sans"/>
                <a:ea typeface="Canva Sans"/>
                <a:cs typeface="Canva Sans"/>
                <a:sym typeface="Canva Sans"/>
              </a:rPr>
              <a:t>Hardening: Applying industry-standard security protocols (Port Security, ACLs) to the physical and logical layers.</a:t>
            </a:r>
          </a:p>
          <a:p>
            <a:pPr algn="l">
              <a:lnSpc>
                <a:spcPts val="4160"/>
              </a:lnSpc>
            </a:pPr>
            <a:r>
              <a:rPr lang="en-US" b="true" sz="2600">
                <a:solidFill>
                  <a:srgbClr val="000000"/>
                </a:solidFill>
                <a:latin typeface="Canva Sans Bold"/>
                <a:ea typeface="Canva Sans Bold"/>
                <a:cs typeface="Canva Sans Bold"/>
                <a:sym typeface="Canva Sans Bold"/>
              </a:rPr>
              <a:t>Simulation Environment:</a:t>
            </a:r>
          </a:p>
          <a:p>
            <a:pPr algn="l" marL="561341" indent="-280670" lvl="1">
              <a:lnSpc>
                <a:spcPts val="4160"/>
              </a:lnSpc>
              <a:buFont typeface="Arial"/>
              <a:buChar char="•"/>
            </a:pPr>
            <a:r>
              <a:rPr lang="en-US" sz="2600">
                <a:solidFill>
                  <a:srgbClr val="000000"/>
                </a:solidFill>
                <a:latin typeface="Canva Sans"/>
                <a:ea typeface="Canva Sans"/>
                <a:cs typeface="Canva Sans"/>
                <a:sym typeface="Canva Sans"/>
              </a:rPr>
              <a:t>The entire topology was designed and stress-tested using Cisco Packet Tracer and GNS3 to validate security policies before deployment.</a:t>
            </a:r>
          </a:p>
          <a:p>
            <a:pPr algn="l">
              <a:lnSpc>
                <a:spcPts val="4160"/>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89025"/>
            <a:ext cx="8854916" cy="1052195"/>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Network Architecture</a:t>
            </a:r>
          </a:p>
        </p:txBody>
      </p:sp>
      <p:sp>
        <p:nvSpPr>
          <p:cNvPr name="AutoShape 3" id="3"/>
          <p:cNvSpPr/>
          <p:nvPr/>
        </p:nvSpPr>
        <p:spPr>
          <a:xfrm flipH="true">
            <a:off x="1028700" y="2141220"/>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TextBox 4" id="4"/>
          <p:cNvSpPr txBox="true"/>
          <p:nvPr/>
        </p:nvSpPr>
        <p:spPr>
          <a:xfrm rot="0">
            <a:off x="1028700" y="2676194"/>
            <a:ext cx="16230600" cy="5363038"/>
          </a:xfrm>
          <a:prstGeom prst="rect">
            <a:avLst/>
          </a:prstGeom>
        </p:spPr>
        <p:txBody>
          <a:bodyPr anchor="t" rtlCol="false" tIns="0" lIns="0" bIns="0" rIns="0">
            <a:spAutoFit/>
          </a:bodyPr>
          <a:lstStyle/>
          <a:p>
            <a:pPr algn="l">
              <a:lnSpc>
                <a:spcPts val="4785"/>
              </a:lnSpc>
            </a:pPr>
            <a:r>
              <a:rPr lang="en-US" b="true" sz="2990">
                <a:solidFill>
                  <a:srgbClr val="000000"/>
                </a:solidFill>
                <a:latin typeface="Canva Sans Bold"/>
                <a:ea typeface="Canva Sans Bold"/>
                <a:cs typeface="Canva Sans Bold"/>
                <a:sym typeface="Canva Sans Bold"/>
              </a:rPr>
              <a:t>Infrastructure Layout</a:t>
            </a:r>
          </a:p>
          <a:p>
            <a:pPr algn="l" marL="645734" indent="-322867" lvl="1">
              <a:lnSpc>
                <a:spcPts val="4785"/>
              </a:lnSpc>
              <a:buFont typeface="Arial"/>
              <a:buChar char="•"/>
            </a:pPr>
            <a:r>
              <a:rPr lang="en-US" b="true" sz="2990">
                <a:solidFill>
                  <a:srgbClr val="000000"/>
                </a:solidFill>
                <a:latin typeface="Canva Sans Bold"/>
                <a:ea typeface="Canva Sans Bold"/>
                <a:cs typeface="Canva Sans Bold"/>
                <a:sym typeface="Canva Sans Bold"/>
              </a:rPr>
              <a:t>Hierarchical Design: </a:t>
            </a:r>
            <a:r>
              <a:rPr lang="en-US" sz="2990">
                <a:solidFill>
                  <a:srgbClr val="000000"/>
                </a:solidFill>
                <a:latin typeface="Canva Sans"/>
                <a:ea typeface="Canva Sans"/>
                <a:cs typeface="Canva Sans"/>
                <a:sym typeface="Canva Sans"/>
              </a:rPr>
              <a:t>Access and Layer 3 Distribution/Core architecture for optimal traffic flow.</a:t>
            </a:r>
          </a:p>
          <a:p>
            <a:pPr algn="l" marL="645734" indent="-322867" lvl="1">
              <a:lnSpc>
                <a:spcPts val="4785"/>
              </a:lnSpc>
              <a:buFont typeface="Arial"/>
              <a:buChar char="•"/>
            </a:pPr>
            <a:r>
              <a:rPr lang="en-US" b="true" sz="2990">
                <a:solidFill>
                  <a:srgbClr val="000000"/>
                </a:solidFill>
                <a:latin typeface="Canva Sans Bold"/>
                <a:ea typeface="Canva Sans Bold"/>
                <a:cs typeface="Canva Sans Bold"/>
                <a:sym typeface="Canva Sans Bold"/>
              </a:rPr>
              <a:t>VLAN Segmentation:</a:t>
            </a:r>
            <a:r>
              <a:rPr lang="en-US" sz="2990">
                <a:solidFill>
                  <a:srgbClr val="000000"/>
                </a:solidFill>
                <a:latin typeface="Canva Sans"/>
                <a:ea typeface="Canva Sans"/>
                <a:cs typeface="Canva Sans"/>
                <a:sym typeface="Canva Sans"/>
              </a:rPr>
              <a:t> Logical isolation of Admin (10), Wireless (20), and Labs (30) to contain threats.</a:t>
            </a:r>
          </a:p>
          <a:p>
            <a:pPr algn="l" marL="645734" indent="-322867" lvl="1">
              <a:lnSpc>
                <a:spcPts val="4785"/>
              </a:lnSpc>
              <a:buFont typeface="Arial"/>
              <a:buChar char="•"/>
            </a:pPr>
            <a:r>
              <a:rPr lang="en-US" b="true" sz="2990">
                <a:solidFill>
                  <a:srgbClr val="000000"/>
                </a:solidFill>
                <a:latin typeface="Canva Sans Bold"/>
                <a:ea typeface="Canva Sans Bold"/>
                <a:cs typeface="Canva Sans Bold"/>
                <a:sym typeface="Canva Sans Bold"/>
              </a:rPr>
              <a:t>Inter-VLAN Routing:</a:t>
            </a:r>
            <a:r>
              <a:rPr lang="en-US" sz="2990">
                <a:solidFill>
                  <a:srgbClr val="000000"/>
                </a:solidFill>
                <a:latin typeface="Canva Sans"/>
                <a:ea typeface="Canva Sans"/>
                <a:cs typeface="Canva Sans"/>
                <a:sym typeface="Canva Sans"/>
              </a:rPr>
              <a:t> Multilayer switches utilizing SVIs for secure communication between departments.</a:t>
            </a:r>
          </a:p>
          <a:p>
            <a:pPr algn="l" marL="645734" indent="-322867" lvl="1">
              <a:lnSpc>
                <a:spcPts val="4785"/>
              </a:lnSpc>
              <a:buFont typeface="Arial"/>
              <a:buChar char="•"/>
            </a:pPr>
            <a:r>
              <a:rPr lang="en-US" b="true" sz="2990">
                <a:solidFill>
                  <a:srgbClr val="000000"/>
                </a:solidFill>
                <a:latin typeface="Canva Sans Bold"/>
                <a:ea typeface="Canva Sans Bold"/>
                <a:cs typeface="Canva Sans Bold"/>
                <a:sym typeface="Canva Sans Bold"/>
              </a:rPr>
              <a:t>802.1Q Trunking: </a:t>
            </a:r>
            <a:r>
              <a:rPr lang="en-US" sz="2990">
                <a:solidFill>
                  <a:srgbClr val="000000"/>
                </a:solidFill>
                <a:latin typeface="Canva Sans"/>
                <a:ea typeface="Canva Sans"/>
                <a:cs typeface="Canva Sans"/>
                <a:sym typeface="Canva Sans"/>
              </a:rPr>
              <a:t>Aggregated traffic monitoring to ensure full NIDS visibility across physical links.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089025"/>
            <a:ext cx="8854916" cy="1052195"/>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Network Architecture</a:t>
            </a:r>
          </a:p>
        </p:txBody>
      </p:sp>
      <p:sp>
        <p:nvSpPr>
          <p:cNvPr name="AutoShape 3" id="3"/>
          <p:cNvSpPr/>
          <p:nvPr/>
        </p:nvSpPr>
        <p:spPr>
          <a:xfrm flipH="true">
            <a:off x="1028700" y="2141220"/>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4044206" y="2628845"/>
            <a:ext cx="10199588" cy="5911007"/>
          </a:xfrm>
          <a:custGeom>
            <a:avLst/>
            <a:gdLst/>
            <a:ahLst/>
            <a:cxnLst/>
            <a:rect r="r" b="b" t="t" l="l"/>
            <a:pathLst>
              <a:path h="5911007" w="10199588">
                <a:moveTo>
                  <a:pt x="0" y="0"/>
                </a:moveTo>
                <a:lnTo>
                  <a:pt x="10199588" y="0"/>
                </a:lnTo>
                <a:lnTo>
                  <a:pt x="10199588" y="5911007"/>
                </a:lnTo>
                <a:lnTo>
                  <a:pt x="0" y="5911007"/>
                </a:lnTo>
                <a:lnTo>
                  <a:pt x="0" y="0"/>
                </a:lnTo>
                <a:close/>
              </a:path>
            </a:pathLst>
          </a:custGeom>
          <a:blipFill>
            <a:blip r:embed="rId2"/>
            <a:stretch>
              <a:fillRect l="0" t="0" r="0" b="0"/>
            </a:stretch>
          </a:blipFill>
        </p:spPr>
      </p:sp>
      <p:sp>
        <p:nvSpPr>
          <p:cNvPr name="TextBox 5" id="5"/>
          <p:cNvSpPr txBox="true"/>
          <p:nvPr/>
        </p:nvSpPr>
        <p:spPr>
          <a:xfrm rot="0">
            <a:off x="6238756" y="8960803"/>
            <a:ext cx="5810488"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Canva Sans Bold"/>
                <a:ea typeface="Canva Sans Bold"/>
                <a:cs typeface="Canva Sans Bold"/>
                <a:sym typeface="Canva Sans Bold"/>
              </a:rPr>
              <a:t>Network design and topology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089025"/>
            <a:ext cx="8854916" cy="1052195"/>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Network Architecture</a:t>
            </a:r>
          </a:p>
        </p:txBody>
      </p:sp>
      <p:sp>
        <p:nvSpPr>
          <p:cNvPr name="AutoShape 3" id="3"/>
          <p:cNvSpPr/>
          <p:nvPr/>
        </p:nvSpPr>
        <p:spPr>
          <a:xfrm flipH="true">
            <a:off x="1028700" y="2141220"/>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4938430" y="2537503"/>
            <a:ext cx="8411140" cy="6093691"/>
          </a:xfrm>
          <a:custGeom>
            <a:avLst/>
            <a:gdLst/>
            <a:ahLst/>
            <a:cxnLst/>
            <a:rect r="r" b="b" t="t" l="l"/>
            <a:pathLst>
              <a:path h="6093691" w="8411140">
                <a:moveTo>
                  <a:pt x="0" y="0"/>
                </a:moveTo>
                <a:lnTo>
                  <a:pt x="8411140" y="0"/>
                </a:lnTo>
                <a:lnTo>
                  <a:pt x="8411140" y="6093691"/>
                </a:lnTo>
                <a:lnTo>
                  <a:pt x="0" y="6093691"/>
                </a:lnTo>
                <a:lnTo>
                  <a:pt x="0" y="0"/>
                </a:lnTo>
                <a:close/>
              </a:path>
            </a:pathLst>
          </a:custGeom>
          <a:blipFill>
            <a:blip r:embed="rId2"/>
            <a:stretch>
              <a:fillRect l="0" t="0" r="0" b="0"/>
            </a:stretch>
          </a:blipFill>
        </p:spPr>
      </p:sp>
      <p:sp>
        <p:nvSpPr>
          <p:cNvPr name="TextBox 5" id="5"/>
          <p:cNvSpPr txBox="true"/>
          <p:nvPr/>
        </p:nvSpPr>
        <p:spPr>
          <a:xfrm rot="0">
            <a:off x="5723692" y="8960803"/>
            <a:ext cx="6840617"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Canva Sans Bold"/>
                <a:ea typeface="Canva Sans Bold"/>
                <a:cs typeface="Canva Sans Bold"/>
                <a:sym typeface="Canva Sans Bold"/>
              </a:rPr>
              <a:t> Verifying using the Ping command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6061807" y="2730298"/>
            <a:ext cx="0" cy="2404007"/>
          </a:xfrm>
          <a:prstGeom prst="line">
            <a:avLst/>
          </a:prstGeom>
          <a:ln cap="flat" w="38100">
            <a:solidFill>
              <a:srgbClr val="000000"/>
            </a:solidFill>
            <a:prstDash val="solid"/>
            <a:headEnd type="none" len="sm" w="sm"/>
            <a:tailEnd type="none" len="sm" w="sm"/>
          </a:ln>
        </p:spPr>
      </p:sp>
      <p:sp>
        <p:nvSpPr>
          <p:cNvPr name="TextBox 3" id="3"/>
          <p:cNvSpPr txBox="true"/>
          <p:nvPr/>
        </p:nvSpPr>
        <p:spPr>
          <a:xfrm rot="0">
            <a:off x="5717619" y="258763"/>
            <a:ext cx="6852761" cy="1377949"/>
          </a:xfrm>
          <a:prstGeom prst="rect">
            <a:avLst/>
          </a:prstGeom>
        </p:spPr>
        <p:txBody>
          <a:bodyPr anchor="t" rtlCol="false" tIns="0" lIns="0" bIns="0" rIns="0">
            <a:spAutoFit/>
          </a:bodyPr>
          <a:lstStyle/>
          <a:p>
            <a:pPr algn="ctr">
              <a:lnSpc>
                <a:spcPts val="11200"/>
              </a:lnSpc>
              <a:spcBef>
                <a:spcPct val="0"/>
              </a:spcBef>
            </a:pPr>
            <a:r>
              <a:rPr lang="en-US" b="true" sz="80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Meth</a:t>
            </a:r>
            <a:r>
              <a:rPr lang="en-US" b="true" sz="80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odology</a:t>
            </a:r>
          </a:p>
        </p:txBody>
      </p:sp>
      <p:sp>
        <p:nvSpPr>
          <p:cNvPr name="AutoShape 4" id="4"/>
          <p:cNvSpPr/>
          <p:nvPr/>
        </p:nvSpPr>
        <p:spPr>
          <a:xfrm flipV="true">
            <a:off x="4930878" y="2720773"/>
            <a:ext cx="1130608" cy="1905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66271" y="2031798"/>
            <a:ext cx="5651349" cy="1216025"/>
          </a:xfrm>
          <a:prstGeom prst="rect">
            <a:avLst/>
          </a:prstGeom>
        </p:spPr>
        <p:txBody>
          <a:bodyPr anchor="t" rtlCol="false" tIns="0" lIns="0" bIns="0" rIns="0">
            <a:spAutoFit/>
          </a:bodyPr>
          <a:lstStyle/>
          <a:p>
            <a:pPr algn="ctr">
              <a:lnSpc>
                <a:spcPts val="4900"/>
              </a:lnSpc>
              <a:spcBef>
                <a:spcPct val="0"/>
              </a:spcBef>
            </a:pPr>
            <a:r>
              <a:rPr lang="en-US" b="true" sz="3500">
                <a:solidFill>
                  <a:srgbClr val="000000"/>
                </a:solidFill>
                <a:latin typeface="Canva Sans Bold"/>
                <a:ea typeface="Canva Sans Bold"/>
                <a:cs typeface="Canva Sans Bold"/>
                <a:sym typeface="Canva Sans Bold"/>
              </a:rPr>
              <a:t>Select D</a:t>
            </a:r>
            <a:r>
              <a:rPr lang="en-US" b="true" sz="3500">
                <a:solidFill>
                  <a:srgbClr val="000000"/>
                </a:solidFill>
                <a:latin typeface="Canva Sans Bold"/>
                <a:ea typeface="Canva Sans Bold"/>
                <a:cs typeface="Canva Sans Bold"/>
                <a:sym typeface="Canva Sans Bold"/>
              </a:rPr>
              <a:t>ataset &amp; Preprocessing</a:t>
            </a:r>
          </a:p>
        </p:txBody>
      </p:sp>
      <p:sp>
        <p:nvSpPr>
          <p:cNvPr name="AutoShape 6" id="6"/>
          <p:cNvSpPr/>
          <p:nvPr/>
        </p:nvSpPr>
        <p:spPr>
          <a:xfrm flipV="true">
            <a:off x="8055408" y="2720773"/>
            <a:ext cx="0" cy="2394486"/>
          </a:xfrm>
          <a:prstGeom prst="line">
            <a:avLst/>
          </a:prstGeom>
          <a:ln cap="flat" w="38100">
            <a:solidFill>
              <a:srgbClr val="000000"/>
            </a:solidFill>
            <a:prstDash val="solid"/>
            <a:headEnd type="none" len="sm" w="sm"/>
            <a:tailEnd type="none" len="sm" w="sm"/>
          </a:ln>
        </p:spPr>
      </p:sp>
      <p:sp>
        <p:nvSpPr>
          <p:cNvPr name="AutoShape 7" id="7"/>
          <p:cNvSpPr/>
          <p:nvPr/>
        </p:nvSpPr>
        <p:spPr>
          <a:xfrm flipV="true">
            <a:off x="8055519" y="2673148"/>
            <a:ext cx="4881513" cy="28575"/>
          </a:xfrm>
          <a:prstGeom prst="line">
            <a:avLst/>
          </a:prstGeom>
          <a:ln cap="flat" w="38100">
            <a:solidFill>
              <a:srgbClr val="000000"/>
            </a:solidFill>
            <a:prstDash val="solid"/>
            <a:headEnd type="none" len="sm" w="sm"/>
            <a:tailEnd type="none" len="sm" w="sm"/>
          </a:ln>
        </p:spPr>
      </p:sp>
      <p:sp>
        <p:nvSpPr>
          <p:cNvPr name="TextBox 8" id="8"/>
          <p:cNvSpPr txBox="true"/>
          <p:nvPr/>
        </p:nvSpPr>
        <p:spPr>
          <a:xfrm rot="0">
            <a:off x="13260994" y="2142923"/>
            <a:ext cx="4087592"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000000"/>
                </a:solidFill>
                <a:latin typeface="Canva Sans Bold"/>
                <a:ea typeface="Canva Sans Bold"/>
                <a:cs typeface="Canva Sans Bold"/>
                <a:sym typeface="Canva Sans Bold"/>
              </a:rPr>
              <a:t>Resp</a:t>
            </a:r>
            <a:r>
              <a:rPr lang="en-US" b="true" sz="3500">
                <a:solidFill>
                  <a:srgbClr val="000000"/>
                </a:solidFill>
                <a:latin typeface="Canva Sans Bold"/>
                <a:ea typeface="Canva Sans Bold"/>
                <a:cs typeface="Canva Sans Bold"/>
                <a:sym typeface="Canva Sans Bold"/>
              </a:rPr>
              <a:t>onse Features</a:t>
            </a:r>
          </a:p>
        </p:txBody>
      </p:sp>
      <p:sp>
        <p:nvSpPr>
          <p:cNvPr name="AutoShape 9" id="9"/>
          <p:cNvSpPr/>
          <p:nvPr/>
        </p:nvSpPr>
        <p:spPr>
          <a:xfrm flipH="true" flipV="true">
            <a:off x="10162892" y="6967453"/>
            <a:ext cx="0" cy="877973"/>
          </a:xfrm>
          <a:prstGeom prst="line">
            <a:avLst/>
          </a:prstGeom>
          <a:ln cap="flat" w="38100">
            <a:solidFill>
              <a:srgbClr val="000000"/>
            </a:solidFill>
            <a:prstDash val="solid"/>
            <a:headEnd type="none" len="sm" w="sm"/>
            <a:tailEnd type="none" len="sm" w="sm"/>
          </a:ln>
        </p:spPr>
      </p:sp>
      <p:grpSp>
        <p:nvGrpSpPr>
          <p:cNvPr name="Group 10" id="10"/>
          <p:cNvGrpSpPr/>
          <p:nvPr/>
        </p:nvGrpSpPr>
        <p:grpSpPr>
          <a:xfrm rot="0">
            <a:off x="3988977" y="4729651"/>
            <a:ext cx="10310045" cy="2422397"/>
            <a:chOff x="0" y="0"/>
            <a:chExt cx="13746727" cy="3229862"/>
          </a:xfrm>
        </p:grpSpPr>
        <p:sp>
          <p:nvSpPr>
            <p:cNvPr name="Freeform 11" id="11"/>
            <p:cNvSpPr/>
            <p:nvPr/>
          </p:nvSpPr>
          <p:spPr>
            <a:xfrm flipH="false" flipV="false" rot="0">
              <a:off x="1158746" y="24609"/>
              <a:ext cx="3168908" cy="3168908"/>
            </a:xfrm>
            <a:custGeom>
              <a:avLst/>
              <a:gdLst/>
              <a:ahLst/>
              <a:cxnLst/>
              <a:rect r="r" b="b" t="t" l="l"/>
              <a:pathLst>
                <a:path h="3168908" w="3168908">
                  <a:moveTo>
                    <a:pt x="0" y="0"/>
                  </a:moveTo>
                  <a:lnTo>
                    <a:pt x="3168908" y="0"/>
                  </a:lnTo>
                  <a:lnTo>
                    <a:pt x="3168908" y="3168908"/>
                  </a:lnTo>
                  <a:lnTo>
                    <a:pt x="0" y="3168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3897878" y="0"/>
              <a:ext cx="3177044" cy="3177044"/>
            </a:xfrm>
            <a:custGeom>
              <a:avLst/>
              <a:gdLst/>
              <a:ahLst/>
              <a:cxnLst/>
              <a:rect r="r" b="b" t="t" l="l"/>
              <a:pathLst>
                <a:path h="3177044" w="3177044">
                  <a:moveTo>
                    <a:pt x="0" y="0"/>
                  </a:moveTo>
                  <a:lnTo>
                    <a:pt x="3177044" y="0"/>
                  </a:lnTo>
                  <a:lnTo>
                    <a:pt x="3177044" y="3177044"/>
                  </a:lnTo>
                  <a:lnTo>
                    <a:pt x="0" y="31770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6626974" y="24609"/>
              <a:ext cx="3205253" cy="3205253"/>
            </a:xfrm>
            <a:custGeom>
              <a:avLst/>
              <a:gdLst/>
              <a:ahLst/>
              <a:cxnLst/>
              <a:rect r="r" b="b" t="t" l="l"/>
              <a:pathLst>
                <a:path h="3205253" w="3205253">
                  <a:moveTo>
                    <a:pt x="0" y="0"/>
                  </a:moveTo>
                  <a:lnTo>
                    <a:pt x="3205252" y="0"/>
                  </a:lnTo>
                  <a:lnTo>
                    <a:pt x="3205252" y="3205253"/>
                  </a:lnTo>
                  <a:lnTo>
                    <a:pt x="0" y="3205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9420312" y="44020"/>
              <a:ext cx="3166431" cy="3166431"/>
            </a:xfrm>
            <a:custGeom>
              <a:avLst/>
              <a:gdLst/>
              <a:ahLst/>
              <a:cxnLst/>
              <a:rect r="r" b="b" t="t" l="l"/>
              <a:pathLst>
                <a:path h="3166431" w="3166431">
                  <a:moveTo>
                    <a:pt x="0" y="0"/>
                  </a:moveTo>
                  <a:lnTo>
                    <a:pt x="3166431" y="0"/>
                  </a:lnTo>
                  <a:lnTo>
                    <a:pt x="3166431" y="3166431"/>
                  </a:lnTo>
                  <a:lnTo>
                    <a:pt x="0" y="31664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0" y="724297"/>
              <a:ext cx="5486400" cy="1693333"/>
            </a:xfrm>
            <a:prstGeom prst="rect">
              <a:avLst/>
            </a:prstGeom>
          </p:spPr>
          <p:txBody>
            <a:bodyPr anchor="t" rtlCol="false" tIns="0" lIns="0" bIns="0" rIns="0">
              <a:spAutoFit/>
            </a:bodyPr>
            <a:lstStyle/>
            <a:p>
              <a:pPr algn="ctr">
                <a:lnSpc>
                  <a:spcPts val="10400"/>
                </a:lnSpc>
                <a:spcBef>
                  <a:spcPct val="0"/>
                </a:spcBef>
              </a:pPr>
              <a:r>
                <a:rPr lang="en-US" sz="8000">
                  <a:solidFill>
                    <a:srgbClr val="FFFFFF"/>
                  </a:solidFill>
                  <a:latin typeface="Open Sans 1"/>
                  <a:ea typeface="Open Sans 1"/>
                  <a:cs typeface="Open Sans 1"/>
                  <a:sym typeface="Open Sans 1"/>
                </a:rPr>
                <a:t>1</a:t>
              </a:r>
            </a:p>
          </p:txBody>
        </p:sp>
        <p:sp>
          <p:nvSpPr>
            <p:cNvPr name="TextBox 16" id="16"/>
            <p:cNvSpPr txBox="true"/>
            <p:nvPr/>
          </p:nvSpPr>
          <p:spPr>
            <a:xfrm rot="0">
              <a:off x="2743200" y="724297"/>
              <a:ext cx="5486400" cy="1693333"/>
            </a:xfrm>
            <a:prstGeom prst="rect">
              <a:avLst/>
            </a:prstGeom>
          </p:spPr>
          <p:txBody>
            <a:bodyPr anchor="t" rtlCol="false" tIns="0" lIns="0" bIns="0" rIns="0">
              <a:spAutoFit/>
            </a:bodyPr>
            <a:lstStyle/>
            <a:p>
              <a:pPr algn="ctr">
                <a:lnSpc>
                  <a:spcPts val="10400"/>
                </a:lnSpc>
                <a:spcBef>
                  <a:spcPct val="0"/>
                </a:spcBef>
              </a:pPr>
              <a:r>
                <a:rPr lang="en-US" sz="8000">
                  <a:solidFill>
                    <a:srgbClr val="FFFFFF"/>
                  </a:solidFill>
                  <a:latin typeface="Open Sans 1"/>
                  <a:ea typeface="Open Sans 1"/>
                  <a:cs typeface="Open Sans 1"/>
                  <a:sym typeface="Open Sans 1"/>
                </a:rPr>
                <a:t>2</a:t>
              </a:r>
            </a:p>
          </p:txBody>
        </p:sp>
        <p:sp>
          <p:nvSpPr>
            <p:cNvPr name="TextBox 17" id="17"/>
            <p:cNvSpPr txBox="true"/>
            <p:nvPr/>
          </p:nvSpPr>
          <p:spPr>
            <a:xfrm rot="0">
              <a:off x="5486400" y="703756"/>
              <a:ext cx="5486400" cy="1693333"/>
            </a:xfrm>
            <a:prstGeom prst="rect">
              <a:avLst/>
            </a:prstGeom>
          </p:spPr>
          <p:txBody>
            <a:bodyPr anchor="t" rtlCol="false" tIns="0" lIns="0" bIns="0" rIns="0">
              <a:spAutoFit/>
            </a:bodyPr>
            <a:lstStyle/>
            <a:p>
              <a:pPr algn="ctr">
                <a:lnSpc>
                  <a:spcPts val="10400"/>
                </a:lnSpc>
                <a:spcBef>
                  <a:spcPct val="0"/>
                </a:spcBef>
              </a:pPr>
              <a:r>
                <a:rPr lang="en-US" sz="8000">
                  <a:solidFill>
                    <a:srgbClr val="FFFFFF"/>
                  </a:solidFill>
                  <a:latin typeface="Open Sans 1"/>
                  <a:ea typeface="Open Sans 1"/>
                  <a:cs typeface="Open Sans 1"/>
                  <a:sym typeface="Open Sans 1"/>
                </a:rPr>
                <a:t>3</a:t>
              </a:r>
            </a:p>
          </p:txBody>
        </p:sp>
        <p:sp>
          <p:nvSpPr>
            <p:cNvPr name="TextBox 18" id="18"/>
            <p:cNvSpPr txBox="true"/>
            <p:nvPr/>
          </p:nvSpPr>
          <p:spPr>
            <a:xfrm rot="0">
              <a:off x="8260327" y="703756"/>
              <a:ext cx="5486400" cy="1693333"/>
            </a:xfrm>
            <a:prstGeom prst="rect">
              <a:avLst/>
            </a:prstGeom>
          </p:spPr>
          <p:txBody>
            <a:bodyPr anchor="t" rtlCol="false" tIns="0" lIns="0" bIns="0" rIns="0">
              <a:spAutoFit/>
            </a:bodyPr>
            <a:lstStyle/>
            <a:p>
              <a:pPr algn="ctr">
                <a:lnSpc>
                  <a:spcPts val="10400"/>
                </a:lnSpc>
                <a:spcBef>
                  <a:spcPct val="0"/>
                </a:spcBef>
              </a:pPr>
              <a:r>
                <a:rPr lang="en-US" sz="8000">
                  <a:solidFill>
                    <a:srgbClr val="FFFFFF"/>
                  </a:solidFill>
                  <a:latin typeface="Open Sans 1"/>
                  <a:ea typeface="Open Sans 1"/>
                  <a:cs typeface="Open Sans 1"/>
                  <a:sym typeface="Open Sans 1"/>
                </a:rPr>
                <a:t>4</a:t>
              </a:r>
            </a:p>
          </p:txBody>
        </p:sp>
      </p:grpSp>
      <p:sp>
        <p:nvSpPr>
          <p:cNvPr name="AutoShape 19" id="19"/>
          <p:cNvSpPr/>
          <p:nvPr/>
        </p:nvSpPr>
        <p:spPr>
          <a:xfrm flipV="true">
            <a:off x="4627166" y="7812062"/>
            <a:ext cx="5535496" cy="66728"/>
          </a:xfrm>
          <a:prstGeom prst="line">
            <a:avLst/>
          </a:prstGeom>
          <a:ln cap="flat" w="38100">
            <a:solidFill>
              <a:srgbClr val="000000"/>
            </a:solidFill>
            <a:prstDash val="solid"/>
            <a:headEnd type="none" len="sm" w="sm"/>
            <a:tailEnd type="none" len="sm" w="sm"/>
          </a:ln>
        </p:spPr>
      </p:sp>
      <p:sp>
        <p:nvSpPr>
          <p:cNvPr name="TextBox 20" id="20"/>
          <p:cNvSpPr txBox="true"/>
          <p:nvPr/>
        </p:nvSpPr>
        <p:spPr>
          <a:xfrm rot="0">
            <a:off x="720400" y="7571148"/>
            <a:ext cx="3528439"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000000"/>
                </a:solidFill>
                <a:latin typeface="Canva Sans Bold"/>
                <a:ea typeface="Canva Sans Bold"/>
                <a:cs typeface="Canva Sans Bold"/>
                <a:sym typeface="Canva Sans Bold"/>
              </a:rPr>
              <a:t>M</a:t>
            </a:r>
            <a:r>
              <a:rPr lang="en-US" b="true" sz="3500">
                <a:solidFill>
                  <a:srgbClr val="000000"/>
                </a:solidFill>
                <a:latin typeface="Canva Sans Bold"/>
                <a:ea typeface="Canva Sans Bold"/>
                <a:cs typeface="Canva Sans Bold"/>
                <a:sym typeface="Canva Sans Bold"/>
              </a:rPr>
              <a:t>odel Selection</a:t>
            </a:r>
          </a:p>
        </p:txBody>
      </p:sp>
      <p:sp>
        <p:nvSpPr>
          <p:cNvPr name="AutoShape 21" id="21"/>
          <p:cNvSpPr/>
          <p:nvPr/>
        </p:nvSpPr>
        <p:spPr>
          <a:xfrm flipH="true">
            <a:off x="13074114" y="5921800"/>
            <a:ext cx="1224909" cy="0"/>
          </a:xfrm>
          <a:prstGeom prst="line">
            <a:avLst/>
          </a:prstGeom>
          <a:ln cap="flat" w="38100">
            <a:solidFill>
              <a:srgbClr val="000000"/>
            </a:solidFill>
            <a:prstDash val="solid"/>
            <a:headEnd type="none" len="sm" w="sm"/>
            <a:tailEnd type="none" len="sm" w="sm"/>
          </a:ln>
        </p:spPr>
      </p:sp>
      <p:sp>
        <p:nvSpPr>
          <p:cNvPr name="AutoShape 22" id="22"/>
          <p:cNvSpPr/>
          <p:nvPr/>
        </p:nvSpPr>
        <p:spPr>
          <a:xfrm flipV="true">
            <a:off x="14318073" y="5940850"/>
            <a:ext cx="0" cy="486284"/>
          </a:xfrm>
          <a:prstGeom prst="line">
            <a:avLst/>
          </a:prstGeom>
          <a:ln cap="flat" w="38100">
            <a:solidFill>
              <a:srgbClr val="000000"/>
            </a:solidFill>
            <a:prstDash val="solid"/>
            <a:headEnd type="none" len="sm" w="sm"/>
            <a:tailEnd type="none" len="sm" w="sm"/>
          </a:ln>
        </p:spPr>
      </p:sp>
      <p:sp>
        <p:nvSpPr>
          <p:cNvPr name="TextBox 23" id="23"/>
          <p:cNvSpPr txBox="true"/>
          <p:nvPr/>
        </p:nvSpPr>
        <p:spPr>
          <a:xfrm rot="0">
            <a:off x="13300908" y="6555148"/>
            <a:ext cx="4833763"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000000"/>
                </a:solidFill>
                <a:latin typeface="Canva Sans Bold"/>
                <a:ea typeface="Canva Sans Bold"/>
                <a:cs typeface="Canva Sans Bold"/>
                <a:sym typeface="Canva Sans Bold"/>
              </a:rPr>
              <a:t>M</a:t>
            </a:r>
            <a:r>
              <a:rPr lang="en-US" b="true" sz="3500">
                <a:solidFill>
                  <a:srgbClr val="000000"/>
                </a:solidFill>
                <a:latin typeface="Canva Sans Bold"/>
                <a:ea typeface="Canva Sans Bold"/>
                <a:cs typeface="Canva Sans Bold"/>
                <a:sym typeface="Canva Sans Bold"/>
              </a:rPr>
              <a:t>odel Comparison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367284" y="866775"/>
            <a:ext cx="5553433" cy="1377949"/>
          </a:xfrm>
          <a:prstGeom prst="rect">
            <a:avLst/>
          </a:prstGeom>
        </p:spPr>
        <p:txBody>
          <a:bodyPr anchor="t" rtlCol="false" tIns="0" lIns="0" bIns="0" rIns="0">
            <a:spAutoFit/>
          </a:bodyPr>
          <a:lstStyle/>
          <a:p>
            <a:pPr algn="ctr">
              <a:lnSpc>
                <a:spcPts val="11200"/>
              </a:lnSpc>
              <a:spcBef>
                <a:spcPct val="0"/>
              </a:spcBef>
            </a:pPr>
            <a:r>
              <a:rPr lang="en-US" b="true" sz="80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DATASETS</a:t>
            </a:r>
          </a:p>
        </p:txBody>
      </p:sp>
      <p:sp>
        <p:nvSpPr>
          <p:cNvPr name="AutoShape 3" id="3"/>
          <p:cNvSpPr/>
          <p:nvPr/>
        </p:nvSpPr>
        <p:spPr>
          <a:xfrm flipV="true">
            <a:off x="7035733" y="3379022"/>
            <a:ext cx="0" cy="1471221"/>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1164998" y="3379022"/>
            <a:ext cx="0" cy="1471221"/>
          </a:xfrm>
          <a:prstGeom prst="line">
            <a:avLst/>
          </a:prstGeom>
          <a:ln cap="flat" w="38100">
            <a:solidFill>
              <a:srgbClr val="000000"/>
            </a:solidFill>
            <a:prstDash val="solid"/>
            <a:headEnd type="none" len="sm" w="sm"/>
            <a:tailEnd type="none" len="sm" w="sm"/>
          </a:ln>
        </p:spPr>
      </p:sp>
      <p:sp>
        <p:nvSpPr>
          <p:cNvPr name="AutoShape 5" id="5"/>
          <p:cNvSpPr/>
          <p:nvPr/>
        </p:nvSpPr>
        <p:spPr>
          <a:xfrm>
            <a:off x="5848573" y="3398072"/>
            <a:ext cx="1187160" cy="7516"/>
          </a:xfrm>
          <a:prstGeom prst="line">
            <a:avLst/>
          </a:prstGeom>
          <a:ln cap="flat" w="38100">
            <a:solidFill>
              <a:srgbClr val="000000"/>
            </a:solidFill>
            <a:prstDash val="solid"/>
            <a:headEnd type="none" len="sm" w="sm"/>
            <a:tailEnd type="none" len="sm" w="sm"/>
          </a:ln>
        </p:spPr>
      </p:sp>
      <p:sp>
        <p:nvSpPr>
          <p:cNvPr name="AutoShape 6" id="6"/>
          <p:cNvSpPr/>
          <p:nvPr/>
        </p:nvSpPr>
        <p:spPr>
          <a:xfrm>
            <a:off x="11185106" y="3398072"/>
            <a:ext cx="1471221" cy="0"/>
          </a:xfrm>
          <a:prstGeom prst="line">
            <a:avLst/>
          </a:prstGeom>
          <a:ln cap="flat" w="38100">
            <a:solidFill>
              <a:srgbClr val="000000"/>
            </a:solidFill>
            <a:prstDash val="solid"/>
            <a:headEnd type="none" len="sm" w="sm"/>
            <a:tailEnd type="none" len="sm" w="sm"/>
          </a:ln>
        </p:spPr>
      </p:sp>
      <p:sp>
        <p:nvSpPr>
          <p:cNvPr name="AutoShape 7" id="7"/>
          <p:cNvSpPr/>
          <p:nvPr/>
        </p:nvSpPr>
        <p:spPr>
          <a:xfrm flipV="true">
            <a:off x="9163050" y="6473491"/>
            <a:ext cx="0" cy="1471221"/>
          </a:xfrm>
          <a:prstGeom prst="line">
            <a:avLst/>
          </a:prstGeom>
          <a:ln cap="flat" w="38100">
            <a:solidFill>
              <a:srgbClr val="000000"/>
            </a:solidFill>
            <a:prstDash val="solid"/>
            <a:headEnd type="none" len="sm" w="sm"/>
            <a:tailEnd type="none" len="sm" w="sm"/>
          </a:ln>
        </p:spPr>
      </p:sp>
      <p:sp>
        <p:nvSpPr>
          <p:cNvPr name="TextBox 8" id="8"/>
          <p:cNvSpPr txBox="true"/>
          <p:nvPr/>
        </p:nvSpPr>
        <p:spPr>
          <a:xfrm rot="0">
            <a:off x="1345889" y="3139627"/>
            <a:ext cx="4218622" cy="450215"/>
          </a:xfrm>
          <a:prstGeom prst="rect">
            <a:avLst/>
          </a:prstGeom>
        </p:spPr>
        <p:txBody>
          <a:bodyPr anchor="t" rtlCol="false" tIns="0" lIns="0" bIns="0" rIns="0">
            <a:spAutoFit/>
          </a:bodyPr>
          <a:lstStyle/>
          <a:p>
            <a:pPr algn="ctr">
              <a:lnSpc>
                <a:spcPts val="3639"/>
              </a:lnSpc>
              <a:spcBef>
                <a:spcPct val="0"/>
              </a:spcBef>
            </a:pPr>
            <a:r>
              <a:rPr lang="en-US" b="true" sz="2799">
                <a:solidFill>
                  <a:srgbClr val="000000"/>
                </a:solidFill>
                <a:latin typeface="TT Lakes Neue Bold"/>
                <a:ea typeface="TT Lakes Neue Bold"/>
                <a:cs typeface="TT Lakes Neue Bold"/>
                <a:sym typeface="TT Lakes Neue Bold"/>
              </a:rPr>
              <a:t>URL Phishing Datasets</a:t>
            </a:r>
          </a:p>
        </p:txBody>
      </p:sp>
      <p:sp>
        <p:nvSpPr>
          <p:cNvPr name="TextBox 9" id="9"/>
          <p:cNvSpPr txBox="true"/>
          <p:nvPr/>
        </p:nvSpPr>
        <p:spPr>
          <a:xfrm rot="0">
            <a:off x="13166884" y="3139627"/>
            <a:ext cx="3966210" cy="450215"/>
          </a:xfrm>
          <a:prstGeom prst="rect">
            <a:avLst/>
          </a:prstGeom>
        </p:spPr>
        <p:txBody>
          <a:bodyPr anchor="t" rtlCol="false" tIns="0" lIns="0" bIns="0" rIns="0">
            <a:spAutoFit/>
          </a:bodyPr>
          <a:lstStyle/>
          <a:p>
            <a:pPr algn="ctr">
              <a:lnSpc>
                <a:spcPts val="3639"/>
              </a:lnSpc>
              <a:spcBef>
                <a:spcPct val="0"/>
              </a:spcBef>
            </a:pPr>
            <a:r>
              <a:rPr lang="en-US" b="true" sz="2799">
                <a:solidFill>
                  <a:srgbClr val="000000"/>
                </a:solidFill>
                <a:latin typeface="TT Lakes Neue Bold"/>
                <a:ea typeface="TT Lakes Neue Bold"/>
                <a:cs typeface="TT Lakes Neue Bold"/>
                <a:sym typeface="TT Lakes Neue Bold"/>
              </a:rPr>
              <a:t>RT-IOT2022 Dataset</a:t>
            </a:r>
          </a:p>
        </p:txBody>
      </p:sp>
      <p:sp>
        <p:nvSpPr>
          <p:cNvPr name="TextBox 10" id="10"/>
          <p:cNvSpPr txBox="true"/>
          <p:nvPr/>
        </p:nvSpPr>
        <p:spPr>
          <a:xfrm rot="0">
            <a:off x="6921639" y="8060207"/>
            <a:ext cx="4482822" cy="511810"/>
          </a:xfrm>
          <a:prstGeom prst="rect">
            <a:avLst/>
          </a:prstGeom>
        </p:spPr>
        <p:txBody>
          <a:bodyPr anchor="t" rtlCol="false" tIns="0" lIns="0" bIns="0" rIns="0">
            <a:spAutoFit/>
          </a:bodyPr>
          <a:lstStyle/>
          <a:p>
            <a:pPr algn="ctr">
              <a:lnSpc>
                <a:spcPts val="4160"/>
              </a:lnSpc>
              <a:spcBef>
                <a:spcPct val="0"/>
              </a:spcBef>
            </a:pPr>
            <a:r>
              <a:rPr lang="en-US" b="true" sz="3200">
                <a:solidFill>
                  <a:srgbClr val="000000"/>
                </a:solidFill>
                <a:latin typeface="TT Lakes Neue Bold"/>
                <a:ea typeface="TT Lakes Neue Bold"/>
                <a:cs typeface="TT Lakes Neue Bold"/>
                <a:sym typeface="TT Lakes Neue Bold"/>
              </a:rPr>
              <a:t>UNSW-NB15 Dataset</a:t>
            </a:r>
          </a:p>
        </p:txBody>
      </p:sp>
      <p:grpSp>
        <p:nvGrpSpPr>
          <p:cNvPr name="Group 11" id="11"/>
          <p:cNvGrpSpPr/>
          <p:nvPr/>
        </p:nvGrpSpPr>
        <p:grpSpPr>
          <a:xfrm rot="0">
            <a:off x="5029200" y="4566452"/>
            <a:ext cx="8229600" cy="2422397"/>
            <a:chOff x="0" y="0"/>
            <a:chExt cx="10972800" cy="3229862"/>
          </a:xfrm>
        </p:grpSpPr>
        <p:sp>
          <p:nvSpPr>
            <p:cNvPr name="Freeform 12" id="12"/>
            <p:cNvSpPr/>
            <p:nvPr/>
          </p:nvSpPr>
          <p:spPr>
            <a:xfrm flipH="false" flipV="false" rot="0">
              <a:off x="1158746" y="24609"/>
              <a:ext cx="3168908" cy="3168908"/>
            </a:xfrm>
            <a:custGeom>
              <a:avLst/>
              <a:gdLst/>
              <a:ahLst/>
              <a:cxnLst/>
              <a:rect r="r" b="b" t="t" l="l"/>
              <a:pathLst>
                <a:path h="3168908" w="3168908">
                  <a:moveTo>
                    <a:pt x="0" y="0"/>
                  </a:moveTo>
                  <a:lnTo>
                    <a:pt x="3168908" y="0"/>
                  </a:lnTo>
                  <a:lnTo>
                    <a:pt x="3168908" y="3168908"/>
                  </a:lnTo>
                  <a:lnTo>
                    <a:pt x="0" y="3168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3897878" y="0"/>
              <a:ext cx="3177044" cy="3177044"/>
            </a:xfrm>
            <a:custGeom>
              <a:avLst/>
              <a:gdLst/>
              <a:ahLst/>
              <a:cxnLst/>
              <a:rect r="r" b="b" t="t" l="l"/>
              <a:pathLst>
                <a:path h="3177044" w="3177044">
                  <a:moveTo>
                    <a:pt x="0" y="0"/>
                  </a:moveTo>
                  <a:lnTo>
                    <a:pt x="3177044" y="0"/>
                  </a:lnTo>
                  <a:lnTo>
                    <a:pt x="3177044" y="3177044"/>
                  </a:lnTo>
                  <a:lnTo>
                    <a:pt x="0" y="31770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626974" y="24609"/>
              <a:ext cx="3205253" cy="3205253"/>
            </a:xfrm>
            <a:custGeom>
              <a:avLst/>
              <a:gdLst/>
              <a:ahLst/>
              <a:cxnLst/>
              <a:rect r="r" b="b" t="t" l="l"/>
              <a:pathLst>
                <a:path h="3205253" w="3205253">
                  <a:moveTo>
                    <a:pt x="0" y="0"/>
                  </a:moveTo>
                  <a:lnTo>
                    <a:pt x="3205252" y="0"/>
                  </a:lnTo>
                  <a:lnTo>
                    <a:pt x="3205252" y="3205253"/>
                  </a:lnTo>
                  <a:lnTo>
                    <a:pt x="0" y="3205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0" y="724297"/>
              <a:ext cx="5486400" cy="1693333"/>
            </a:xfrm>
            <a:prstGeom prst="rect">
              <a:avLst/>
            </a:prstGeom>
          </p:spPr>
          <p:txBody>
            <a:bodyPr anchor="t" rtlCol="false" tIns="0" lIns="0" bIns="0" rIns="0">
              <a:spAutoFit/>
            </a:bodyPr>
            <a:lstStyle/>
            <a:p>
              <a:pPr algn="ctr">
                <a:lnSpc>
                  <a:spcPts val="10400"/>
                </a:lnSpc>
                <a:spcBef>
                  <a:spcPct val="0"/>
                </a:spcBef>
              </a:pPr>
              <a:r>
                <a:rPr lang="en-US" sz="8000">
                  <a:solidFill>
                    <a:srgbClr val="FFFFFF"/>
                  </a:solidFill>
                  <a:latin typeface="Open Sans 1"/>
                  <a:ea typeface="Open Sans 1"/>
                  <a:cs typeface="Open Sans 1"/>
                  <a:sym typeface="Open Sans 1"/>
                </a:rPr>
                <a:t>1</a:t>
              </a:r>
            </a:p>
          </p:txBody>
        </p:sp>
        <p:sp>
          <p:nvSpPr>
            <p:cNvPr name="TextBox 16" id="16"/>
            <p:cNvSpPr txBox="true"/>
            <p:nvPr/>
          </p:nvSpPr>
          <p:spPr>
            <a:xfrm rot="0">
              <a:off x="2743200" y="724297"/>
              <a:ext cx="5486400" cy="1693333"/>
            </a:xfrm>
            <a:prstGeom prst="rect">
              <a:avLst/>
            </a:prstGeom>
          </p:spPr>
          <p:txBody>
            <a:bodyPr anchor="t" rtlCol="false" tIns="0" lIns="0" bIns="0" rIns="0">
              <a:spAutoFit/>
            </a:bodyPr>
            <a:lstStyle/>
            <a:p>
              <a:pPr algn="ctr">
                <a:lnSpc>
                  <a:spcPts val="10400"/>
                </a:lnSpc>
                <a:spcBef>
                  <a:spcPct val="0"/>
                </a:spcBef>
              </a:pPr>
              <a:r>
                <a:rPr lang="en-US" sz="8000">
                  <a:solidFill>
                    <a:srgbClr val="FFFFFF"/>
                  </a:solidFill>
                  <a:latin typeface="Open Sans 1"/>
                  <a:ea typeface="Open Sans 1"/>
                  <a:cs typeface="Open Sans 1"/>
                  <a:sym typeface="Open Sans 1"/>
                </a:rPr>
                <a:t>2</a:t>
              </a:r>
            </a:p>
          </p:txBody>
        </p:sp>
        <p:sp>
          <p:nvSpPr>
            <p:cNvPr name="TextBox 17" id="17"/>
            <p:cNvSpPr txBox="true"/>
            <p:nvPr/>
          </p:nvSpPr>
          <p:spPr>
            <a:xfrm rot="0">
              <a:off x="5486400" y="703756"/>
              <a:ext cx="5486400" cy="1693333"/>
            </a:xfrm>
            <a:prstGeom prst="rect">
              <a:avLst/>
            </a:prstGeom>
          </p:spPr>
          <p:txBody>
            <a:bodyPr anchor="t" rtlCol="false" tIns="0" lIns="0" bIns="0" rIns="0">
              <a:spAutoFit/>
            </a:bodyPr>
            <a:lstStyle/>
            <a:p>
              <a:pPr algn="ctr">
                <a:lnSpc>
                  <a:spcPts val="10400"/>
                </a:lnSpc>
                <a:spcBef>
                  <a:spcPct val="0"/>
                </a:spcBef>
              </a:pPr>
              <a:r>
                <a:rPr lang="en-US" sz="8000">
                  <a:solidFill>
                    <a:srgbClr val="FFFFFF"/>
                  </a:solidFill>
                  <a:latin typeface="Open Sans 1"/>
                  <a:ea typeface="Open Sans 1"/>
                  <a:cs typeface="Open Sans 1"/>
                  <a:sym typeface="Open Sans 1"/>
                </a:rPr>
                <a:t>3</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2217344" y="1872538"/>
          <a:ext cx="17207861" cy="7711628"/>
        </p:xfrm>
        <a:graphic>
          <a:graphicData uri="http://schemas.openxmlformats.org/presentationml/2006/ole">
            <p:oleObj imgW="20650200" imgH="111506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6373416" y="258763"/>
            <a:ext cx="5541169" cy="1377949"/>
          </a:xfrm>
          <a:prstGeom prst="rect">
            <a:avLst/>
          </a:prstGeom>
        </p:spPr>
        <p:txBody>
          <a:bodyPr anchor="t" rtlCol="false" tIns="0" lIns="0" bIns="0" rIns="0">
            <a:spAutoFit/>
          </a:bodyPr>
          <a:lstStyle/>
          <a:p>
            <a:pPr algn="ctr">
              <a:lnSpc>
                <a:spcPts val="11200"/>
              </a:lnSpc>
            </a:pPr>
            <a:r>
              <a:rPr lang="en-US" b="true" sz="8000" i="true">
                <a:gradFill>
                  <a:gsLst>
                    <a:gs pos="0">
                      <a:srgbClr val="004AAD">
                        <a:alpha val="100000"/>
                      </a:srgbClr>
                    </a:gs>
                    <a:gs pos="100000">
                      <a:srgbClr val="CB6CE6">
                        <a:alpha val="100000"/>
                      </a:srgbClr>
                    </a:gs>
                  </a:gsLst>
                  <a:lin ang="0"/>
                </a:gradFill>
                <a:latin typeface="TT Lakes Neue Bold Italics"/>
                <a:ea typeface="TT Lakes Neue Bold Italics"/>
                <a:cs typeface="TT Lakes Neue Bold Italics"/>
                <a:sym typeface="TT Lakes Neue Bold Italics"/>
              </a:rPr>
              <a:t>DATASETS</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482598"/>
            <a:ext cx="9657993" cy="1052190"/>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Malicious URLs dataset</a:t>
            </a:r>
          </a:p>
        </p:txBody>
      </p:sp>
      <p:sp>
        <p:nvSpPr>
          <p:cNvPr name="AutoShape 3" id="3"/>
          <p:cNvSpPr/>
          <p:nvPr/>
        </p:nvSpPr>
        <p:spPr>
          <a:xfrm flipH="true">
            <a:off x="1028700" y="2534789"/>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TextBox 4" id="4"/>
          <p:cNvSpPr txBox="true"/>
          <p:nvPr/>
        </p:nvSpPr>
        <p:spPr>
          <a:xfrm rot="0">
            <a:off x="1028700" y="3459480"/>
            <a:ext cx="15614874" cy="3329940"/>
          </a:xfrm>
          <a:prstGeom prst="rect">
            <a:avLst/>
          </a:prstGeom>
        </p:spPr>
        <p:txBody>
          <a:bodyPr anchor="t" rtlCol="false" tIns="0" lIns="0" bIns="0" rIns="0">
            <a:spAutoFit/>
          </a:bodyPr>
          <a:lstStyle/>
          <a:p>
            <a:pPr algn="l">
              <a:lnSpc>
                <a:spcPts val="3359"/>
              </a:lnSpc>
            </a:pPr>
            <a:r>
              <a:rPr lang="en-US" sz="2400">
                <a:solidFill>
                  <a:srgbClr val="000000"/>
                </a:solidFill>
                <a:latin typeface="Canva Sans"/>
                <a:ea typeface="Canva Sans"/>
                <a:cs typeface="Canva Sans"/>
                <a:sym typeface="Canva Sans"/>
              </a:rPr>
              <a:t>      These datasets contain lists of URLs, often accompanied by features extracted from the URL string itself (e.g., length, number of special characters, presence of IP addresses, domain age, lexical features).</a:t>
            </a:r>
          </a:p>
          <a:p>
            <a:pPr algn="l">
              <a:lnSpc>
                <a:spcPts val="3359"/>
              </a:lnSpc>
            </a:pPr>
          </a:p>
          <a:p>
            <a:pPr algn="l">
              <a:lnSpc>
                <a:spcPts val="3359"/>
              </a:lnSpc>
            </a:pPr>
          </a:p>
          <a:p>
            <a:pPr algn="l">
              <a:lnSpc>
                <a:spcPts val="3359"/>
              </a:lnSpc>
              <a:spcBef>
                <a:spcPct val="0"/>
              </a:spcBef>
            </a:pPr>
            <a:r>
              <a:rPr lang="en-US" b="true" sz="2400">
                <a:solidFill>
                  <a:srgbClr val="000000"/>
                </a:solidFill>
                <a:latin typeface="Canva Sans Bold"/>
                <a:ea typeface="Canva Sans Bold"/>
                <a:cs typeface="Canva Sans Bold"/>
                <a:sym typeface="Canva Sans Bold"/>
              </a:rPr>
              <a:t>Role in 7arth: </a:t>
            </a:r>
            <a:r>
              <a:rPr lang="en-US" sz="2400">
                <a:solidFill>
                  <a:srgbClr val="000000"/>
                </a:solidFill>
                <a:latin typeface="Canva Sans"/>
                <a:ea typeface="Canva Sans"/>
                <a:cs typeface="Canva Sans"/>
                <a:sym typeface="Canva Sans"/>
              </a:rPr>
              <a:t>While the primary focus is on network traffic, the integration of URL phishing detection allows 7arth to identify malicious links that might be embedded in network communications (e.g., HTTP requests). This provides an additional layer of defense, particularly against social engineering attacks delivered via web links.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711574"/>
            <a:ext cx="9657993" cy="1052190"/>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Malicious URLs dataset</a:t>
            </a:r>
          </a:p>
        </p:txBody>
      </p:sp>
      <p:sp>
        <p:nvSpPr>
          <p:cNvPr name="AutoShape 3" id="3"/>
          <p:cNvSpPr/>
          <p:nvPr/>
        </p:nvSpPr>
        <p:spPr>
          <a:xfrm flipH="true">
            <a:off x="1028700" y="1763764"/>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1028700" y="5084029"/>
            <a:ext cx="7989092" cy="2959015"/>
          </a:xfrm>
          <a:custGeom>
            <a:avLst/>
            <a:gdLst/>
            <a:ahLst/>
            <a:cxnLst/>
            <a:rect r="r" b="b" t="t" l="l"/>
            <a:pathLst>
              <a:path h="2959015" w="7989092">
                <a:moveTo>
                  <a:pt x="0" y="0"/>
                </a:moveTo>
                <a:lnTo>
                  <a:pt x="7989092" y="0"/>
                </a:lnTo>
                <a:lnTo>
                  <a:pt x="7989092" y="2959015"/>
                </a:lnTo>
                <a:lnTo>
                  <a:pt x="0" y="2959015"/>
                </a:lnTo>
                <a:lnTo>
                  <a:pt x="0" y="0"/>
                </a:lnTo>
                <a:close/>
              </a:path>
            </a:pathLst>
          </a:custGeom>
          <a:blipFill>
            <a:blip r:embed="rId2"/>
            <a:stretch>
              <a:fillRect l="0" t="0" r="-44805" b="-27186"/>
            </a:stretch>
          </a:blipFill>
        </p:spPr>
      </p:sp>
      <p:sp>
        <p:nvSpPr>
          <p:cNvPr name="Freeform 5" id="5"/>
          <p:cNvSpPr/>
          <p:nvPr/>
        </p:nvSpPr>
        <p:spPr>
          <a:xfrm flipH="false" flipV="false" rot="0">
            <a:off x="10515759" y="3868773"/>
            <a:ext cx="6471038" cy="5389527"/>
          </a:xfrm>
          <a:custGeom>
            <a:avLst/>
            <a:gdLst/>
            <a:ahLst/>
            <a:cxnLst/>
            <a:rect r="r" b="b" t="t" l="l"/>
            <a:pathLst>
              <a:path h="5389527" w="6471038">
                <a:moveTo>
                  <a:pt x="0" y="0"/>
                </a:moveTo>
                <a:lnTo>
                  <a:pt x="6471038" y="0"/>
                </a:lnTo>
                <a:lnTo>
                  <a:pt x="6471038" y="5389527"/>
                </a:lnTo>
                <a:lnTo>
                  <a:pt x="0" y="5389527"/>
                </a:lnTo>
                <a:lnTo>
                  <a:pt x="0" y="0"/>
                </a:lnTo>
                <a:close/>
              </a:path>
            </a:pathLst>
          </a:custGeom>
          <a:blipFill>
            <a:blip r:embed="rId3"/>
            <a:stretch>
              <a:fillRect l="0" t="0" r="0" b="0"/>
            </a:stretch>
          </a:blipFill>
        </p:spPr>
      </p:sp>
      <p:sp>
        <p:nvSpPr>
          <p:cNvPr name="TextBox 6" id="6"/>
          <p:cNvSpPr txBox="true"/>
          <p:nvPr/>
        </p:nvSpPr>
        <p:spPr>
          <a:xfrm rot="0">
            <a:off x="1028700" y="2375540"/>
            <a:ext cx="16230600" cy="1819910"/>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Canva Sans"/>
                <a:ea typeface="Canva Sans"/>
                <a:cs typeface="Canva Sans"/>
                <a:sym typeface="Canva Sans"/>
              </a:rPr>
              <a:t>      </a:t>
            </a:r>
            <a:r>
              <a:rPr lang="en-US" sz="2600">
                <a:solidFill>
                  <a:srgbClr val="000000"/>
                </a:solidFill>
                <a:latin typeface="Canva Sans"/>
                <a:ea typeface="Canva Sans"/>
                <a:cs typeface="Canva Sans"/>
                <a:sym typeface="Canva Sans"/>
              </a:rPr>
              <a:t>After we found dataset in kaggle that provide </a:t>
            </a:r>
            <a:r>
              <a:rPr lang="en-US" b="true" sz="2600">
                <a:solidFill>
                  <a:srgbClr val="000000"/>
                </a:solidFill>
                <a:latin typeface="Canva Sans Bold"/>
                <a:ea typeface="Canva Sans Bold"/>
                <a:cs typeface="Canva Sans Bold"/>
                <a:sym typeface="Canva Sans Bold"/>
              </a:rPr>
              <a:t>651191 rows × 2 columns</a:t>
            </a:r>
            <a:r>
              <a:rPr lang="en-US" sz="2600">
                <a:solidFill>
                  <a:srgbClr val="000000"/>
                </a:solidFill>
                <a:latin typeface="Canva Sans"/>
                <a:ea typeface="Canva Sans"/>
                <a:cs typeface="Canva Sans"/>
                <a:sym typeface="Canva Sans"/>
              </a:rPr>
              <a:t> we start to get this data in google collab and we worked with XGBoost and Random Forest Models and those pictures provide sample of data , parameters and accuracy.</a:t>
            </a:r>
          </a:p>
          <a:p>
            <a:pPr algn="l">
              <a:lnSpc>
                <a:spcPts val="3640"/>
              </a:lnSpc>
              <a:spcBef>
                <a:spcPct val="0"/>
              </a:spcBef>
            </a:pPr>
            <a:r>
              <a:rPr lang="en-US" b="true" sz="2600">
                <a:solidFill>
                  <a:srgbClr val="000000"/>
                </a:solidFill>
                <a:latin typeface="Canva Sans Bold"/>
                <a:ea typeface="Canva Sans Bold"/>
                <a:cs typeface="Canva Sans Bold"/>
                <a:sym typeface="Canva Sans Bold"/>
              </a:rPr>
              <a:t>Random Forest</a:t>
            </a:r>
            <a:r>
              <a:rPr lang="en-US" sz="2600">
                <a:solidFill>
                  <a:srgbClr val="000000"/>
                </a:solidFill>
                <a:latin typeface="Canva Sans"/>
                <a:ea typeface="Canva Sans"/>
                <a:cs typeface="Canva Sans"/>
                <a:sym typeface="Canva Sans"/>
              </a:rPr>
              <a:t> model have got </a:t>
            </a:r>
            <a:r>
              <a:rPr lang="en-US" b="true" sz="2600">
                <a:solidFill>
                  <a:srgbClr val="000000"/>
                </a:solidFill>
                <a:latin typeface="Canva Sans Bold"/>
                <a:ea typeface="Canva Sans Bold"/>
                <a:cs typeface="Canva Sans Bold"/>
                <a:sym typeface="Canva Sans Bold"/>
              </a:rPr>
              <a:t>96.7%</a:t>
            </a:r>
            <a:r>
              <a:rPr lang="en-US" sz="2600">
                <a:solidFill>
                  <a:srgbClr val="000000"/>
                </a:solidFill>
                <a:latin typeface="Canva Sans"/>
                <a:ea typeface="Canva Sans"/>
                <a:cs typeface="Canva Sans"/>
                <a:sym typeface="Canva Sans"/>
              </a:rPr>
              <a:t> accuracy.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360783"/>
            <a:ext cx="8783241" cy="1052195"/>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RT-IOT2022 Dataset</a:t>
            </a:r>
          </a:p>
        </p:txBody>
      </p:sp>
      <p:sp>
        <p:nvSpPr>
          <p:cNvPr name="AutoShape 3" id="3"/>
          <p:cNvSpPr/>
          <p:nvPr/>
        </p:nvSpPr>
        <p:spPr>
          <a:xfrm flipH="true">
            <a:off x="1028700" y="2403453"/>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TextBox 4" id="4"/>
          <p:cNvSpPr txBox="true"/>
          <p:nvPr/>
        </p:nvSpPr>
        <p:spPr>
          <a:xfrm rot="0">
            <a:off x="1028700" y="2961101"/>
            <a:ext cx="16230600" cy="291084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000000"/>
                </a:solidFill>
                <a:latin typeface="Canva Sans"/>
                <a:ea typeface="Canva Sans"/>
                <a:cs typeface="Canva Sans"/>
                <a:sym typeface="Canva Sans"/>
              </a:rPr>
              <a:t>       </a:t>
            </a:r>
            <a:r>
              <a:rPr lang="en-US" sz="2400" strike="noStrike" u="none">
                <a:solidFill>
                  <a:srgbClr val="000000"/>
                </a:solidFill>
                <a:latin typeface="Canva Sans"/>
                <a:ea typeface="Canva Sans"/>
                <a:cs typeface="Canva Sans"/>
                <a:sym typeface="Canva Sans"/>
              </a:rPr>
              <a:t>This dataset captures traffic from diverse IoT devices (e.g., smart home devices, sensors) under normal operating conditions , it contains features relevant to IoT protocols (e.g., MQTT, CoAP) and device-specific behaviors.</a:t>
            </a:r>
          </a:p>
          <a:p>
            <a:pPr algn="l" marL="0" indent="0" lvl="0">
              <a:lnSpc>
                <a:spcPts val="3359"/>
              </a:lnSpc>
              <a:spcBef>
                <a:spcPct val="0"/>
              </a:spcBef>
            </a:pPr>
          </a:p>
          <a:p>
            <a:pPr algn="l" marL="0" indent="0" lvl="0">
              <a:lnSpc>
                <a:spcPts val="3359"/>
              </a:lnSpc>
              <a:spcBef>
                <a:spcPct val="0"/>
              </a:spcBef>
            </a:pPr>
            <a:r>
              <a:rPr lang="en-US" b="true" sz="2400" strike="noStrike" u="none">
                <a:solidFill>
                  <a:srgbClr val="000000"/>
                </a:solidFill>
                <a:latin typeface="Canva Sans Bold"/>
                <a:ea typeface="Canva Sans Bold"/>
                <a:cs typeface="Canva Sans Bold"/>
                <a:sym typeface="Canva Sans Bold"/>
              </a:rPr>
              <a:t> Role in 7arth: </a:t>
            </a:r>
            <a:r>
              <a:rPr lang="en-US" sz="2400" strike="noStrike" u="none">
                <a:solidFill>
                  <a:srgbClr val="000000"/>
                </a:solidFill>
                <a:latin typeface="Canva Sans"/>
                <a:ea typeface="Canva Sans"/>
                <a:cs typeface="Canva Sans"/>
                <a:sym typeface="Canva Sans"/>
              </a:rPr>
              <a:t>By incorporating RT-IOT2022, 7arth significantly enhances its ability to detect intrusions in rapidly expanding IoT networks. This dataset ensures that our models are trained on contemporary and relevant IoT attack patterns, making 7arth a more comprehensive solution for securing smart environments.</a:t>
            </a:r>
          </a:p>
        </p:txBody>
      </p:sp>
      <p:sp>
        <p:nvSpPr>
          <p:cNvPr name="Freeform 5" id="5"/>
          <p:cNvSpPr/>
          <p:nvPr/>
        </p:nvSpPr>
        <p:spPr>
          <a:xfrm flipH="false" flipV="false" rot="0">
            <a:off x="5158798" y="6317498"/>
            <a:ext cx="7970405" cy="3196508"/>
          </a:xfrm>
          <a:custGeom>
            <a:avLst/>
            <a:gdLst/>
            <a:ahLst/>
            <a:cxnLst/>
            <a:rect r="r" b="b" t="t" l="l"/>
            <a:pathLst>
              <a:path h="3196508" w="7970405">
                <a:moveTo>
                  <a:pt x="0" y="0"/>
                </a:moveTo>
                <a:lnTo>
                  <a:pt x="7970404" y="0"/>
                </a:lnTo>
                <a:lnTo>
                  <a:pt x="7970404" y="3196508"/>
                </a:lnTo>
                <a:lnTo>
                  <a:pt x="0" y="3196508"/>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14400"/>
            <a:ext cx="8783241" cy="1052195"/>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RT-IOT2022 Dataset</a:t>
            </a:r>
          </a:p>
        </p:txBody>
      </p:sp>
      <p:sp>
        <p:nvSpPr>
          <p:cNvPr name="AutoShape 3" id="3"/>
          <p:cNvSpPr/>
          <p:nvPr/>
        </p:nvSpPr>
        <p:spPr>
          <a:xfrm flipH="true">
            <a:off x="1028700" y="1957070"/>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10199481" y="5143500"/>
            <a:ext cx="7390636" cy="3859013"/>
          </a:xfrm>
          <a:custGeom>
            <a:avLst/>
            <a:gdLst/>
            <a:ahLst/>
            <a:cxnLst/>
            <a:rect r="r" b="b" t="t" l="l"/>
            <a:pathLst>
              <a:path h="3859013" w="7390636">
                <a:moveTo>
                  <a:pt x="0" y="0"/>
                </a:moveTo>
                <a:lnTo>
                  <a:pt x="7390637" y="0"/>
                </a:lnTo>
                <a:lnTo>
                  <a:pt x="7390637" y="3859013"/>
                </a:lnTo>
                <a:lnTo>
                  <a:pt x="0" y="3859013"/>
                </a:lnTo>
                <a:lnTo>
                  <a:pt x="0" y="0"/>
                </a:lnTo>
                <a:close/>
              </a:path>
            </a:pathLst>
          </a:custGeom>
          <a:blipFill>
            <a:blip r:embed="rId2"/>
            <a:stretch>
              <a:fillRect l="0" t="-7296" r="0" b="-20605"/>
            </a:stretch>
          </a:blipFill>
        </p:spPr>
      </p:sp>
      <p:graphicFrame>
        <p:nvGraphicFramePr>
          <p:cNvPr name="Object 5" id="5"/>
          <p:cNvGraphicFramePr/>
          <p:nvPr/>
        </p:nvGraphicFramePr>
        <p:xfrm>
          <a:off x="787556" y="5511508"/>
          <a:ext cx="7586157" cy="4274588"/>
        </p:xfrm>
        <a:graphic>
          <a:graphicData uri="http://schemas.openxmlformats.org/presentationml/2006/ole">
            <p:oleObj imgW="9105900" imgH="579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6" id="6"/>
          <p:cNvSpPr txBox="true"/>
          <p:nvPr/>
        </p:nvSpPr>
        <p:spPr>
          <a:xfrm rot="0">
            <a:off x="1028700" y="2527957"/>
            <a:ext cx="16230600" cy="2277110"/>
          </a:xfrm>
          <a:prstGeom prst="rect">
            <a:avLst/>
          </a:prstGeom>
        </p:spPr>
        <p:txBody>
          <a:bodyPr anchor="t" rtlCol="false" tIns="0" lIns="0" bIns="0" rIns="0">
            <a:spAutoFit/>
          </a:bodyPr>
          <a:lstStyle/>
          <a:p>
            <a:pPr algn="l" marL="0" indent="0" lvl="0">
              <a:lnSpc>
                <a:spcPts val="3640"/>
              </a:lnSpc>
              <a:spcBef>
                <a:spcPct val="0"/>
              </a:spcBef>
            </a:pPr>
            <a:r>
              <a:rPr lang="en-US" sz="2600">
                <a:solidFill>
                  <a:srgbClr val="000000"/>
                </a:solidFill>
                <a:latin typeface="Canva Sans"/>
                <a:ea typeface="Canva Sans"/>
                <a:cs typeface="Canva Sans"/>
                <a:sym typeface="Canva Sans"/>
              </a:rPr>
              <a:t>        </a:t>
            </a:r>
            <a:r>
              <a:rPr lang="en-US" sz="2600" strike="noStrike" u="none">
                <a:solidFill>
                  <a:srgbClr val="000000"/>
                </a:solidFill>
                <a:latin typeface="Canva Sans"/>
                <a:ea typeface="Canva Sans"/>
                <a:cs typeface="Canva Sans"/>
                <a:sym typeface="Canva Sans"/>
              </a:rPr>
              <a:t>After we found dataset in kaggle that provide </a:t>
            </a:r>
            <a:r>
              <a:rPr lang="en-US" b="true" sz="2600" strike="noStrike" u="none">
                <a:solidFill>
                  <a:srgbClr val="000000"/>
                </a:solidFill>
                <a:latin typeface="Canva Sans Bold"/>
                <a:ea typeface="Canva Sans Bold"/>
                <a:cs typeface="Canva Sans Bold"/>
                <a:sym typeface="Canva Sans Bold"/>
              </a:rPr>
              <a:t>123117 rows × 85 columns</a:t>
            </a:r>
            <a:r>
              <a:rPr lang="en-US" sz="2600" strike="noStrike" u="none">
                <a:solidFill>
                  <a:srgbClr val="000000"/>
                </a:solidFill>
                <a:latin typeface="Canva Sans"/>
                <a:ea typeface="Canva Sans"/>
                <a:cs typeface="Canva Sans"/>
                <a:sym typeface="Canva Sans"/>
              </a:rPr>
              <a:t> we start to get this data in google collab and we worked with Fandom Forest and those pictures provide sample of data , parameters and accuracy.</a:t>
            </a:r>
          </a:p>
          <a:p>
            <a:pPr algn="l" marL="0" indent="0" lvl="0">
              <a:lnSpc>
                <a:spcPts val="3640"/>
              </a:lnSpc>
              <a:spcBef>
                <a:spcPct val="0"/>
              </a:spcBef>
            </a:pPr>
            <a:r>
              <a:rPr lang="en-US" sz="2600" strike="noStrike" u="none">
                <a:solidFill>
                  <a:srgbClr val="000000"/>
                </a:solidFill>
                <a:latin typeface="Canva Sans"/>
                <a:ea typeface="Canva Sans"/>
                <a:cs typeface="Canva Sans"/>
                <a:sym typeface="Canva Sans"/>
              </a:rPr>
              <a:t>There are two features have been dropped like unbalanced_feat and unclear_feat, we have got </a:t>
            </a:r>
            <a:r>
              <a:rPr lang="en-US" b="true" sz="2600" strike="noStrike" u="none">
                <a:solidFill>
                  <a:srgbClr val="000000"/>
                </a:solidFill>
                <a:latin typeface="Canva Sans Bold"/>
                <a:ea typeface="Canva Sans Bold"/>
                <a:cs typeface="Canva Sans Bold"/>
                <a:sym typeface="Canva Sans Bold"/>
              </a:rPr>
              <a:t>99%</a:t>
            </a:r>
            <a:r>
              <a:rPr lang="en-US" sz="2600" strike="noStrike" u="none">
                <a:solidFill>
                  <a:srgbClr val="000000"/>
                </a:solidFill>
                <a:latin typeface="Canva Sans"/>
                <a:ea typeface="Canva Sans"/>
                <a:cs typeface="Canva Sans"/>
                <a:sym typeface="Canva Sans"/>
              </a:rPr>
              <a:t> for </a:t>
            </a:r>
            <a:r>
              <a:rPr lang="en-US" b="true" sz="2600" strike="noStrike" u="none">
                <a:solidFill>
                  <a:srgbClr val="000000"/>
                </a:solidFill>
                <a:latin typeface="Canva Sans Bold"/>
                <a:ea typeface="Canva Sans Bold"/>
                <a:cs typeface="Canva Sans Bold"/>
                <a:sym typeface="Canva Sans Bold"/>
              </a:rPr>
              <a:t>random forest</a:t>
            </a:r>
            <a:r>
              <a:rPr lang="en-US" sz="2600" strike="noStrike" u="none">
                <a:solidFill>
                  <a:srgbClr val="000000"/>
                </a:solidFill>
                <a:latin typeface="Canva Sans"/>
                <a:ea typeface="Canva Sans"/>
                <a:cs typeface="Canva Sans"/>
                <a:sym typeface="Canva Sans"/>
              </a:rPr>
              <a:t> model.</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14400"/>
            <a:ext cx="8685609" cy="1052195"/>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UNSW-NB15 Dataset</a:t>
            </a:r>
          </a:p>
        </p:txBody>
      </p:sp>
      <p:sp>
        <p:nvSpPr>
          <p:cNvPr name="AutoShape 3" id="3"/>
          <p:cNvSpPr/>
          <p:nvPr/>
        </p:nvSpPr>
        <p:spPr>
          <a:xfrm flipH="true">
            <a:off x="1028700" y="1966595"/>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TextBox 4" id="4"/>
          <p:cNvSpPr txBox="true"/>
          <p:nvPr/>
        </p:nvSpPr>
        <p:spPr>
          <a:xfrm rot="0">
            <a:off x="1028700" y="2232351"/>
            <a:ext cx="16230600" cy="2910840"/>
          </a:xfrm>
          <a:prstGeom prst="rect">
            <a:avLst/>
          </a:prstGeom>
        </p:spPr>
        <p:txBody>
          <a:bodyPr anchor="t" rtlCol="false" tIns="0" lIns="0" bIns="0" rIns="0">
            <a:spAutoFit/>
          </a:bodyPr>
          <a:lstStyle/>
          <a:p>
            <a:pPr algn="just" marL="0" indent="0" lvl="0">
              <a:lnSpc>
                <a:spcPts val="3359"/>
              </a:lnSpc>
              <a:spcBef>
                <a:spcPct val="0"/>
              </a:spcBef>
            </a:pPr>
            <a:r>
              <a:rPr lang="en-US" sz="2400">
                <a:solidFill>
                  <a:srgbClr val="000000"/>
                </a:solidFill>
                <a:latin typeface="Canva Sans"/>
                <a:ea typeface="Canva Sans"/>
                <a:cs typeface="Canva Sans"/>
                <a:sym typeface="Canva Sans"/>
              </a:rPr>
              <a:t>        </a:t>
            </a:r>
            <a:r>
              <a:rPr lang="en-US" sz="2400" strike="noStrike" u="none">
                <a:solidFill>
                  <a:srgbClr val="000000"/>
                </a:solidFill>
                <a:latin typeface="Canva Sans"/>
                <a:ea typeface="Canva Sans"/>
                <a:cs typeface="Canva Sans"/>
                <a:sym typeface="Canva Sans"/>
              </a:rPr>
              <a:t>The UNSW-NB15 dataset, created by the IXIA Perfect Storm tool in the Cyber Security Lab of UNSW Canberra, is one of the most widely recognized and challenging datasets for evaluating NIDS.</a:t>
            </a:r>
            <a:r>
              <a:rPr lang="en-US" sz="2400" strike="noStrike" u="none">
                <a:solidFill>
                  <a:srgbClr val="000000"/>
                </a:solidFill>
                <a:latin typeface="Canva Sans"/>
                <a:ea typeface="Canva Sans"/>
                <a:cs typeface="Canva Sans"/>
                <a:sym typeface="Canva Sans"/>
              </a:rPr>
              <a:t> It was generated to address the limitations of older datasets (e.g., KDD99) by featuring contemporary real-world normal activities and synthetic attack scenarios.</a:t>
            </a:r>
          </a:p>
          <a:p>
            <a:pPr algn="just" marL="0" indent="0" lvl="0">
              <a:lnSpc>
                <a:spcPts val="3359"/>
              </a:lnSpc>
              <a:spcBef>
                <a:spcPct val="0"/>
              </a:spcBef>
            </a:pPr>
          </a:p>
          <a:p>
            <a:pPr algn="just" marL="0" indent="0" lvl="0">
              <a:lnSpc>
                <a:spcPts val="3359"/>
              </a:lnSpc>
              <a:spcBef>
                <a:spcPct val="0"/>
              </a:spcBef>
            </a:pPr>
            <a:r>
              <a:rPr lang="en-US" b="true" sz="2400" strike="noStrike" u="none">
                <a:solidFill>
                  <a:srgbClr val="000000"/>
                </a:solidFill>
                <a:latin typeface="Canva Sans Bold"/>
                <a:ea typeface="Canva Sans Bold"/>
                <a:cs typeface="Canva Sans Bold"/>
                <a:sym typeface="Canva Sans Bold"/>
              </a:rPr>
              <a:t>Role in 7arth:</a:t>
            </a:r>
            <a:r>
              <a:rPr lang="en-US" sz="2400" strike="noStrike" u="none">
                <a:solidFill>
                  <a:srgbClr val="000000"/>
                </a:solidFill>
                <a:latin typeface="Canva Sans"/>
                <a:ea typeface="Canva Sans"/>
                <a:cs typeface="Canva Sans"/>
                <a:sym typeface="Canva Sans"/>
              </a:rPr>
              <a:t> This dataset is primarily used for training and evaluating the core intrusion detection capabilities of both the Random Forest (binary classification) and Neural Network (multi-class classification) models</a:t>
            </a:r>
          </a:p>
        </p:txBody>
      </p:sp>
      <p:sp>
        <p:nvSpPr>
          <p:cNvPr name="Freeform 5" id="5"/>
          <p:cNvSpPr/>
          <p:nvPr/>
        </p:nvSpPr>
        <p:spPr>
          <a:xfrm flipH="false" flipV="false" rot="0">
            <a:off x="3609502" y="5646662"/>
            <a:ext cx="11068996" cy="4103939"/>
          </a:xfrm>
          <a:custGeom>
            <a:avLst/>
            <a:gdLst/>
            <a:ahLst/>
            <a:cxnLst/>
            <a:rect r="r" b="b" t="t" l="l"/>
            <a:pathLst>
              <a:path h="4103939" w="11068996">
                <a:moveTo>
                  <a:pt x="0" y="0"/>
                </a:moveTo>
                <a:lnTo>
                  <a:pt x="11068996" y="0"/>
                </a:lnTo>
                <a:lnTo>
                  <a:pt x="11068996" y="4103939"/>
                </a:lnTo>
                <a:lnTo>
                  <a:pt x="0" y="4103939"/>
                </a:lnTo>
                <a:lnTo>
                  <a:pt x="0" y="0"/>
                </a:lnTo>
                <a:close/>
              </a:path>
            </a:pathLst>
          </a:custGeom>
          <a:blipFill>
            <a:blip r:embed="rId2"/>
            <a:stretch>
              <a:fillRect l="-3709"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14400"/>
            <a:ext cx="8685609" cy="1052195"/>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UNSW-NB15 Dataset</a:t>
            </a:r>
          </a:p>
        </p:txBody>
      </p:sp>
      <p:sp>
        <p:nvSpPr>
          <p:cNvPr name="AutoShape 3" id="3"/>
          <p:cNvSpPr/>
          <p:nvPr/>
        </p:nvSpPr>
        <p:spPr>
          <a:xfrm flipH="true">
            <a:off x="1028700" y="1966595"/>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722451" y="4615292"/>
            <a:ext cx="7620489" cy="4643008"/>
          </a:xfrm>
          <a:custGeom>
            <a:avLst/>
            <a:gdLst/>
            <a:ahLst/>
            <a:cxnLst/>
            <a:rect r="r" b="b" t="t" l="l"/>
            <a:pathLst>
              <a:path h="4643008" w="7620489">
                <a:moveTo>
                  <a:pt x="0" y="0"/>
                </a:moveTo>
                <a:lnTo>
                  <a:pt x="7620489" y="0"/>
                </a:lnTo>
                <a:lnTo>
                  <a:pt x="7620489" y="4643008"/>
                </a:lnTo>
                <a:lnTo>
                  <a:pt x="0" y="4643008"/>
                </a:lnTo>
                <a:lnTo>
                  <a:pt x="0" y="0"/>
                </a:lnTo>
                <a:close/>
              </a:path>
            </a:pathLst>
          </a:custGeom>
          <a:blipFill>
            <a:blip r:embed="rId2"/>
            <a:stretch>
              <a:fillRect l="0" t="0" r="0" b="0"/>
            </a:stretch>
          </a:blipFill>
        </p:spPr>
      </p:sp>
      <p:sp>
        <p:nvSpPr>
          <p:cNvPr name="Freeform 5" id="5"/>
          <p:cNvSpPr/>
          <p:nvPr/>
        </p:nvSpPr>
        <p:spPr>
          <a:xfrm flipH="false" flipV="false" rot="0">
            <a:off x="8649189" y="4615292"/>
            <a:ext cx="8962030" cy="4643008"/>
          </a:xfrm>
          <a:custGeom>
            <a:avLst/>
            <a:gdLst/>
            <a:ahLst/>
            <a:cxnLst/>
            <a:rect r="r" b="b" t="t" l="l"/>
            <a:pathLst>
              <a:path h="4643008" w="8962030">
                <a:moveTo>
                  <a:pt x="0" y="0"/>
                </a:moveTo>
                <a:lnTo>
                  <a:pt x="8962029" y="0"/>
                </a:lnTo>
                <a:lnTo>
                  <a:pt x="8962029" y="4643008"/>
                </a:lnTo>
                <a:lnTo>
                  <a:pt x="0" y="4643008"/>
                </a:lnTo>
                <a:lnTo>
                  <a:pt x="0" y="0"/>
                </a:lnTo>
                <a:close/>
              </a:path>
            </a:pathLst>
          </a:custGeom>
          <a:blipFill>
            <a:blip r:embed="rId3"/>
            <a:stretch>
              <a:fillRect l="-1407" t="0" r="-6432" b="0"/>
            </a:stretch>
          </a:blipFill>
        </p:spPr>
      </p:sp>
      <p:sp>
        <p:nvSpPr>
          <p:cNvPr name="TextBox 6" id="6"/>
          <p:cNvSpPr txBox="true"/>
          <p:nvPr/>
        </p:nvSpPr>
        <p:spPr>
          <a:xfrm rot="0">
            <a:off x="1028700" y="2933468"/>
            <a:ext cx="16230600" cy="1362710"/>
          </a:xfrm>
          <a:prstGeom prst="rect">
            <a:avLst/>
          </a:prstGeom>
        </p:spPr>
        <p:txBody>
          <a:bodyPr anchor="t" rtlCol="false" tIns="0" lIns="0" bIns="0" rIns="0">
            <a:spAutoFit/>
          </a:bodyPr>
          <a:lstStyle/>
          <a:p>
            <a:pPr algn="l" marL="0" indent="0" lvl="0">
              <a:lnSpc>
                <a:spcPts val="3640"/>
              </a:lnSpc>
              <a:spcBef>
                <a:spcPct val="0"/>
              </a:spcBef>
            </a:pPr>
            <a:r>
              <a:rPr lang="en-US" sz="2600">
                <a:solidFill>
                  <a:srgbClr val="000000"/>
                </a:solidFill>
                <a:latin typeface="Canva Sans"/>
                <a:ea typeface="Canva Sans"/>
                <a:cs typeface="Canva Sans"/>
                <a:sym typeface="Canva Sans"/>
              </a:rPr>
              <a:t>        </a:t>
            </a:r>
            <a:r>
              <a:rPr lang="en-US" sz="2600" strike="noStrike" u="none">
                <a:solidFill>
                  <a:srgbClr val="000000"/>
                </a:solidFill>
                <a:latin typeface="Canva Sans"/>
                <a:ea typeface="Canva Sans"/>
                <a:cs typeface="Canva Sans"/>
                <a:sym typeface="Canva Sans"/>
              </a:rPr>
              <a:t>After we found dataset in kaggle that provide </a:t>
            </a:r>
            <a:r>
              <a:rPr lang="en-US" b="true" sz="2600" strike="noStrike" u="none">
                <a:solidFill>
                  <a:srgbClr val="000000"/>
                </a:solidFill>
                <a:latin typeface="Canva Sans Bold"/>
                <a:ea typeface="Canva Sans Bold"/>
                <a:cs typeface="Canva Sans Bold"/>
                <a:sym typeface="Canva Sans Bold"/>
              </a:rPr>
              <a:t>2540044 rows × 49 columns </a:t>
            </a:r>
            <a:r>
              <a:rPr lang="en-US" sz="2600" strike="noStrike" u="none">
                <a:solidFill>
                  <a:srgbClr val="000000"/>
                </a:solidFill>
                <a:latin typeface="Canva Sans"/>
                <a:ea typeface="Canva Sans"/>
                <a:cs typeface="Canva Sans"/>
                <a:sym typeface="Canva Sans"/>
              </a:rPr>
              <a:t>and we try several models to get the highest accuracy  and those pictures provide sample of data , parameters and accuracy.</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106157" y="914400"/>
            <a:ext cx="4075686" cy="1052195"/>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Data Split</a:t>
            </a:r>
          </a:p>
        </p:txBody>
      </p:sp>
      <p:pic>
        <p:nvPicPr>
          <p:cNvPr name="Picture 3" id="3"/>
          <p:cNvPicPr>
            <a:picLocks noChangeAspect="true"/>
          </p:cNvPicPr>
          <p:nvPr/>
        </p:nvPicPr>
        <p:blipFill>
          <a:blip r:embed="rId2"/>
          <a:stretch>
            <a:fillRect/>
          </a:stretch>
        </p:blipFill>
        <p:spPr>
          <a:xfrm rot="0">
            <a:off x="5377024" y="1750504"/>
            <a:ext cx="7533952" cy="8050050"/>
          </a:xfrm>
          <a:prstGeom prst="rect">
            <a:avLst/>
          </a:prstGeom>
        </p:spPr>
      </p:pic>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028700" y="2230437"/>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3" id="3"/>
          <p:cNvSpPr/>
          <p:nvPr/>
        </p:nvSpPr>
        <p:spPr>
          <a:xfrm flipH="false" flipV="false" rot="0">
            <a:off x="2803432" y="2971703"/>
            <a:ext cx="12681137" cy="6753562"/>
          </a:xfrm>
          <a:custGeom>
            <a:avLst/>
            <a:gdLst/>
            <a:ahLst/>
            <a:cxnLst/>
            <a:rect r="r" b="b" t="t" l="l"/>
            <a:pathLst>
              <a:path h="6753562" w="12681137">
                <a:moveTo>
                  <a:pt x="0" y="0"/>
                </a:moveTo>
                <a:lnTo>
                  <a:pt x="12681136" y="0"/>
                </a:lnTo>
                <a:lnTo>
                  <a:pt x="12681136" y="6753563"/>
                </a:lnTo>
                <a:lnTo>
                  <a:pt x="0" y="6753563"/>
                </a:lnTo>
                <a:lnTo>
                  <a:pt x="0" y="0"/>
                </a:lnTo>
                <a:close/>
              </a:path>
            </a:pathLst>
          </a:custGeom>
          <a:blipFill>
            <a:blip r:embed="rId2"/>
            <a:stretch>
              <a:fillRect l="-9961" t="-14728" r="-8388" b="-10828"/>
            </a:stretch>
          </a:blipFill>
          <a:ln cap="sq">
            <a:noFill/>
            <a:prstDash val="solid"/>
            <a:miter/>
          </a:ln>
        </p:spPr>
      </p:sp>
      <p:sp>
        <p:nvSpPr>
          <p:cNvPr name="TextBox 4" id="4"/>
          <p:cNvSpPr txBox="true"/>
          <p:nvPr/>
        </p:nvSpPr>
        <p:spPr>
          <a:xfrm rot="0">
            <a:off x="-1673930" y="1178242"/>
            <a:ext cx="13933625" cy="1052195"/>
          </a:xfrm>
          <a:prstGeom prst="rect">
            <a:avLst/>
          </a:prstGeom>
        </p:spPr>
        <p:txBody>
          <a:bodyPr anchor="t" rtlCol="false" tIns="0" lIns="0" bIns="0" rIns="0">
            <a:spAutoFit/>
          </a:bodyPr>
          <a:lstStyle/>
          <a:p>
            <a:pPr algn="ctr" marL="0" indent="0" lvl="0">
              <a:lnSpc>
                <a:spcPts val="8680"/>
              </a:lnSpc>
              <a:spcBef>
                <a:spcPct val="0"/>
              </a:spcBef>
            </a:pPr>
            <a:r>
              <a:rPr lang="en-US" b="true" sz="6200" strike="noStrike" u="none">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Data Preprocessing: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435858" y="445536"/>
            <a:ext cx="7416284" cy="825881"/>
          </a:xfrm>
          <a:prstGeom prst="rect">
            <a:avLst/>
          </a:prstGeom>
        </p:spPr>
        <p:txBody>
          <a:bodyPr anchor="t" rtlCol="false" tIns="0" lIns="0" bIns="0" rIns="0">
            <a:spAutoFit/>
          </a:bodyPr>
          <a:lstStyle/>
          <a:p>
            <a:pPr algn="ctr">
              <a:lnSpc>
                <a:spcPts val="6262"/>
              </a:lnSpc>
              <a:spcBef>
                <a:spcPct val="0"/>
              </a:spcBef>
            </a:pPr>
            <a:r>
              <a:rPr lang="en-US" b="true" sz="6200" spc="-341">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Overall Architecture</a:t>
            </a:r>
          </a:p>
        </p:txBody>
      </p:sp>
      <p:sp>
        <p:nvSpPr>
          <p:cNvPr name="Freeform 3" id="3"/>
          <p:cNvSpPr/>
          <p:nvPr/>
        </p:nvSpPr>
        <p:spPr>
          <a:xfrm flipH="false" flipV="false" rot="0">
            <a:off x="434908" y="1637442"/>
            <a:ext cx="17418184" cy="2871901"/>
          </a:xfrm>
          <a:custGeom>
            <a:avLst/>
            <a:gdLst/>
            <a:ahLst/>
            <a:cxnLst/>
            <a:rect r="r" b="b" t="t" l="l"/>
            <a:pathLst>
              <a:path h="2871901" w="17418184">
                <a:moveTo>
                  <a:pt x="0" y="0"/>
                </a:moveTo>
                <a:lnTo>
                  <a:pt x="17418184" y="0"/>
                </a:lnTo>
                <a:lnTo>
                  <a:pt x="17418184" y="2871901"/>
                </a:lnTo>
                <a:lnTo>
                  <a:pt x="0" y="2871901"/>
                </a:lnTo>
                <a:lnTo>
                  <a:pt x="0" y="0"/>
                </a:lnTo>
                <a:close/>
              </a:path>
            </a:pathLst>
          </a:custGeom>
          <a:blipFill>
            <a:blip r:embed="rId2"/>
            <a:stretch>
              <a:fillRect l="0" t="-1064" r="0" b="-1720"/>
            </a:stretch>
          </a:blipFill>
          <a:ln w="19050" cap="sq">
            <a:solidFill>
              <a:srgbClr val="000000"/>
            </a:solidFill>
            <a:prstDash val="solid"/>
            <a:miter/>
          </a:ln>
        </p:spPr>
      </p:sp>
      <p:sp>
        <p:nvSpPr>
          <p:cNvPr name="Freeform 4" id="4"/>
          <p:cNvSpPr/>
          <p:nvPr/>
        </p:nvSpPr>
        <p:spPr>
          <a:xfrm flipH="false" flipV="false" rot="0">
            <a:off x="3493371" y="4871293"/>
            <a:ext cx="11301259" cy="5279216"/>
          </a:xfrm>
          <a:custGeom>
            <a:avLst/>
            <a:gdLst/>
            <a:ahLst/>
            <a:cxnLst/>
            <a:rect r="r" b="b" t="t" l="l"/>
            <a:pathLst>
              <a:path h="5279216" w="11301259">
                <a:moveTo>
                  <a:pt x="0" y="0"/>
                </a:moveTo>
                <a:lnTo>
                  <a:pt x="11301258" y="0"/>
                </a:lnTo>
                <a:lnTo>
                  <a:pt x="11301258" y="5279217"/>
                </a:lnTo>
                <a:lnTo>
                  <a:pt x="0" y="5279217"/>
                </a:lnTo>
                <a:lnTo>
                  <a:pt x="0" y="0"/>
                </a:lnTo>
                <a:close/>
              </a:path>
            </a:pathLst>
          </a:custGeom>
          <a:blipFill>
            <a:blip r:embed="rId3"/>
            <a:stretch>
              <a:fillRect l="0" t="-650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110288" y="276225"/>
            <a:ext cx="6067425" cy="1377949"/>
          </a:xfrm>
          <a:prstGeom prst="rect">
            <a:avLst/>
          </a:prstGeom>
        </p:spPr>
        <p:txBody>
          <a:bodyPr anchor="t" rtlCol="false" tIns="0" lIns="0" bIns="0" rIns="0">
            <a:spAutoFit/>
          </a:bodyPr>
          <a:lstStyle/>
          <a:p>
            <a:pPr algn="ctr">
              <a:lnSpc>
                <a:spcPts val="11200"/>
              </a:lnSpc>
              <a:spcBef>
                <a:spcPct val="0"/>
              </a:spcBef>
            </a:pPr>
            <a:r>
              <a:rPr lang="en-US" b="true" sz="80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How it work</a:t>
            </a:r>
          </a:p>
        </p:txBody>
      </p:sp>
      <p:sp>
        <p:nvSpPr>
          <p:cNvPr name="Freeform 3" id="3"/>
          <p:cNvSpPr/>
          <p:nvPr/>
        </p:nvSpPr>
        <p:spPr>
          <a:xfrm flipH="false" flipV="false" rot="0">
            <a:off x="157282" y="2404976"/>
            <a:ext cx="17973435" cy="2933556"/>
          </a:xfrm>
          <a:custGeom>
            <a:avLst/>
            <a:gdLst/>
            <a:ahLst/>
            <a:cxnLst/>
            <a:rect r="r" b="b" t="t" l="l"/>
            <a:pathLst>
              <a:path h="2933556" w="17973435">
                <a:moveTo>
                  <a:pt x="0" y="0"/>
                </a:moveTo>
                <a:lnTo>
                  <a:pt x="17973436" y="0"/>
                </a:lnTo>
                <a:lnTo>
                  <a:pt x="17973436" y="2933556"/>
                </a:lnTo>
                <a:lnTo>
                  <a:pt x="0" y="2933556"/>
                </a:lnTo>
                <a:lnTo>
                  <a:pt x="0" y="0"/>
                </a:lnTo>
                <a:close/>
              </a:path>
            </a:pathLst>
          </a:custGeom>
          <a:blipFill>
            <a:blip r:embed="rId2"/>
            <a:stretch>
              <a:fillRect l="0" t="-5907" r="0" b="-5907"/>
            </a:stretch>
          </a:blipFill>
        </p:spPr>
      </p:sp>
      <p:sp>
        <p:nvSpPr>
          <p:cNvPr name="TextBox 4" id="4"/>
          <p:cNvSpPr txBox="true"/>
          <p:nvPr/>
        </p:nvSpPr>
        <p:spPr>
          <a:xfrm rot="0">
            <a:off x="1028700" y="6110321"/>
            <a:ext cx="16230600" cy="36925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Canva Sans"/>
                <a:ea typeface="Canva Sans"/>
                <a:cs typeface="Canva Sans"/>
                <a:sym typeface="Canva Sans"/>
              </a:rPr>
              <a:t>Using a random f</a:t>
            </a:r>
            <a:r>
              <a:rPr lang="en-US" sz="3500">
                <a:solidFill>
                  <a:srgbClr val="000000"/>
                </a:solidFill>
                <a:latin typeface="Canva Sans"/>
                <a:ea typeface="Canva Sans"/>
                <a:cs typeface="Canva Sans"/>
                <a:sym typeface="Canva Sans"/>
              </a:rPr>
              <a:t>orest and feed-forward neural network. </a:t>
            </a:r>
          </a:p>
          <a:p>
            <a:pPr algn="ctr">
              <a:lnSpc>
                <a:spcPts val="4900"/>
              </a:lnSpc>
              <a:spcBef>
                <a:spcPct val="0"/>
              </a:spcBef>
            </a:pPr>
            <a:r>
              <a:rPr lang="en-US" sz="3500">
                <a:solidFill>
                  <a:srgbClr val="000000"/>
                </a:solidFill>
                <a:latin typeface="Canva Sans"/>
                <a:ea typeface="Canva Sans"/>
                <a:cs typeface="Canva Sans"/>
                <a:sym typeface="Canva Sans"/>
              </a:rPr>
              <a:t>The model uses the random forest that classifies data normal or attack. </a:t>
            </a:r>
          </a:p>
          <a:p>
            <a:pPr algn="ctr">
              <a:lnSpc>
                <a:spcPts val="4900"/>
              </a:lnSpc>
              <a:spcBef>
                <a:spcPct val="0"/>
              </a:spcBef>
            </a:pPr>
            <a:r>
              <a:rPr lang="en-US" sz="3500">
                <a:solidFill>
                  <a:srgbClr val="000000"/>
                </a:solidFill>
                <a:latin typeface="Canva Sans"/>
                <a:ea typeface="Canva Sans"/>
                <a:cs typeface="Canva Sans"/>
                <a:sym typeface="Canva Sans"/>
              </a:rPr>
              <a:t>This information is then used to train a neural network to further classify the attack data to different attack categories using the previous classification as a feature.</a:t>
            </a:r>
          </a:p>
          <a:p>
            <a:pPr algn="ctr">
              <a:lnSpc>
                <a:spcPts val="4900"/>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580304" y="3512860"/>
            <a:ext cx="8678996" cy="5276455"/>
          </a:xfrm>
          <a:custGeom>
            <a:avLst/>
            <a:gdLst/>
            <a:ahLst/>
            <a:cxnLst/>
            <a:rect r="r" b="b" t="t" l="l"/>
            <a:pathLst>
              <a:path h="5276455" w="8678996">
                <a:moveTo>
                  <a:pt x="0" y="0"/>
                </a:moveTo>
                <a:lnTo>
                  <a:pt x="8678996" y="0"/>
                </a:lnTo>
                <a:lnTo>
                  <a:pt x="8678996" y="5276455"/>
                </a:lnTo>
                <a:lnTo>
                  <a:pt x="0" y="5276455"/>
                </a:lnTo>
                <a:lnTo>
                  <a:pt x="0" y="0"/>
                </a:lnTo>
                <a:close/>
              </a:path>
            </a:pathLst>
          </a:custGeom>
          <a:blipFill>
            <a:blip r:embed="rId2"/>
            <a:stretch>
              <a:fillRect l="-2375" t="-3516" r="-2137" b="-5860"/>
            </a:stretch>
          </a:blipFill>
          <a:ln w="19050" cap="sq">
            <a:gradFill>
              <a:gsLst>
                <a:gs pos="0">
                  <a:srgbClr val="004AAD">
                    <a:alpha val="100000"/>
                  </a:srgbClr>
                </a:gs>
                <a:gs pos="100000">
                  <a:srgbClr val="CB6CE6">
                    <a:alpha val="100000"/>
                  </a:srgbClr>
                </a:gs>
              </a:gsLst>
              <a:lin ang="0"/>
            </a:gradFill>
            <a:prstDash val="solid"/>
            <a:miter/>
          </a:ln>
        </p:spPr>
      </p:sp>
      <p:sp>
        <p:nvSpPr>
          <p:cNvPr name="Freeform 3" id="3"/>
          <p:cNvSpPr/>
          <p:nvPr/>
        </p:nvSpPr>
        <p:spPr>
          <a:xfrm flipH="false" flipV="false" rot="0">
            <a:off x="1028700" y="4234541"/>
            <a:ext cx="6632912" cy="3384696"/>
          </a:xfrm>
          <a:custGeom>
            <a:avLst/>
            <a:gdLst/>
            <a:ahLst/>
            <a:cxnLst/>
            <a:rect r="r" b="b" t="t" l="l"/>
            <a:pathLst>
              <a:path h="3384696" w="6632912">
                <a:moveTo>
                  <a:pt x="0" y="0"/>
                </a:moveTo>
                <a:lnTo>
                  <a:pt x="6632912" y="0"/>
                </a:lnTo>
                <a:lnTo>
                  <a:pt x="6632912" y="3384696"/>
                </a:lnTo>
                <a:lnTo>
                  <a:pt x="0" y="3384696"/>
                </a:lnTo>
                <a:lnTo>
                  <a:pt x="0" y="0"/>
                </a:lnTo>
                <a:close/>
              </a:path>
            </a:pathLst>
          </a:custGeom>
          <a:blipFill>
            <a:blip r:embed="rId3"/>
            <a:stretch>
              <a:fillRect l="0" t="0" r="0" b="0"/>
            </a:stretch>
          </a:blipFill>
          <a:ln w="19050" cap="sq">
            <a:gradFill>
              <a:gsLst>
                <a:gs pos="0">
                  <a:srgbClr val="004AAD">
                    <a:alpha val="100000"/>
                  </a:srgbClr>
                </a:gs>
                <a:gs pos="100000">
                  <a:srgbClr val="CB6CE6">
                    <a:alpha val="100000"/>
                  </a:srgbClr>
                </a:gs>
              </a:gsLst>
              <a:lin ang="0"/>
            </a:gradFill>
            <a:prstDash val="solid"/>
            <a:miter/>
          </a:ln>
        </p:spPr>
      </p:sp>
      <p:sp>
        <p:nvSpPr>
          <p:cNvPr name="TextBox 4" id="4"/>
          <p:cNvSpPr txBox="true"/>
          <p:nvPr/>
        </p:nvSpPr>
        <p:spPr>
          <a:xfrm rot="0">
            <a:off x="1016243" y="1539695"/>
            <a:ext cx="13041064"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alpha val="80000"/>
                  </a:srgbClr>
                </a:solidFill>
                <a:latin typeface="Canva Sans Bold"/>
                <a:ea typeface="Canva Sans Bold"/>
                <a:cs typeface="Canva Sans Bold"/>
                <a:sym typeface="Canva Sans Bold"/>
              </a:rPr>
              <a:t>Precisi</a:t>
            </a:r>
            <a:r>
              <a:rPr lang="en-US" b="true" sz="2400">
                <a:solidFill>
                  <a:srgbClr val="000000">
                    <a:alpha val="80000"/>
                  </a:srgbClr>
                </a:solidFill>
                <a:latin typeface="Canva Sans Bold"/>
                <a:ea typeface="Canva Sans Bold"/>
                <a:cs typeface="Canva Sans Bold"/>
                <a:sym typeface="Canva Sans Bold"/>
              </a:rPr>
              <a:t>on</a:t>
            </a:r>
            <a:r>
              <a:rPr lang="en-US" sz="2400">
                <a:solidFill>
                  <a:srgbClr val="000000">
                    <a:alpha val="80000"/>
                  </a:srgbClr>
                </a:solidFill>
                <a:latin typeface="Canva Sans"/>
                <a:ea typeface="Canva Sans"/>
                <a:cs typeface="Canva Sans"/>
                <a:sym typeface="Canva Sans"/>
              </a:rPr>
              <a:t> tells us how many of the instances predicted as “attacks” were actually attacks.</a:t>
            </a:r>
          </a:p>
        </p:txBody>
      </p:sp>
      <p:sp>
        <p:nvSpPr>
          <p:cNvPr name="TextBox 5" id="5"/>
          <p:cNvSpPr txBox="true"/>
          <p:nvPr/>
        </p:nvSpPr>
        <p:spPr>
          <a:xfrm rot="0">
            <a:off x="1019384" y="2183585"/>
            <a:ext cx="16444020" cy="396240"/>
          </a:xfrm>
          <a:prstGeom prst="rect">
            <a:avLst/>
          </a:prstGeom>
        </p:spPr>
        <p:txBody>
          <a:bodyPr anchor="t" rtlCol="false" tIns="0" lIns="0" bIns="0" rIns="0">
            <a:spAutoFit/>
          </a:bodyPr>
          <a:lstStyle/>
          <a:p>
            <a:pPr algn="ctr">
              <a:lnSpc>
                <a:spcPts val="3359"/>
              </a:lnSpc>
              <a:spcBef>
                <a:spcPct val="0"/>
              </a:spcBef>
            </a:pPr>
            <a:r>
              <a:rPr lang="en-US" sz="2400">
                <a:solidFill>
                  <a:srgbClr val="000000">
                    <a:alpha val="80000"/>
                  </a:srgbClr>
                </a:solidFill>
                <a:latin typeface="Canva Sans"/>
                <a:ea typeface="Canva Sans"/>
                <a:cs typeface="Canva Sans"/>
                <a:sym typeface="Canva Sans"/>
              </a:rPr>
              <a:t> </a:t>
            </a:r>
            <a:r>
              <a:rPr lang="en-US" b="true" sz="2400">
                <a:solidFill>
                  <a:srgbClr val="000000">
                    <a:alpha val="80000"/>
                  </a:srgbClr>
                </a:solidFill>
                <a:latin typeface="Canva Sans Bold"/>
                <a:ea typeface="Canva Sans Bold"/>
                <a:cs typeface="Canva Sans Bold"/>
                <a:sym typeface="Canva Sans Bold"/>
              </a:rPr>
              <a:t>Recall</a:t>
            </a:r>
            <a:r>
              <a:rPr lang="en-US" sz="2400">
                <a:solidFill>
                  <a:srgbClr val="000000">
                    <a:alpha val="80000"/>
                  </a:srgbClr>
                </a:solidFill>
                <a:latin typeface="Canva Sans"/>
                <a:ea typeface="Canva Sans"/>
                <a:cs typeface="Canva Sans"/>
                <a:sym typeface="Canva Sans"/>
              </a:rPr>
              <a:t> (als</a:t>
            </a:r>
            <a:r>
              <a:rPr lang="en-US" sz="2400">
                <a:solidFill>
                  <a:srgbClr val="000000">
                    <a:alpha val="80000"/>
                  </a:srgbClr>
                </a:solidFill>
                <a:latin typeface="Canva Sans"/>
                <a:ea typeface="Canva Sans"/>
                <a:cs typeface="Canva Sans"/>
                <a:sym typeface="Canva Sans"/>
              </a:rPr>
              <a:t>o known as Sensitivity) tells us how many of the actual attacks were correctly identified by the model.</a:t>
            </a:r>
          </a:p>
        </p:txBody>
      </p:sp>
      <p:sp>
        <p:nvSpPr>
          <p:cNvPr name="TextBox 6" id="6"/>
          <p:cNvSpPr txBox="true"/>
          <p:nvPr/>
        </p:nvSpPr>
        <p:spPr>
          <a:xfrm rot="0">
            <a:off x="1021214" y="2827475"/>
            <a:ext cx="8591996" cy="396240"/>
          </a:xfrm>
          <a:prstGeom prst="rect">
            <a:avLst/>
          </a:prstGeom>
        </p:spPr>
        <p:txBody>
          <a:bodyPr anchor="t" rtlCol="false" tIns="0" lIns="0" bIns="0" rIns="0">
            <a:spAutoFit/>
          </a:bodyPr>
          <a:lstStyle/>
          <a:p>
            <a:pPr algn="ctr">
              <a:lnSpc>
                <a:spcPts val="3359"/>
              </a:lnSpc>
              <a:spcBef>
                <a:spcPct val="0"/>
              </a:spcBef>
            </a:pPr>
            <a:r>
              <a:rPr lang="en-US" sz="2400">
                <a:solidFill>
                  <a:srgbClr val="000000">
                    <a:alpha val="80000"/>
                  </a:srgbClr>
                </a:solidFill>
                <a:latin typeface="Canva Sans"/>
                <a:ea typeface="Canva Sans"/>
                <a:cs typeface="Canva Sans"/>
                <a:sym typeface="Canva Sans"/>
              </a:rPr>
              <a:t> </a:t>
            </a:r>
            <a:r>
              <a:rPr lang="en-US" b="true" sz="2400">
                <a:solidFill>
                  <a:srgbClr val="000000">
                    <a:alpha val="80000"/>
                  </a:srgbClr>
                </a:solidFill>
                <a:latin typeface="Canva Sans Bold"/>
                <a:ea typeface="Canva Sans Bold"/>
                <a:cs typeface="Canva Sans Bold"/>
                <a:sym typeface="Canva Sans Bold"/>
              </a:rPr>
              <a:t>The F1-sc</a:t>
            </a:r>
            <a:r>
              <a:rPr lang="en-US" b="true" sz="2400">
                <a:solidFill>
                  <a:srgbClr val="000000">
                    <a:alpha val="80000"/>
                  </a:srgbClr>
                </a:solidFill>
                <a:latin typeface="Canva Sans Bold"/>
                <a:ea typeface="Canva Sans Bold"/>
                <a:cs typeface="Canva Sans Bold"/>
                <a:sym typeface="Canva Sans Bold"/>
              </a:rPr>
              <a:t>ore</a:t>
            </a:r>
            <a:r>
              <a:rPr lang="en-US" sz="2400">
                <a:solidFill>
                  <a:srgbClr val="000000">
                    <a:alpha val="80000"/>
                  </a:srgbClr>
                </a:solidFill>
                <a:latin typeface="Canva Sans"/>
                <a:ea typeface="Canva Sans"/>
                <a:cs typeface="Canva Sans"/>
                <a:sym typeface="Canva Sans"/>
              </a:rPr>
              <a:t> is the harmonic mean of precision and recall.</a:t>
            </a:r>
          </a:p>
        </p:txBody>
      </p:sp>
      <p:sp>
        <p:nvSpPr>
          <p:cNvPr name="TextBox 7" id="7"/>
          <p:cNvSpPr txBox="true"/>
          <p:nvPr/>
        </p:nvSpPr>
        <p:spPr>
          <a:xfrm rot="0">
            <a:off x="6135112" y="349250"/>
            <a:ext cx="6017776" cy="679450"/>
          </a:xfrm>
          <a:prstGeom prst="rect">
            <a:avLst/>
          </a:prstGeom>
        </p:spPr>
        <p:txBody>
          <a:bodyPr anchor="t" rtlCol="false" tIns="0" lIns="0" bIns="0" rIns="0">
            <a:spAutoFit/>
          </a:bodyPr>
          <a:lstStyle/>
          <a:p>
            <a:pPr algn="ctr">
              <a:lnSpc>
                <a:spcPts val="5599"/>
              </a:lnSpc>
              <a:spcBef>
                <a:spcPct val="0"/>
              </a:spcBef>
            </a:pPr>
            <a:r>
              <a:rPr lang="en-US" b="true" sz="3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About Those Measures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5919052" y="2971800"/>
          <a:ext cx="5657850" cy="6286500"/>
        </p:xfrm>
        <a:graphic>
          <a:graphicData uri="http://schemas.openxmlformats.org/presentationml/2006/ole">
            <p:oleObj imgW="6908800" imgH="7543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3934519" y="-102235"/>
            <a:ext cx="10418962" cy="2147570"/>
          </a:xfrm>
          <a:prstGeom prst="rect">
            <a:avLst/>
          </a:prstGeom>
        </p:spPr>
        <p:txBody>
          <a:bodyPr anchor="t" rtlCol="false" tIns="0" lIns="0" bIns="0" rIns="0">
            <a:spAutoFit/>
          </a:bodyPr>
          <a:lstStyle/>
          <a:p>
            <a:pPr algn="ctr">
              <a:lnSpc>
                <a:spcPts val="8680"/>
              </a:lnSpc>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step 1 </a:t>
            </a:r>
          </a:p>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predicut Attack or normal</a:t>
            </a:r>
          </a:p>
        </p:txBody>
      </p:sp>
      <p:sp>
        <p:nvSpPr>
          <p:cNvPr name="TextBox 4" id="4"/>
          <p:cNvSpPr txBox="true"/>
          <p:nvPr/>
        </p:nvSpPr>
        <p:spPr>
          <a:xfrm rot="0">
            <a:off x="548885" y="4156182"/>
            <a:ext cx="4336178" cy="2879791"/>
          </a:xfrm>
          <a:prstGeom prst="rect">
            <a:avLst/>
          </a:prstGeom>
        </p:spPr>
        <p:txBody>
          <a:bodyPr anchor="t" rtlCol="false" tIns="0" lIns="0" bIns="0" rIns="0">
            <a:spAutoFit/>
          </a:bodyPr>
          <a:lstStyle/>
          <a:p>
            <a:pPr algn="ctr" marL="0" indent="0" lvl="0">
              <a:lnSpc>
                <a:spcPts val="7700"/>
              </a:lnSpc>
              <a:spcBef>
                <a:spcPct val="0"/>
              </a:spcBef>
            </a:pPr>
            <a:r>
              <a:rPr lang="en-US" b="true" sz="5500" strike="noStrike" u="none">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Randem Forest</a:t>
            </a:r>
          </a:p>
          <a:p>
            <a:pPr algn="ctr" marL="0" indent="0" lvl="0">
              <a:lnSpc>
                <a:spcPts val="7700"/>
              </a:lnSpc>
              <a:spcBef>
                <a:spcPct val="0"/>
              </a:spcBef>
            </a:pPr>
            <a:r>
              <a:rPr lang="en-US" b="true" sz="5500" strike="noStrike" u="none">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Model</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761076" y="3353119"/>
          <a:ext cx="5657850" cy="4400550"/>
        </p:xfrm>
        <a:graphic>
          <a:graphicData uri="http://schemas.openxmlformats.org/presentationml/2006/ole">
            <p:oleObj imgW="6781800" imgH="5524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9059450" y="2206741"/>
            <a:ext cx="8199850" cy="7210409"/>
          </a:xfrm>
          <a:custGeom>
            <a:avLst/>
            <a:gdLst/>
            <a:ahLst/>
            <a:cxnLst/>
            <a:rect r="r" b="b" t="t" l="l"/>
            <a:pathLst>
              <a:path h="7210409" w="8199850">
                <a:moveTo>
                  <a:pt x="0" y="0"/>
                </a:moveTo>
                <a:lnTo>
                  <a:pt x="8199850" y="0"/>
                </a:lnTo>
                <a:lnTo>
                  <a:pt x="8199850" y="7210409"/>
                </a:lnTo>
                <a:lnTo>
                  <a:pt x="0" y="7210409"/>
                </a:lnTo>
                <a:lnTo>
                  <a:pt x="0" y="0"/>
                </a:lnTo>
                <a:close/>
              </a:path>
            </a:pathLst>
          </a:custGeom>
          <a:blipFill>
            <a:blip r:embed="rId4"/>
            <a:stretch>
              <a:fillRect l="0" t="0" r="0" b="0"/>
            </a:stretch>
          </a:blipFill>
        </p:spPr>
      </p:sp>
      <p:sp>
        <p:nvSpPr>
          <p:cNvPr name="TextBox 4" id="4"/>
          <p:cNvSpPr txBox="true"/>
          <p:nvPr/>
        </p:nvSpPr>
        <p:spPr>
          <a:xfrm rot="0">
            <a:off x="3934519" y="-102235"/>
            <a:ext cx="10418962" cy="2147570"/>
          </a:xfrm>
          <a:prstGeom prst="rect">
            <a:avLst/>
          </a:prstGeom>
        </p:spPr>
        <p:txBody>
          <a:bodyPr anchor="t" rtlCol="false" tIns="0" lIns="0" bIns="0" rIns="0">
            <a:spAutoFit/>
          </a:bodyPr>
          <a:lstStyle/>
          <a:p>
            <a:pPr algn="ctr">
              <a:lnSpc>
                <a:spcPts val="8680"/>
              </a:lnSpc>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step 1 </a:t>
            </a:r>
          </a:p>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predicut Attack or normal</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707618" y="2756958"/>
          <a:ext cx="15087600" cy="4400550"/>
        </p:xfrm>
        <a:graphic>
          <a:graphicData uri="http://schemas.openxmlformats.org/presentationml/2006/ole">
            <p:oleObj imgW="18097500" imgH="7416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3663672" y="330200"/>
            <a:ext cx="10960655" cy="679450"/>
          </a:xfrm>
          <a:prstGeom prst="rect">
            <a:avLst/>
          </a:prstGeom>
        </p:spPr>
        <p:txBody>
          <a:bodyPr anchor="t" rtlCol="false" tIns="0" lIns="0" bIns="0" rIns="0">
            <a:spAutoFit/>
          </a:bodyPr>
          <a:lstStyle/>
          <a:p>
            <a:pPr algn="ctr">
              <a:lnSpc>
                <a:spcPts val="5599"/>
              </a:lnSpc>
              <a:spcBef>
                <a:spcPct val="0"/>
              </a:spcBef>
            </a:pPr>
            <a:r>
              <a:rPr lang="en-US" b="true" sz="3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C</a:t>
            </a:r>
            <a:r>
              <a:rPr lang="en-US" b="true" sz="39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ompare between different models of ML </a:t>
            </a:r>
          </a:p>
        </p:txBody>
      </p:sp>
      <p:sp>
        <p:nvSpPr>
          <p:cNvPr name="TextBox 4" id="4"/>
          <p:cNvSpPr txBox="true"/>
          <p:nvPr/>
        </p:nvSpPr>
        <p:spPr>
          <a:xfrm rot="0">
            <a:off x="4610612" y="1455844"/>
            <a:ext cx="9066776" cy="815340"/>
          </a:xfrm>
          <a:prstGeom prst="rect">
            <a:avLst/>
          </a:prstGeom>
        </p:spPr>
        <p:txBody>
          <a:bodyPr anchor="t" rtlCol="false" tIns="0" lIns="0" bIns="0" rIns="0">
            <a:spAutoFit/>
          </a:bodyPr>
          <a:lstStyle/>
          <a:p>
            <a:pPr algn="ctr">
              <a:lnSpc>
                <a:spcPts val="3360"/>
              </a:lnSpc>
              <a:spcBef>
                <a:spcPct val="0"/>
              </a:spcBef>
            </a:pPr>
            <a:r>
              <a:rPr lang="en-US" sz="2400">
                <a:solidFill>
                  <a:srgbClr val="000000"/>
                </a:solidFill>
                <a:latin typeface="Canva Sans"/>
                <a:ea typeface="Canva Sans"/>
                <a:cs typeface="Canva Sans"/>
                <a:sym typeface="Canva Sans"/>
              </a:rPr>
              <a:t>Results </a:t>
            </a:r>
            <a:r>
              <a:rPr lang="en-US" sz="2400">
                <a:solidFill>
                  <a:srgbClr val="000000"/>
                </a:solidFill>
                <a:latin typeface="Canva Sans"/>
                <a:ea typeface="Canva Sans"/>
                <a:cs typeface="Canva Sans"/>
                <a:sym typeface="Canva Sans"/>
              </a:rPr>
              <a:t>that we reached to for different models and its turn out that Random Forest and Extra Trees had the best results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5044745" y="2572201"/>
          <a:ext cx="5657850" cy="6915150"/>
        </p:xfrm>
        <a:graphic>
          <a:graphicData uri="http://schemas.openxmlformats.org/presentationml/2006/ole">
            <p:oleObj imgW="7035800" imgH="8293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525874" y="-102235"/>
            <a:ext cx="15236253" cy="2147570"/>
          </a:xfrm>
          <a:prstGeom prst="rect">
            <a:avLst/>
          </a:prstGeom>
        </p:spPr>
        <p:txBody>
          <a:bodyPr anchor="t" rtlCol="false" tIns="0" lIns="0" bIns="0" rIns="0">
            <a:spAutoFit/>
          </a:bodyPr>
          <a:lstStyle/>
          <a:p>
            <a:pPr algn="ctr">
              <a:lnSpc>
                <a:spcPts val="8680"/>
              </a:lnSpc>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step 2 </a:t>
            </a:r>
          </a:p>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Classifying different types of attacks</a:t>
            </a:r>
          </a:p>
        </p:txBody>
      </p:sp>
      <p:sp>
        <p:nvSpPr>
          <p:cNvPr name="TextBox 4" id="4"/>
          <p:cNvSpPr txBox="true"/>
          <p:nvPr/>
        </p:nvSpPr>
        <p:spPr>
          <a:xfrm rot="0">
            <a:off x="1028700" y="4615604"/>
            <a:ext cx="3115028" cy="2147570"/>
          </a:xfrm>
          <a:prstGeom prst="rect">
            <a:avLst/>
          </a:prstGeom>
        </p:spPr>
        <p:txBody>
          <a:bodyPr anchor="t" rtlCol="false" tIns="0" lIns="0" bIns="0" rIns="0">
            <a:spAutoFit/>
          </a:bodyPr>
          <a:lstStyle/>
          <a:p>
            <a:pPr algn="ctr" rtl="true">
              <a:lnSpc>
                <a:spcPts val="8680"/>
              </a:lnSpc>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XGBoot</a:t>
            </a:r>
          </a:p>
          <a:p>
            <a:pPr algn="ctr" marL="0" indent="0" lvl="0">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Model</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634806" y="3540572"/>
          <a:ext cx="5657850" cy="4400550"/>
        </p:xfrm>
        <a:graphic>
          <a:graphicData uri="http://schemas.openxmlformats.org/presentationml/2006/ole">
            <p:oleObj imgW="6781800" imgH="5524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9021817" y="2393386"/>
            <a:ext cx="8237483" cy="7264715"/>
          </a:xfrm>
          <a:custGeom>
            <a:avLst/>
            <a:gdLst/>
            <a:ahLst/>
            <a:cxnLst/>
            <a:rect r="r" b="b" t="t" l="l"/>
            <a:pathLst>
              <a:path h="7264715" w="8237483">
                <a:moveTo>
                  <a:pt x="0" y="0"/>
                </a:moveTo>
                <a:lnTo>
                  <a:pt x="8237483" y="0"/>
                </a:lnTo>
                <a:lnTo>
                  <a:pt x="8237483" y="7264716"/>
                </a:lnTo>
                <a:lnTo>
                  <a:pt x="0" y="7264716"/>
                </a:lnTo>
                <a:lnTo>
                  <a:pt x="0" y="0"/>
                </a:lnTo>
                <a:close/>
              </a:path>
            </a:pathLst>
          </a:custGeom>
          <a:blipFill>
            <a:blip r:embed="rId4"/>
            <a:stretch>
              <a:fillRect l="0" t="0" r="0" b="0"/>
            </a:stretch>
          </a:blipFill>
        </p:spPr>
      </p:sp>
      <p:sp>
        <p:nvSpPr>
          <p:cNvPr name="TextBox 4" id="4"/>
          <p:cNvSpPr txBox="true"/>
          <p:nvPr/>
        </p:nvSpPr>
        <p:spPr>
          <a:xfrm rot="0">
            <a:off x="1525874" y="-102235"/>
            <a:ext cx="15236253" cy="2147570"/>
          </a:xfrm>
          <a:prstGeom prst="rect">
            <a:avLst/>
          </a:prstGeom>
        </p:spPr>
        <p:txBody>
          <a:bodyPr anchor="t" rtlCol="false" tIns="0" lIns="0" bIns="0" rIns="0">
            <a:spAutoFit/>
          </a:bodyPr>
          <a:lstStyle/>
          <a:p>
            <a:pPr algn="ctr">
              <a:lnSpc>
                <a:spcPts val="8680"/>
              </a:lnSpc>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step 2 </a:t>
            </a:r>
          </a:p>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Classifying different types of attacks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657443" y="3338912"/>
          <a:ext cx="16230600" cy="2459182"/>
        </p:xfrm>
        <a:graphic>
          <a:graphicData uri="http://schemas.openxmlformats.org/presentationml/2006/ole">
            <p:oleObj imgW="19469100" imgH="57023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5704582" y="1142876"/>
            <a:ext cx="6878837" cy="962705"/>
          </a:xfrm>
          <a:prstGeom prst="rect">
            <a:avLst/>
          </a:prstGeom>
        </p:spPr>
        <p:txBody>
          <a:bodyPr anchor="t" rtlCol="false" tIns="0" lIns="0" bIns="0" rIns="0">
            <a:spAutoFit/>
          </a:bodyPr>
          <a:lstStyle/>
          <a:p>
            <a:pPr algn="ctr">
              <a:lnSpc>
                <a:spcPts val="7839"/>
              </a:lnSpc>
              <a:spcBef>
                <a:spcPct val="0"/>
              </a:spcBef>
            </a:pPr>
            <a:r>
              <a:rPr lang="en-US" b="true" sz="55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Model Comparison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569631" y="914400"/>
            <a:ext cx="5148739" cy="1052196"/>
          </a:xfrm>
          <a:prstGeom prst="rect">
            <a:avLst/>
          </a:prstGeom>
        </p:spPr>
        <p:txBody>
          <a:bodyPr anchor="t" rtlCol="false" tIns="0" lIns="0" bIns="0" rIns="0">
            <a:spAutoFit/>
          </a:bodyPr>
          <a:lstStyle/>
          <a:p>
            <a:pPr algn="ctr">
              <a:lnSpc>
                <a:spcPts val="8679"/>
              </a:lnSpc>
              <a:spcBef>
                <a:spcPct val="0"/>
              </a:spcBef>
            </a:pPr>
            <a:r>
              <a:rPr lang="en-US" b="true" sz="6199">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Our services</a:t>
            </a:r>
          </a:p>
        </p:txBody>
      </p:sp>
      <p:grpSp>
        <p:nvGrpSpPr>
          <p:cNvPr name="Group 3" id="3"/>
          <p:cNvGrpSpPr/>
          <p:nvPr/>
        </p:nvGrpSpPr>
        <p:grpSpPr>
          <a:xfrm rot="0">
            <a:off x="469951" y="4423269"/>
            <a:ext cx="5044350" cy="4661820"/>
            <a:chOff x="0" y="0"/>
            <a:chExt cx="6725800" cy="6215760"/>
          </a:xfrm>
        </p:grpSpPr>
        <p:sp>
          <p:nvSpPr>
            <p:cNvPr name="Freeform 4" id="4"/>
            <p:cNvSpPr/>
            <p:nvPr/>
          </p:nvSpPr>
          <p:spPr>
            <a:xfrm flipH="false" flipV="false" rot="0">
              <a:off x="0" y="0"/>
              <a:ext cx="6725800" cy="6215760"/>
            </a:xfrm>
            <a:custGeom>
              <a:avLst/>
              <a:gdLst/>
              <a:ahLst/>
              <a:cxnLst/>
              <a:rect r="r" b="b" t="t" l="l"/>
              <a:pathLst>
                <a:path h="6215760" w="6725800">
                  <a:moveTo>
                    <a:pt x="0" y="0"/>
                  </a:moveTo>
                  <a:lnTo>
                    <a:pt x="6725800" y="0"/>
                  </a:lnTo>
                  <a:lnTo>
                    <a:pt x="6725800" y="6215760"/>
                  </a:lnTo>
                  <a:lnTo>
                    <a:pt x="0" y="62157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166239" y="1369154"/>
              <a:ext cx="4393322" cy="1055369"/>
            </a:xfrm>
            <a:prstGeom prst="rect">
              <a:avLst/>
            </a:prstGeom>
          </p:spPr>
          <p:txBody>
            <a:bodyPr anchor="t" rtlCol="false" tIns="0" lIns="0" bIns="0" rIns="0">
              <a:spAutoFit/>
            </a:bodyPr>
            <a:lstStyle/>
            <a:p>
              <a:pPr algn="ctr" marL="0" indent="0" lvl="1">
                <a:lnSpc>
                  <a:spcPts val="3029"/>
                </a:lnSpc>
              </a:pPr>
              <a:r>
                <a:rPr lang="en-US" b="true" sz="2999" spc="-164">
                  <a:solidFill>
                    <a:srgbClr val="000000"/>
                  </a:solidFill>
                  <a:latin typeface="Canva Sans Bold"/>
                  <a:ea typeface="Canva Sans Bold"/>
                  <a:cs typeface="Canva Sans Bold"/>
                  <a:sym typeface="Canva Sans Bold"/>
                </a:rPr>
                <a:t>AI-Driven Threat Detection</a:t>
              </a:r>
            </a:p>
          </p:txBody>
        </p:sp>
        <p:sp>
          <p:nvSpPr>
            <p:cNvPr name="TextBox 6" id="6"/>
            <p:cNvSpPr txBox="true"/>
            <p:nvPr/>
          </p:nvSpPr>
          <p:spPr>
            <a:xfrm rot="0">
              <a:off x="966632" y="3069780"/>
              <a:ext cx="4592929" cy="1452880"/>
            </a:xfrm>
            <a:prstGeom prst="rect">
              <a:avLst/>
            </a:prstGeom>
          </p:spPr>
          <p:txBody>
            <a:bodyPr anchor="t" rtlCol="false" tIns="0" lIns="0" bIns="0" rIns="0">
              <a:spAutoFit/>
            </a:bodyPr>
            <a:lstStyle/>
            <a:p>
              <a:pPr algn="ctr">
                <a:lnSpc>
                  <a:spcPts val="2940"/>
                </a:lnSpc>
                <a:spcBef>
                  <a:spcPct val="0"/>
                </a:spcBef>
              </a:pPr>
              <a:r>
                <a:rPr lang="en-US" sz="2100">
                  <a:solidFill>
                    <a:srgbClr val="000000"/>
                  </a:solidFill>
                  <a:latin typeface="Canva Sans"/>
                  <a:ea typeface="Canva Sans"/>
                  <a:cs typeface="Canva Sans"/>
                  <a:sym typeface="Canva Sans"/>
                </a:rPr>
                <a:t>Real-time AI-driven detection of anomalies and advanced threats.</a:t>
              </a:r>
            </a:p>
          </p:txBody>
        </p:sp>
      </p:grpSp>
      <p:grpSp>
        <p:nvGrpSpPr>
          <p:cNvPr name="Group 7" id="7"/>
          <p:cNvGrpSpPr/>
          <p:nvPr/>
        </p:nvGrpSpPr>
        <p:grpSpPr>
          <a:xfrm rot="0">
            <a:off x="6621825" y="3076362"/>
            <a:ext cx="5044350" cy="4976907"/>
            <a:chOff x="0" y="0"/>
            <a:chExt cx="6725800" cy="6635876"/>
          </a:xfrm>
        </p:grpSpPr>
        <p:sp>
          <p:nvSpPr>
            <p:cNvPr name="Freeform 8" id="8"/>
            <p:cNvSpPr/>
            <p:nvPr/>
          </p:nvSpPr>
          <p:spPr>
            <a:xfrm flipH="false" flipV="false" rot="0">
              <a:off x="0" y="0"/>
              <a:ext cx="6725800" cy="6635876"/>
            </a:xfrm>
            <a:custGeom>
              <a:avLst/>
              <a:gdLst/>
              <a:ahLst/>
              <a:cxnLst/>
              <a:rect r="r" b="b" t="t" l="l"/>
              <a:pathLst>
                <a:path h="6635876" w="6725800">
                  <a:moveTo>
                    <a:pt x="0" y="0"/>
                  </a:moveTo>
                  <a:lnTo>
                    <a:pt x="6725800" y="0"/>
                  </a:lnTo>
                  <a:lnTo>
                    <a:pt x="6725800" y="6635876"/>
                  </a:lnTo>
                  <a:lnTo>
                    <a:pt x="0" y="6635876"/>
                  </a:lnTo>
                  <a:lnTo>
                    <a:pt x="0" y="0"/>
                  </a:lnTo>
                  <a:close/>
                </a:path>
              </a:pathLst>
            </a:custGeom>
            <a:blipFill>
              <a:blip r:embed="rId2">
                <a:extLst>
                  <a:ext uri="{96DAC541-7B7A-43D3-8B79-37D633B846F1}">
                    <asvg:svgBlip xmlns:asvg="http://schemas.microsoft.com/office/drawing/2016/SVG/main" r:embed="rId3"/>
                  </a:ext>
                </a:extLst>
              </a:blip>
              <a:stretch>
                <a:fillRect l="-3379" t="0" r="-3379" b="0"/>
              </a:stretch>
            </a:blipFill>
          </p:spPr>
        </p:sp>
        <p:sp>
          <p:nvSpPr>
            <p:cNvPr name="TextBox 9" id="9"/>
            <p:cNvSpPr txBox="true"/>
            <p:nvPr/>
          </p:nvSpPr>
          <p:spPr>
            <a:xfrm rot="0">
              <a:off x="1166239" y="1369154"/>
              <a:ext cx="4393322" cy="1055369"/>
            </a:xfrm>
            <a:prstGeom prst="rect">
              <a:avLst/>
            </a:prstGeom>
          </p:spPr>
          <p:txBody>
            <a:bodyPr anchor="t" rtlCol="false" tIns="0" lIns="0" bIns="0" rIns="0">
              <a:spAutoFit/>
            </a:bodyPr>
            <a:lstStyle/>
            <a:p>
              <a:pPr algn="ctr" marL="0" indent="0" lvl="1">
                <a:lnSpc>
                  <a:spcPts val="3029"/>
                </a:lnSpc>
              </a:pPr>
              <a:r>
                <a:rPr lang="en-US" b="true" sz="2999" spc="-164">
                  <a:solidFill>
                    <a:srgbClr val="000000"/>
                  </a:solidFill>
                  <a:latin typeface="Canva Sans Bold"/>
                  <a:ea typeface="Canva Sans Bold"/>
                  <a:cs typeface="Canva Sans Bold"/>
                  <a:sym typeface="Canva Sans Bold"/>
                </a:rPr>
                <a:t>Managed Security Services</a:t>
              </a:r>
            </a:p>
          </p:txBody>
        </p:sp>
        <p:sp>
          <p:nvSpPr>
            <p:cNvPr name="TextBox 10" id="10"/>
            <p:cNvSpPr txBox="true"/>
            <p:nvPr/>
          </p:nvSpPr>
          <p:spPr>
            <a:xfrm rot="0">
              <a:off x="1028132" y="2994596"/>
              <a:ext cx="4669536" cy="1948180"/>
            </a:xfrm>
            <a:prstGeom prst="rect">
              <a:avLst/>
            </a:prstGeom>
          </p:spPr>
          <p:txBody>
            <a:bodyPr anchor="t" rtlCol="false" tIns="0" lIns="0" bIns="0" rIns="0">
              <a:spAutoFit/>
            </a:bodyPr>
            <a:lstStyle/>
            <a:p>
              <a:pPr algn="ctr">
                <a:lnSpc>
                  <a:spcPts val="2940"/>
                </a:lnSpc>
              </a:pPr>
              <a:r>
                <a:rPr lang="en-US" sz="2100" spc="-115">
                  <a:solidFill>
                    <a:srgbClr val="000000"/>
                  </a:solidFill>
                  <a:latin typeface="Canva Sans"/>
                  <a:ea typeface="Canva Sans"/>
                  <a:cs typeface="Canva Sans"/>
                  <a:sym typeface="Canva Sans"/>
                </a:rPr>
                <a:t>Detects major network attacks, monitors critical traffic, and automates alerts and responses</a:t>
              </a:r>
            </a:p>
          </p:txBody>
        </p:sp>
      </p:grpSp>
      <p:grpSp>
        <p:nvGrpSpPr>
          <p:cNvPr name="Group 11" id="11"/>
          <p:cNvGrpSpPr/>
          <p:nvPr/>
        </p:nvGrpSpPr>
        <p:grpSpPr>
          <a:xfrm rot="0">
            <a:off x="12771075" y="4423269"/>
            <a:ext cx="5044350" cy="4872132"/>
            <a:chOff x="0" y="0"/>
            <a:chExt cx="6725800" cy="6496176"/>
          </a:xfrm>
        </p:grpSpPr>
        <p:sp>
          <p:nvSpPr>
            <p:cNvPr name="Freeform 12" id="12"/>
            <p:cNvSpPr/>
            <p:nvPr/>
          </p:nvSpPr>
          <p:spPr>
            <a:xfrm flipH="false" flipV="false" rot="0">
              <a:off x="0" y="0"/>
              <a:ext cx="6725800" cy="6496176"/>
            </a:xfrm>
            <a:custGeom>
              <a:avLst/>
              <a:gdLst/>
              <a:ahLst/>
              <a:cxnLst/>
              <a:rect r="r" b="b" t="t" l="l"/>
              <a:pathLst>
                <a:path h="6496176" w="6725800">
                  <a:moveTo>
                    <a:pt x="0" y="0"/>
                  </a:moveTo>
                  <a:lnTo>
                    <a:pt x="6725800" y="0"/>
                  </a:lnTo>
                  <a:lnTo>
                    <a:pt x="6725800" y="6496176"/>
                  </a:lnTo>
                  <a:lnTo>
                    <a:pt x="0" y="6496176"/>
                  </a:lnTo>
                  <a:lnTo>
                    <a:pt x="0" y="0"/>
                  </a:lnTo>
                  <a:close/>
                </a:path>
              </a:pathLst>
            </a:custGeom>
            <a:blipFill>
              <a:blip r:embed="rId2">
                <a:extLst>
                  <a:ext uri="{96DAC541-7B7A-43D3-8B79-37D633B846F1}">
                    <asvg:svgBlip xmlns:asvg="http://schemas.microsoft.com/office/drawing/2016/SVG/main" r:embed="rId3"/>
                  </a:ext>
                </a:extLst>
              </a:blip>
              <a:stretch>
                <a:fillRect l="-2255" t="0" r="-2255" b="0"/>
              </a:stretch>
            </a:blipFill>
          </p:spPr>
        </p:sp>
        <p:sp>
          <p:nvSpPr>
            <p:cNvPr name="TextBox 13" id="13"/>
            <p:cNvSpPr txBox="true"/>
            <p:nvPr/>
          </p:nvSpPr>
          <p:spPr>
            <a:xfrm rot="0">
              <a:off x="876581" y="1652365"/>
              <a:ext cx="4972639" cy="1074419"/>
            </a:xfrm>
            <a:prstGeom prst="rect">
              <a:avLst/>
            </a:prstGeom>
          </p:spPr>
          <p:txBody>
            <a:bodyPr anchor="t" rtlCol="false" tIns="0" lIns="0" bIns="0" rIns="0">
              <a:spAutoFit/>
            </a:bodyPr>
            <a:lstStyle/>
            <a:p>
              <a:pPr algn="ctr" marL="0" indent="0" lvl="1">
                <a:lnSpc>
                  <a:spcPts val="3029"/>
                </a:lnSpc>
              </a:pPr>
              <a:r>
                <a:rPr lang="en-US" b="true" sz="2999" spc="-164">
                  <a:solidFill>
                    <a:srgbClr val="000000"/>
                  </a:solidFill>
                  <a:latin typeface="Barlow Bold"/>
                  <a:ea typeface="Barlow Bold"/>
                  <a:cs typeface="Barlow Bold"/>
                  <a:sym typeface="Barlow Bold"/>
                </a:rPr>
                <a:t>Security Dashboard &amp; Analytics</a:t>
              </a:r>
            </a:p>
          </p:txBody>
        </p:sp>
        <p:sp>
          <p:nvSpPr>
            <p:cNvPr name="TextBox 14" id="14"/>
            <p:cNvSpPr txBox="true"/>
            <p:nvPr/>
          </p:nvSpPr>
          <p:spPr>
            <a:xfrm rot="0">
              <a:off x="1136247" y="3350196"/>
              <a:ext cx="4453306" cy="1452880"/>
            </a:xfrm>
            <a:prstGeom prst="rect">
              <a:avLst/>
            </a:prstGeom>
          </p:spPr>
          <p:txBody>
            <a:bodyPr anchor="t" rtlCol="false" tIns="0" lIns="0" bIns="0" rIns="0">
              <a:spAutoFit/>
            </a:bodyPr>
            <a:lstStyle/>
            <a:p>
              <a:pPr algn="ctr">
                <a:lnSpc>
                  <a:spcPts val="2940"/>
                </a:lnSpc>
              </a:pPr>
              <a:r>
                <a:rPr lang="en-US" sz="2100" spc="-115">
                  <a:solidFill>
                    <a:srgbClr val="000000"/>
                  </a:solidFill>
                  <a:latin typeface="Canva Sans"/>
                  <a:ea typeface="Canva Sans"/>
                  <a:cs typeface="Canva Sans"/>
                  <a:sym typeface="Canva Sans"/>
                </a:rPr>
                <a:t>Real-time dashboard with analytics and tool integration.</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04875"/>
            <a:ext cx="5409605" cy="1226820"/>
          </a:xfrm>
          <a:prstGeom prst="rect">
            <a:avLst/>
          </a:prstGeom>
        </p:spPr>
        <p:txBody>
          <a:bodyPr anchor="t" rtlCol="false" tIns="0" lIns="0" bIns="0" rIns="0">
            <a:spAutoFit/>
          </a:bodyPr>
          <a:lstStyle/>
          <a:p>
            <a:pPr algn="ctr">
              <a:lnSpc>
                <a:spcPts val="10080"/>
              </a:lnSpc>
            </a:pPr>
            <a:r>
              <a:rPr lang="en-US" b="true" sz="7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UI Material</a:t>
            </a:r>
          </a:p>
        </p:txBody>
      </p:sp>
      <p:sp>
        <p:nvSpPr>
          <p:cNvPr name="AutoShape 3" id="3"/>
          <p:cNvSpPr/>
          <p:nvPr/>
        </p:nvSpPr>
        <p:spPr>
          <a:xfrm flipH="true">
            <a:off x="1028700" y="2131695"/>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4128218" y="3532073"/>
            <a:ext cx="10031564" cy="6388523"/>
          </a:xfrm>
          <a:custGeom>
            <a:avLst/>
            <a:gdLst/>
            <a:ahLst/>
            <a:cxnLst/>
            <a:rect r="r" b="b" t="t" l="l"/>
            <a:pathLst>
              <a:path h="6388523" w="10031564">
                <a:moveTo>
                  <a:pt x="0" y="0"/>
                </a:moveTo>
                <a:lnTo>
                  <a:pt x="10031564" y="0"/>
                </a:lnTo>
                <a:lnTo>
                  <a:pt x="10031564" y="6388523"/>
                </a:lnTo>
                <a:lnTo>
                  <a:pt x="0" y="6388523"/>
                </a:lnTo>
                <a:lnTo>
                  <a:pt x="0" y="0"/>
                </a:lnTo>
                <a:close/>
              </a:path>
            </a:pathLst>
          </a:custGeom>
          <a:blipFill>
            <a:blip r:embed="rId2"/>
            <a:stretch>
              <a:fillRect l="0" t="0" r="0" b="0"/>
            </a:stretch>
          </a:blipFill>
        </p:spPr>
      </p:sp>
      <p:sp>
        <p:nvSpPr>
          <p:cNvPr name="TextBox 5" id="5"/>
          <p:cNvSpPr txBox="true"/>
          <p:nvPr/>
        </p:nvSpPr>
        <p:spPr>
          <a:xfrm rot="0">
            <a:off x="1028700" y="2440259"/>
            <a:ext cx="16021342" cy="787014"/>
          </a:xfrm>
          <a:prstGeom prst="rect">
            <a:avLst/>
          </a:prstGeom>
        </p:spPr>
        <p:txBody>
          <a:bodyPr anchor="t" rtlCol="false" tIns="0" lIns="0" bIns="0" rIns="0">
            <a:spAutoFit/>
          </a:bodyPr>
          <a:lstStyle/>
          <a:p>
            <a:pPr algn="l">
              <a:lnSpc>
                <a:spcPts val="3105"/>
              </a:lnSpc>
            </a:pPr>
            <a:r>
              <a:rPr lang="en-US" sz="2588">
                <a:solidFill>
                  <a:srgbClr val="000000"/>
                </a:solidFill>
                <a:latin typeface="Canva Sans"/>
                <a:ea typeface="Canva Sans"/>
                <a:cs typeface="Canva Sans"/>
                <a:sym typeface="Canva Sans"/>
              </a:rPr>
              <a:t>After we got our final results for data we moved to dashboard design and we done it by figma and we had searched for dashboard suitable to Intrusion Detection System and we got inspiration from that.</a:t>
            </a: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381073"/>
            <a:ext cx="8963850" cy="1052195"/>
          </a:xfrm>
          <a:prstGeom prst="rect">
            <a:avLst/>
          </a:prstGeom>
        </p:spPr>
        <p:txBody>
          <a:bodyPr anchor="t" rtlCol="false" tIns="0" lIns="0" bIns="0" rIns="0">
            <a:spAutoFit/>
          </a:bodyPr>
          <a:lstStyle/>
          <a:p>
            <a:pPr algn="ctr">
              <a:lnSpc>
                <a:spcPts val="8680"/>
              </a:lnSpc>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System Development</a:t>
            </a:r>
          </a:p>
        </p:txBody>
      </p:sp>
      <p:sp>
        <p:nvSpPr>
          <p:cNvPr name="AutoShape 3" id="3"/>
          <p:cNvSpPr/>
          <p:nvPr/>
        </p:nvSpPr>
        <p:spPr>
          <a:xfrm flipH="true">
            <a:off x="1028700" y="2587603"/>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TextBox 4" id="4"/>
          <p:cNvSpPr txBox="true"/>
          <p:nvPr/>
        </p:nvSpPr>
        <p:spPr>
          <a:xfrm rot="0">
            <a:off x="1028700" y="3484528"/>
            <a:ext cx="15459575" cy="2957830"/>
          </a:xfrm>
          <a:prstGeom prst="rect">
            <a:avLst/>
          </a:prstGeom>
        </p:spPr>
        <p:txBody>
          <a:bodyPr anchor="t" rtlCol="false" tIns="0" lIns="0" bIns="0" rIns="0">
            <a:spAutoFit/>
          </a:bodyPr>
          <a:lstStyle/>
          <a:p>
            <a:pPr algn="just">
              <a:lnSpc>
                <a:spcPts val="3919"/>
              </a:lnSpc>
              <a:spcBef>
                <a:spcPct val="0"/>
              </a:spcBef>
            </a:pPr>
            <a:r>
              <a:rPr lang="en-US" sz="2799">
                <a:solidFill>
                  <a:srgbClr val="000000"/>
                </a:solidFill>
                <a:latin typeface="Canva Sans"/>
                <a:ea typeface="Canva Sans"/>
                <a:cs typeface="Canva Sans"/>
                <a:sym typeface="Canva Sans"/>
              </a:rPr>
              <a:t>  </a:t>
            </a:r>
            <a:r>
              <a:rPr lang="en-US" sz="2799">
                <a:solidFill>
                  <a:srgbClr val="000000"/>
                </a:solidFill>
                <a:latin typeface="Canva Sans"/>
                <a:ea typeface="Canva Sans"/>
                <a:cs typeface="Canva Sans"/>
                <a:sym typeface="Canva Sans"/>
              </a:rPr>
              <a:t>The user interface f</a:t>
            </a:r>
            <a:r>
              <a:rPr lang="en-US" sz="2799">
                <a:solidFill>
                  <a:srgbClr val="000000"/>
                </a:solidFill>
                <a:latin typeface="Canva Sans"/>
                <a:ea typeface="Canva Sans"/>
                <a:cs typeface="Canva Sans"/>
                <a:sym typeface="Canva Sans"/>
              </a:rPr>
              <a:t>or security administrators, providing a real-time visual representation of network activity, detecting threats, and system performance.</a:t>
            </a:r>
          </a:p>
          <a:p>
            <a:pPr algn="just">
              <a:lnSpc>
                <a:spcPts val="3919"/>
              </a:lnSpc>
              <a:spcBef>
                <a:spcPct val="0"/>
              </a:spcBef>
            </a:pPr>
          </a:p>
          <a:p>
            <a:pPr algn="just">
              <a:lnSpc>
                <a:spcPts val="3919"/>
              </a:lnSpc>
              <a:spcBef>
                <a:spcPct val="0"/>
              </a:spcBef>
            </a:pPr>
            <a:r>
              <a:rPr lang="en-US" b="true" sz="2799">
                <a:solidFill>
                  <a:srgbClr val="000000"/>
                </a:solidFill>
                <a:latin typeface="Canva Sans Bold"/>
                <a:ea typeface="Canva Sans Bold"/>
                <a:cs typeface="Canva Sans Bold"/>
                <a:sym typeface="Canva Sans Bold"/>
              </a:rPr>
              <a:t>Main Technology:</a:t>
            </a:r>
          </a:p>
          <a:p>
            <a:pPr algn="just" marL="604519" indent="-302260" lvl="1">
              <a:lnSpc>
                <a:spcPts val="3919"/>
              </a:lnSpc>
              <a:buFont typeface="Arial"/>
              <a:buChar char="•"/>
            </a:pPr>
            <a:r>
              <a:rPr lang="en-US" sz="2799">
                <a:solidFill>
                  <a:srgbClr val="000000"/>
                </a:solidFill>
                <a:latin typeface="Canva Sans"/>
                <a:ea typeface="Canva Sans"/>
                <a:cs typeface="Canva Sans"/>
                <a:sym typeface="Canva Sans"/>
              </a:rPr>
              <a:t>Python Dash framework, leveraging its integration with Flask for backend data serving</a:t>
            </a:r>
          </a:p>
          <a:p>
            <a:pPr algn="just" marL="604519" indent="-302260" lvl="1">
              <a:lnSpc>
                <a:spcPts val="3919"/>
              </a:lnSpc>
              <a:buFont typeface="Arial"/>
              <a:buChar char="•"/>
            </a:pPr>
            <a:r>
              <a:rPr lang="en-US" sz="2799">
                <a:solidFill>
                  <a:srgbClr val="000000"/>
                </a:solidFill>
                <a:latin typeface="Canva Sans"/>
                <a:ea typeface="Canva Sans"/>
                <a:cs typeface="Canva Sans"/>
                <a:sym typeface="Canva Sans"/>
              </a:rPr>
              <a:t>React.js for interactive UI components, and Plotly.js for dynamic visualizations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04875"/>
            <a:ext cx="5202079" cy="1226820"/>
          </a:xfrm>
          <a:prstGeom prst="rect">
            <a:avLst/>
          </a:prstGeom>
        </p:spPr>
        <p:txBody>
          <a:bodyPr anchor="t" rtlCol="false" tIns="0" lIns="0" bIns="0" rIns="0">
            <a:spAutoFit/>
          </a:bodyPr>
          <a:lstStyle/>
          <a:p>
            <a:pPr algn="ctr">
              <a:lnSpc>
                <a:spcPts val="10080"/>
              </a:lnSpc>
            </a:pPr>
            <a:r>
              <a:rPr lang="en-US" b="true" sz="7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Dashboard</a:t>
            </a:r>
          </a:p>
        </p:txBody>
      </p:sp>
      <p:sp>
        <p:nvSpPr>
          <p:cNvPr name="AutoShape 3" id="3"/>
          <p:cNvSpPr/>
          <p:nvPr/>
        </p:nvSpPr>
        <p:spPr>
          <a:xfrm flipH="true">
            <a:off x="1028700" y="2131695"/>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2132122" y="2823441"/>
            <a:ext cx="14023757" cy="6434859"/>
          </a:xfrm>
          <a:custGeom>
            <a:avLst/>
            <a:gdLst/>
            <a:ahLst/>
            <a:cxnLst/>
            <a:rect r="r" b="b" t="t" l="l"/>
            <a:pathLst>
              <a:path h="6434859" w="14023757">
                <a:moveTo>
                  <a:pt x="0" y="0"/>
                </a:moveTo>
                <a:lnTo>
                  <a:pt x="14023756" y="0"/>
                </a:lnTo>
                <a:lnTo>
                  <a:pt x="14023756" y="6434859"/>
                </a:lnTo>
                <a:lnTo>
                  <a:pt x="0" y="6434859"/>
                </a:lnTo>
                <a:lnTo>
                  <a:pt x="0" y="0"/>
                </a:lnTo>
                <a:close/>
              </a:path>
            </a:pathLst>
          </a:custGeom>
          <a:blipFill>
            <a:blip r:embed="rId2"/>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559943"/>
            <a:ext cx="5202079" cy="1226820"/>
          </a:xfrm>
          <a:prstGeom prst="rect">
            <a:avLst/>
          </a:prstGeom>
        </p:spPr>
        <p:txBody>
          <a:bodyPr anchor="t" rtlCol="false" tIns="0" lIns="0" bIns="0" rIns="0">
            <a:spAutoFit/>
          </a:bodyPr>
          <a:lstStyle/>
          <a:p>
            <a:pPr algn="ctr">
              <a:lnSpc>
                <a:spcPts val="10080"/>
              </a:lnSpc>
            </a:pPr>
            <a:r>
              <a:rPr lang="en-US" b="true" sz="7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Dashboard</a:t>
            </a:r>
          </a:p>
        </p:txBody>
      </p:sp>
      <p:sp>
        <p:nvSpPr>
          <p:cNvPr name="AutoShape 3" id="3"/>
          <p:cNvSpPr/>
          <p:nvPr/>
        </p:nvSpPr>
        <p:spPr>
          <a:xfrm flipH="true">
            <a:off x="1028700" y="1786763"/>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490334" y="2498040"/>
            <a:ext cx="8478062" cy="3868116"/>
          </a:xfrm>
          <a:custGeom>
            <a:avLst/>
            <a:gdLst/>
            <a:ahLst/>
            <a:cxnLst/>
            <a:rect r="r" b="b" t="t" l="l"/>
            <a:pathLst>
              <a:path h="3868116" w="8478062">
                <a:moveTo>
                  <a:pt x="0" y="0"/>
                </a:moveTo>
                <a:lnTo>
                  <a:pt x="8478062" y="0"/>
                </a:lnTo>
                <a:lnTo>
                  <a:pt x="8478062" y="3868116"/>
                </a:lnTo>
                <a:lnTo>
                  <a:pt x="0" y="3868116"/>
                </a:lnTo>
                <a:lnTo>
                  <a:pt x="0" y="0"/>
                </a:lnTo>
                <a:close/>
              </a:path>
            </a:pathLst>
          </a:custGeom>
          <a:blipFill>
            <a:blip r:embed="rId2"/>
            <a:stretch>
              <a:fillRect l="0" t="0" r="0" b="0"/>
            </a:stretch>
          </a:blipFill>
        </p:spPr>
      </p:sp>
      <p:sp>
        <p:nvSpPr>
          <p:cNvPr name="Freeform 5" id="5"/>
          <p:cNvSpPr/>
          <p:nvPr/>
        </p:nvSpPr>
        <p:spPr>
          <a:xfrm flipH="false" flipV="false" rot="0">
            <a:off x="9296250" y="5390184"/>
            <a:ext cx="8478062" cy="3868116"/>
          </a:xfrm>
          <a:custGeom>
            <a:avLst/>
            <a:gdLst/>
            <a:ahLst/>
            <a:cxnLst/>
            <a:rect r="r" b="b" t="t" l="l"/>
            <a:pathLst>
              <a:path h="3868116" w="8478062">
                <a:moveTo>
                  <a:pt x="0" y="0"/>
                </a:moveTo>
                <a:lnTo>
                  <a:pt x="8478061" y="0"/>
                </a:lnTo>
                <a:lnTo>
                  <a:pt x="8478061" y="3868116"/>
                </a:lnTo>
                <a:lnTo>
                  <a:pt x="0" y="3868116"/>
                </a:lnTo>
                <a:lnTo>
                  <a:pt x="0" y="0"/>
                </a:lnTo>
                <a:close/>
              </a:path>
            </a:pathLst>
          </a:custGeom>
          <a:blipFill>
            <a:blip r:embed="rId3"/>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519363"/>
            <a:ext cx="5202079" cy="1226820"/>
          </a:xfrm>
          <a:prstGeom prst="rect">
            <a:avLst/>
          </a:prstGeom>
        </p:spPr>
        <p:txBody>
          <a:bodyPr anchor="t" rtlCol="false" tIns="0" lIns="0" bIns="0" rIns="0">
            <a:spAutoFit/>
          </a:bodyPr>
          <a:lstStyle/>
          <a:p>
            <a:pPr algn="ctr">
              <a:lnSpc>
                <a:spcPts val="10080"/>
              </a:lnSpc>
            </a:pPr>
            <a:r>
              <a:rPr lang="en-US" b="true" sz="7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Dashboard</a:t>
            </a:r>
          </a:p>
        </p:txBody>
      </p:sp>
      <p:sp>
        <p:nvSpPr>
          <p:cNvPr name="AutoShape 3" id="3"/>
          <p:cNvSpPr/>
          <p:nvPr/>
        </p:nvSpPr>
        <p:spPr>
          <a:xfrm flipH="true">
            <a:off x="1028700" y="1746183"/>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414745" y="2406036"/>
            <a:ext cx="8592682" cy="3920411"/>
          </a:xfrm>
          <a:custGeom>
            <a:avLst/>
            <a:gdLst/>
            <a:ahLst/>
            <a:cxnLst/>
            <a:rect r="r" b="b" t="t" l="l"/>
            <a:pathLst>
              <a:path h="3920411" w="8592682">
                <a:moveTo>
                  <a:pt x="0" y="0"/>
                </a:moveTo>
                <a:lnTo>
                  <a:pt x="8592682" y="0"/>
                </a:lnTo>
                <a:lnTo>
                  <a:pt x="8592682" y="3920411"/>
                </a:lnTo>
                <a:lnTo>
                  <a:pt x="0" y="3920411"/>
                </a:lnTo>
                <a:lnTo>
                  <a:pt x="0" y="0"/>
                </a:lnTo>
                <a:close/>
              </a:path>
            </a:pathLst>
          </a:custGeom>
          <a:blipFill>
            <a:blip r:embed="rId2"/>
            <a:stretch>
              <a:fillRect l="0" t="0" r="0" b="0"/>
            </a:stretch>
          </a:blipFill>
        </p:spPr>
      </p:sp>
      <p:sp>
        <p:nvSpPr>
          <p:cNvPr name="Freeform 5" id="5"/>
          <p:cNvSpPr/>
          <p:nvPr/>
        </p:nvSpPr>
        <p:spPr>
          <a:xfrm flipH="false" flipV="false" rot="0">
            <a:off x="9382982" y="5337889"/>
            <a:ext cx="8495699" cy="3920411"/>
          </a:xfrm>
          <a:custGeom>
            <a:avLst/>
            <a:gdLst/>
            <a:ahLst/>
            <a:cxnLst/>
            <a:rect r="r" b="b" t="t" l="l"/>
            <a:pathLst>
              <a:path h="3920411" w="8495699">
                <a:moveTo>
                  <a:pt x="0" y="0"/>
                </a:moveTo>
                <a:lnTo>
                  <a:pt x="8495699" y="0"/>
                </a:lnTo>
                <a:lnTo>
                  <a:pt x="8495699" y="3920411"/>
                </a:lnTo>
                <a:lnTo>
                  <a:pt x="0" y="3920411"/>
                </a:lnTo>
                <a:lnTo>
                  <a:pt x="0" y="0"/>
                </a:lnTo>
                <a:close/>
              </a:path>
            </a:pathLst>
          </a:custGeom>
          <a:blipFill>
            <a:blip r:embed="rId3"/>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78782"/>
            <a:ext cx="5202079" cy="1226820"/>
          </a:xfrm>
          <a:prstGeom prst="rect">
            <a:avLst/>
          </a:prstGeom>
        </p:spPr>
        <p:txBody>
          <a:bodyPr anchor="t" rtlCol="false" tIns="0" lIns="0" bIns="0" rIns="0">
            <a:spAutoFit/>
          </a:bodyPr>
          <a:lstStyle/>
          <a:p>
            <a:pPr algn="ctr">
              <a:lnSpc>
                <a:spcPts val="10080"/>
              </a:lnSpc>
            </a:pPr>
            <a:r>
              <a:rPr lang="en-US" b="true" sz="7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Dashboard</a:t>
            </a:r>
          </a:p>
        </p:txBody>
      </p:sp>
      <p:sp>
        <p:nvSpPr>
          <p:cNvPr name="AutoShape 3" id="3"/>
          <p:cNvSpPr/>
          <p:nvPr/>
        </p:nvSpPr>
        <p:spPr>
          <a:xfrm flipH="true">
            <a:off x="1028700" y="1705602"/>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609568" y="2407990"/>
            <a:ext cx="8377450" cy="3835301"/>
          </a:xfrm>
          <a:custGeom>
            <a:avLst/>
            <a:gdLst/>
            <a:ahLst/>
            <a:cxnLst/>
            <a:rect r="r" b="b" t="t" l="l"/>
            <a:pathLst>
              <a:path h="3835301" w="8377450">
                <a:moveTo>
                  <a:pt x="0" y="0"/>
                </a:moveTo>
                <a:lnTo>
                  <a:pt x="8377449" y="0"/>
                </a:lnTo>
                <a:lnTo>
                  <a:pt x="8377449" y="3835301"/>
                </a:lnTo>
                <a:lnTo>
                  <a:pt x="0" y="3835301"/>
                </a:lnTo>
                <a:lnTo>
                  <a:pt x="0" y="0"/>
                </a:lnTo>
                <a:close/>
              </a:path>
            </a:pathLst>
          </a:custGeom>
          <a:blipFill>
            <a:blip r:embed="rId2"/>
            <a:stretch>
              <a:fillRect l="0" t="0" r="0" b="0"/>
            </a:stretch>
          </a:blipFill>
        </p:spPr>
      </p:sp>
      <p:sp>
        <p:nvSpPr>
          <p:cNvPr name="Freeform 5" id="5"/>
          <p:cNvSpPr/>
          <p:nvPr/>
        </p:nvSpPr>
        <p:spPr>
          <a:xfrm flipH="false" flipV="false" rot="0">
            <a:off x="9374903" y="5440452"/>
            <a:ext cx="8377450" cy="3817848"/>
          </a:xfrm>
          <a:custGeom>
            <a:avLst/>
            <a:gdLst/>
            <a:ahLst/>
            <a:cxnLst/>
            <a:rect r="r" b="b" t="t" l="l"/>
            <a:pathLst>
              <a:path h="3817848" w="8377450">
                <a:moveTo>
                  <a:pt x="0" y="0"/>
                </a:moveTo>
                <a:lnTo>
                  <a:pt x="8377450" y="0"/>
                </a:lnTo>
                <a:lnTo>
                  <a:pt x="8377450" y="3817848"/>
                </a:lnTo>
                <a:lnTo>
                  <a:pt x="0" y="3817848"/>
                </a:lnTo>
                <a:lnTo>
                  <a:pt x="0" y="0"/>
                </a:lnTo>
                <a:close/>
              </a:path>
            </a:pathLst>
          </a:custGeom>
          <a:blipFill>
            <a:blip r:embed="rId3"/>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43852"/>
            <a:ext cx="5202079" cy="1226820"/>
          </a:xfrm>
          <a:prstGeom prst="rect">
            <a:avLst/>
          </a:prstGeom>
        </p:spPr>
        <p:txBody>
          <a:bodyPr anchor="t" rtlCol="false" tIns="0" lIns="0" bIns="0" rIns="0">
            <a:spAutoFit/>
          </a:bodyPr>
          <a:lstStyle/>
          <a:p>
            <a:pPr algn="ctr">
              <a:lnSpc>
                <a:spcPts val="10080"/>
              </a:lnSpc>
            </a:pPr>
            <a:r>
              <a:rPr lang="en-US" b="true" sz="7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Dashboard</a:t>
            </a:r>
          </a:p>
        </p:txBody>
      </p:sp>
      <p:sp>
        <p:nvSpPr>
          <p:cNvPr name="AutoShape 3" id="3"/>
          <p:cNvSpPr/>
          <p:nvPr/>
        </p:nvSpPr>
        <p:spPr>
          <a:xfrm flipH="true">
            <a:off x="1028700" y="1570673"/>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498196" y="2296763"/>
            <a:ext cx="8380867" cy="3823771"/>
          </a:xfrm>
          <a:custGeom>
            <a:avLst/>
            <a:gdLst/>
            <a:ahLst/>
            <a:cxnLst/>
            <a:rect r="r" b="b" t="t" l="l"/>
            <a:pathLst>
              <a:path h="3823771" w="8380867">
                <a:moveTo>
                  <a:pt x="0" y="0"/>
                </a:moveTo>
                <a:lnTo>
                  <a:pt x="8380867" y="0"/>
                </a:lnTo>
                <a:lnTo>
                  <a:pt x="8380867" y="3823770"/>
                </a:lnTo>
                <a:lnTo>
                  <a:pt x="0" y="3823770"/>
                </a:lnTo>
                <a:lnTo>
                  <a:pt x="0" y="0"/>
                </a:lnTo>
                <a:close/>
              </a:path>
            </a:pathLst>
          </a:custGeom>
          <a:blipFill>
            <a:blip r:embed="rId2"/>
            <a:stretch>
              <a:fillRect l="0" t="0" r="0" b="0"/>
            </a:stretch>
          </a:blipFill>
        </p:spPr>
      </p:sp>
      <p:sp>
        <p:nvSpPr>
          <p:cNvPr name="Freeform 5" id="5"/>
          <p:cNvSpPr/>
          <p:nvPr/>
        </p:nvSpPr>
        <p:spPr>
          <a:xfrm flipH="false" flipV="false" rot="0">
            <a:off x="9385272" y="5451990"/>
            <a:ext cx="8380867" cy="3806310"/>
          </a:xfrm>
          <a:custGeom>
            <a:avLst/>
            <a:gdLst/>
            <a:ahLst/>
            <a:cxnLst/>
            <a:rect r="r" b="b" t="t" l="l"/>
            <a:pathLst>
              <a:path h="3806310" w="8380867">
                <a:moveTo>
                  <a:pt x="0" y="0"/>
                </a:moveTo>
                <a:lnTo>
                  <a:pt x="8380867" y="0"/>
                </a:lnTo>
                <a:lnTo>
                  <a:pt x="8380867" y="3806310"/>
                </a:lnTo>
                <a:lnTo>
                  <a:pt x="0" y="3806310"/>
                </a:lnTo>
                <a:lnTo>
                  <a:pt x="0" y="0"/>
                </a:lnTo>
                <a:close/>
              </a:path>
            </a:pathLst>
          </a:custGeom>
          <a:blipFill>
            <a:blip r:embed="rId3"/>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24402" y="5493224"/>
            <a:ext cx="8318695" cy="3765076"/>
          </a:xfrm>
          <a:custGeom>
            <a:avLst/>
            <a:gdLst/>
            <a:ahLst/>
            <a:cxnLst/>
            <a:rect r="r" b="b" t="t" l="l"/>
            <a:pathLst>
              <a:path h="3765076" w="8318695">
                <a:moveTo>
                  <a:pt x="0" y="0"/>
                </a:moveTo>
                <a:lnTo>
                  <a:pt x="8318694" y="0"/>
                </a:lnTo>
                <a:lnTo>
                  <a:pt x="8318694" y="3765076"/>
                </a:lnTo>
                <a:lnTo>
                  <a:pt x="0" y="3765076"/>
                </a:lnTo>
                <a:lnTo>
                  <a:pt x="0" y="0"/>
                </a:lnTo>
                <a:close/>
              </a:path>
            </a:pathLst>
          </a:custGeom>
          <a:blipFill>
            <a:blip r:embed="rId2"/>
            <a:stretch>
              <a:fillRect l="0" t="0" r="0" b="0"/>
            </a:stretch>
          </a:blipFill>
        </p:spPr>
      </p:sp>
      <p:sp>
        <p:nvSpPr>
          <p:cNvPr name="Freeform 3" id="3"/>
          <p:cNvSpPr/>
          <p:nvPr/>
        </p:nvSpPr>
        <p:spPr>
          <a:xfrm flipH="false" flipV="false" rot="0">
            <a:off x="518486" y="2356896"/>
            <a:ext cx="8318695" cy="3821400"/>
          </a:xfrm>
          <a:custGeom>
            <a:avLst/>
            <a:gdLst/>
            <a:ahLst/>
            <a:cxnLst/>
            <a:rect r="r" b="b" t="t" l="l"/>
            <a:pathLst>
              <a:path h="3821400" w="8318695">
                <a:moveTo>
                  <a:pt x="0" y="0"/>
                </a:moveTo>
                <a:lnTo>
                  <a:pt x="8318695" y="0"/>
                </a:lnTo>
                <a:lnTo>
                  <a:pt x="8318695" y="3821401"/>
                </a:lnTo>
                <a:lnTo>
                  <a:pt x="0" y="3821401"/>
                </a:lnTo>
                <a:lnTo>
                  <a:pt x="0" y="0"/>
                </a:lnTo>
                <a:close/>
              </a:path>
            </a:pathLst>
          </a:custGeom>
          <a:blipFill>
            <a:blip r:embed="rId3"/>
            <a:stretch>
              <a:fillRect l="0" t="0" r="0" b="0"/>
            </a:stretch>
          </a:blipFill>
        </p:spPr>
      </p:sp>
      <p:sp>
        <p:nvSpPr>
          <p:cNvPr name="TextBox 4" id="4"/>
          <p:cNvSpPr txBox="true"/>
          <p:nvPr/>
        </p:nvSpPr>
        <p:spPr>
          <a:xfrm rot="0">
            <a:off x="1028700" y="343853"/>
            <a:ext cx="5202079" cy="1226820"/>
          </a:xfrm>
          <a:prstGeom prst="rect">
            <a:avLst/>
          </a:prstGeom>
        </p:spPr>
        <p:txBody>
          <a:bodyPr anchor="t" rtlCol="false" tIns="0" lIns="0" bIns="0" rIns="0">
            <a:spAutoFit/>
          </a:bodyPr>
          <a:lstStyle/>
          <a:p>
            <a:pPr algn="ctr">
              <a:lnSpc>
                <a:spcPts val="10080"/>
              </a:lnSpc>
            </a:pPr>
            <a:r>
              <a:rPr lang="en-US" b="true" sz="7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Dashboard</a:t>
            </a:r>
          </a:p>
        </p:txBody>
      </p:sp>
      <p:sp>
        <p:nvSpPr>
          <p:cNvPr name="AutoShape 5" id="5"/>
          <p:cNvSpPr/>
          <p:nvPr/>
        </p:nvSpPr>
        <p:spPr>
          <a:xfrm flipH="true">
            <a:off x="1028700" y="1570673"/>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43853"/>
            <a:ext cx="5202079" cy="1226820"/>
          </a:xfrm>
          <a:prstGeom prst="rect">
            <a:avLst/>
          </a:prstGeom>
        </p:spPr>
        <p:txBody>
          <a:bodyPr anchor="t" rtlCol="false" tIns="0" lIns="0" bIns="0" rIns="0">
            <a:spAutoFit/>
          </a:bodyPr>
          <a:lstStyle/>
          <a:p>
            <a:pPr algn="ctr">
              <a:lnSpc>
                <a:spcPts val="10080"/>
              </a:lnSpc>
            </a:pPr>
            <a:r>
              <a:rPr lang="en-US" b="true" sz="7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Dashboard</a:t>
            </a:r>
          </a:p>
        </p:txBody>
      </p:sp>
      <p:sp>
        <p:nvSpPr>
          <p:cNvPr name="AutoShape 3" id="3"/>
          <p:cNvSpPr/>
          <p:nvPr/>
        </p:nvSpPr>
        <p:spPr>
          <a:xfrm flipH="true">
            <a:off x="1028700" y="1570673"/>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Freeform 4" id="4"/>
          <p:cNvSpPr/>
          <p:nvPr/>
        </p:nvSpPr>
        <p:spPr>
          <a:xfrm flipH="false" flipV="false" rot="0">
            <a:off x="9348507" y="5390184"/>
            <a:ext cx="8449126" cy="3868116"/>
          </a:xfrm>
          <a:custGeom>
            <a:avLst/>
            <a:gdLst/>
            <a:ahLst/>
            <a:cxnLst/>
            <a:rect r="r" b="b" t="t" l="l"/>
            <a:pathLst>
              <a:path h="3868116" w="8449126">
                <a:moveTo>
                  <a:pt x="0" y="0"/>
                </a:moveTo>
                <a:lnTo>
                  <a:pt x="8449127" y="0"/>
                </a:lnTo>
                <a:lnTo>
                  <a:pt x="8449127" y="3868116"/>
                </a:lnTo>
                <a:lnTo>
                  <a:pt x="0" y="3868116"/>
                </a:lnTo>
                <a:lnTo>
                  <a:pt x="0" y="0"/>
                </a:lnTo>
                <a:close/>
              </a:path>
            </a:pathLst>
          </a:custGeom>
          <a:blipFill>
            <a:blip r:embed="rId2"/>
            <a:stretch>
              <a:fillRect l="0" t="0" r="0" b="0"/>
            </a:stretch>
          </a:blipFill>
        </p:spPr>
      </p:sp>
      <p:sp>
        <p:nvSpPr>
          <p:cNvPr name="Freeform 5" id="5"/>
          <p:cNvSpPr/>
          <p:nvPr/>
        </p:nvSpPr>
        <p:spPr>
          <a:xfrm flipH="false" flipV="false" rot="0">
            <a:off x="441141" y="2319287"/>
            <a:ext cx="8449126" cy="3854914"/>
          </a:xfrm>
          <a:custGeom>
            <a:avLst/>
            <a:gdLst/>
            <a:ahLst/>
            <a:cxnLst/>
            <a:rect r="r" b="b" t="t" l="l"/>
            <a:pathLst>
              <a:path h="3854914" w="8449126">
                <a:moveTo>
                  <a:pt x="0" y="0"/>
                </a:moveTo>
                <a:lnTo>
                  <a:pt x="8449126" y="0"/>
                </a:lnTo>
                <a:lnTo>
                  <a:pt x="8449126" y="3854914"/>
                </a:lnTo>
                <a:lnTo>
                  <a:pt x="0" y="3854914"/>
                </a:lnTo>
                <a:lnTo>
                  <a:pt x="0" y="0"/>
                </a:lnTo>
                <a:close/>
              </a:path>
            </a:pathLst>
          </a:custGeom>
          <a:blipFill>
            <a:blip r:embed="rId3"/>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711499"/>
            <a:ext cx="7455694" cy="1052195"/>
          </a:xfrm>
          <a:prstGeom prst="rect">
            <a:avLst/>
          </a:prstGeom>
        </p:spPr>
        <p:txBody>
          <a:bodyPr anchor="t" rtlCol="false" tIns="0" lIns="0" bIns="0" rIns="0">
            <a:spAutoFit/>
          </a:bodyPr>
          <a:lstStyle/>
          <a:p>
            <a:pPr algn="ctr">
              <a:lnSpc>
                <a:spcPts val="8680"/>
              </a:lnSpc>
              <a:spcBef>
                <a:spcPct val="0"/>
              </a:spcBef>
            </a:pPr>
            <a:r>
              <a:rPr lang="en-US" b="true" sz="6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System Outcomes</a:t>
            </a:r>
          </a:p>
        </p:txBody>
      </p:sp>
      <p:sp>
        <p:nvSpPr>
          <p:cNvPr name="AutoShape 3" id="3"/>
          <p:cNvSpPr/>
          <p:nvPr/>
        </p:nvSpPr>
        <p:spPr>
          <a:xfrm flipH="true">
            <a:off x="1028700" y="1856086"/>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grpSp>
        <p:nvGrpSpPr>
          <p:cNvPr name="Group 4" id="4"/>
          <p:cNvGrpSpPr/>
          <p:nvPr/>
        </p:nvGrpSpPr>
        <p:grpSpPr>
          <a:xfrm rot="0">
            <a:off x="9310762" y="3993426"/>
            <a:ext cx="8282062" cy="1999180"/>
            <a:chOff x="0" y="0"/>
            <a:chExt cx="11042749" cy="2665573"/>
          </a:xfrm>
        </p:grpSpPr>
        <p:sp>
          <p:nvSpPr>
            <p:cNvPr name="Freeform 5" id="5"/>
            <p:cNvSpPr/>
            <p:nvPr/>
          </p:nvSpPr>
          <p:spPr>
            <a:xfrm flipH="false" flipV="false" rot="0">
              <a:off x="0" y="0"/>
              <a:ext cx="11042749" cy="2665573"/>
            </a:xfrm>
            <a:custGeom>
              <a:avLst/>
              <a:gdLst/>
              <a:ahLst/>
              <a:cxnLst/>
              <a:rect r="r" b="b" t="t" l="l"/>
              <a:pathLst>
                <a:path h="2665573" w="11042749">
                  <a:moveTo>
                    <a:pt x="0" y="0"/>
                  </a:moveTo>
                  <a:lnTo>
                    <a:pt x="11042749" y="0"/>
                  </a:lnTo>
                  <a:lnTo>
                    <a:pt x="11042749" y="2665573"/>
                  </a:lnTo>
                  <a:lnTo>
                    <a:pt x="0" y="266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427629" y="538752"/>
              <a:ext cx="8187492" cy="1074420"/>
            </a:xfrm>
            <a:prstGeom prst="rect">
              <a:avLst/>
            </a:prstGeom>
          </p:spPr>
          <p:txBody>
            <a:bodyPr anchor="t" rtlCol="false" tIns="0" lIns="0" bIns="0" rIns="0">
              <a:spAutoFit/>
            </a:bodyPr>
            <a:lstStyle/>
            <a:p>
              <a:pPr algn="l">
                <a:lnSpc>
                  <a:spcPts val="3359"/>
                </a:lnSpc>
              </a:pPr>
              <a:r>
                <a:rPr lang="en-US" b="true" sz="2400">
                  <a:solidFill>
                    <a:srgbClr val="000000"/>
                  </a:solidFill>
                  <a:latin typeface="Canva Sans Bold"/>
                  <a:ea typeface="Canva Sans Bold"/>
                  <a:cs typeface="Canva Sans Bold"/>
                  <a:sym typeface="Canva Sans Bold"/>
                </a:rPr>
                <a:t>Real-Time Alerts: </a:t>
              </a:r>
              <a:r>
                <a:rPr lang="en-US" sz="2400">
                  <a:solidFill>
                    <a:srgbClr val="000000"/>
                  </a:solidFill>
                  <a:latin typeface="Canva Sans"/>
                  <a:ea typeface="Canva Sans"/>
                  <a:cs typeface="Canva Sans"/>
                  <a:sym typeface="Canva Sans"/>
                </a:rPr>
                <a:t>It shows threats exactly when they happen with "Instant Alerts".</a:t>
              </a:r>
            </a:p>
          </p:txBody>
        </p:sp>
      </p:grpSp>
      <p:grpSp>
        <p:nvGrpSpPr>
          <p:cNvPr name="Group 7" id="7"/>
          <p:cNvGrpSpPr/>
          <p:nvPr/>
        </p:nvGrpSpPr>
        <p:grpSpPr>
          <a:xfrm rot="0">
            <a:off x="552679" y="2440629"/>
            <a:ext cx="8282062" cy="1999180"/>
            <a:chOff x="0" y="0"/>
            <a:chExt cx="11042749" cy="2665573"/>
          </a:xfrm>
        </p:grpSpPr>
        <p:sp>
          <p:nvSpPr>
            <p:cNvPr name="Freeform 8" id="8"/>
            <p:cNvSpPr/>
            <p:nvPr/>
          </p:nvSpPr>
          <p:spPr>
            <a:xfrm flipH="false" flipV="false" rot="0">
              <a:off x="0" y="0"/>
              <a:ext cx="11042749" cy="2665573"/>
            </a:xfrm>
            <a:custGeom>
              <a:avLst/>
              <a:gdLst/>
              <a:ahLst/>
              <a:cxnLst/>
              <a:rect r="r" b="b" t="t" l="l"/>
              <a:pathLst>
                <a:path h="2665573" w="11042749">
                  <a:moveTo>
                    <a:pt x="0" y="0"/>
                  </a:moveTo>
                  <a:lnTo>
                    <a:pt x="11042749" y="0"/>
                  </a:lnTo>
                  <a:lnTo>
                    <a:pt x="11042749" y="2665573"/>
                  </a:lnTo>
                  <a:lnTo>
                    <a:pt x="0" y="266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858604" y="564152"/>
              <a:ext cx="9325542" cy="1074420"/>
            </a:xfrm>
            <a:prstGeom prst="rect">
              <a:avLst/>
            </a:prstGeom>
          </p:spPr>
          <p:txBody>
            <a:bodyPr anchor="t" rtlCol="false" tIns="0" lIns="0" bIns="0" rIns="0">
              <a:spAutoFit/>
            </a:bodyPr>
            <a:lstStyle/>
            <a:p>
              <a:pPr algn="l" marL="0" indent="0" lvl="0">
                <a:lnSpc>
                  <a:spcPts val="3359"/>
                </a:lnSpc>
                <a:spcBef>
                  <a:spcPct val="0"/>
                </a:spcBef>
              </a:pPr>
              <a:r>
                <a:rPr lang="en-US" b="true" sz="2400" strike="noStrike" u="none">
                  <a:solidFill>
                    <a:srgbClr val="000000"/>
                  </a:solidFill>
                  <a:latin typeface="Canva Sans Bold"/>
                  <a:ea typeface="Canva Sans Bold"/>
                  <a:cs typeface="Canva Sans Bold"/>
                  <a:sym typeface="Canva Sans Bold"/>
                </a:rPr>
                <a:t>Easy to Understand: </a:t>
              </a:r>
              <a:r>
                <a:rPr lang="en-US" sz="2400" strike="noStrike" u="none">
                  <a:solidFill>
                    <a:srgbClr val="000000"/>
                  </a:solidFill>
                  <a:latin typeface="Canva Sans"/>
                  <a:ea typeface="Canva Sans"/>
                  <a:cs typeface="Canva Sans"/>
                  <a:sym typeface="Canva Sans"/>
                </a:rPr>
                <a:t>It changes complex network data into simple charts and colors.</a:t>
              </a:r>
            </a:p>
          </p:txBody>
        </p:sp>
      </p:grpSp>
      <p:grpSp>
        <p:nvGrpSpPr>
          <p:cNvPr name="Group 10" id="10"/>
          <p:cNvGrpSpPr/>
          <p:nvPr/>
        </p:nvGrpSpPr>
        <p:grpSpPr>
          <a:xfrm rot="0">
            <a:off x="8834741" y="7320123"/>
            <a:ext cx="8758083" cy="2114085"/>
            <a:chOff x="0" y="0"/>
            <a:chExt cx="11677445" cy="2818780"/>
          </a:xfrm>
        </p:grpSpPr>
        <p:sp>
          <p:nvSpPr>
            <p:cNvPr name="Freeform 11" id="11"/>
            <p:cNvSpPr/>
            <p:nvPr/>
          </p:nvSpPr>
          <p:spPr>
            <a:xfrm flipH="false" flipV="false" rot="0">
              <a:off x="0" y="0"/>
              <a:ext cx="11677445" cy="2818780"/>
            </a:xfrm>
            <a:custGeom>
              <a:avLst/>
              <a:gdLst/>
              <a:ahLst/>
              <a:cxnLst/>
              <a:rect r="r" b="b" t="t" l="l"/>
              <a:pathLst>
                <a:path h="2818780" w="11677445">
                  <a:moveTo>
                    <a:pt x="0" y="0"/>
                  </a:moveTo>
                  <a:lnTo>
                    <a:pt x="11677445" y="0"/>
                  </a:lnTo>
                  <a:lnTo>
                    <a:pt x="11677445" y="2818780"/>
                  </a:lnTo>
                  <a:lnTo>
                    <a:pt x="0" y="2818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460415" y="298140"/>
              <a:ext cx="8756615" cy="2222500"/>
            </a:xfrm>
            <a:prstGeom prst="rect">
              <a:avLst/>
            </a:prstGeom>
          </p:spPr>
          <p:txBody>
            <a:bodyPr anchor="t" rtlCol="false" tIns="0" lIns="0" bIns="0" rIns="0">
              <a:spAutoFit/>
            </a:bodyPr>
            <a:lstStyle/>
            <a:p>
              <a:pPr algn="l" marL="0" indent="0" lvl="1">
                <a:lnSpc>
                  <a:spcPts val="2639"/>
                </a:lnSpc>
              </a:pPr>
              <a:r>
                <a:rPr lang="en-US" b="true" sz="2199" strike="noStrike" u="none">
                  <a:solidFill>
                    <a:srgbClr val="000000"/>
                  </a:solidFill>
                  <a:latin typeface="Canva Sans Bold"/>
                  <a:ea typeface="Canva Sans Bold"/>
                  <a:cs typeface="Canva Sans Bold"/>
                  <a:sym typeface="Canva Sans Bold"/>
                </a:rPr>
                <a:t>Knowing the Attacker: </a:t>
              </a:r>
              <a:r>
                <a:rPr lang="en-US" sz="2199" strike="noStrike" u="none">
                  <a:solidFill>
                    <a:srgbClr val="000000"/>
                  </a:solidFill>
                  <a:latin typeface="Canva Sans"/>
                  <a:ea typeface="Canva Sans"/>
                  <a:cs typeface="Canva Sans"/>
                  <a:sym typeface="Canva Sans"/>
                </a:rPr>
                <a:t>It shows where the attack is coming from and the attacker's IP address.</a:t>
              </a:r>
            </a:p>
            <a:p>
              <a:pPr algn="l" marL="0" indent="0" lvl="1">
                <a:lnSpc>
                  <a:spcPts val="2639"/>
                </a:lnSpc>
              </a:pPr>
              <a:r>
                <a:rPr lang="en-US" sz="2199" strike="noStrike" u="none">
                  <a:solidFill>
                    <a:srgbClr val="000000"/>
                  </a:solidFill>
                  <a:latin typeface="Canva Sans"/>
                  <a:ea typeface="Canva Sans"/>
                  <a:cs typeface="Canva Sans"/>
                  <a:sym typeface="Canva Sans"/>
                </a:rPr>
                <a:t>Fast Action: It helps the admin take a quick decision to stop the threat, like using a "Firewall" button.</a:t>
              </a:r>
            </a:p>
          </p:txBody>
        </p:sp>
      </p:grpSp>
      <p:grpSp>
        <p:nvGrpSpPr>
          <p:cNvPr name="Group 13" id="13"/>
          <p:cNvGrpSpPr/>
          <p:nvPr/>
        </p:nvGrpSpPr>
        <p:grpSpPr>
          <a:xfrm rot="0">
            <a:off x="552679" y="5320943"/>
            <a:ext cx="8282062" cy="1999180"/>
            <a:chOff x="0" y="0"/>
            <a:chExt cx="11042749" cy="2665573"/>
          </a:xfrm>
        </p:grpSpPr>
        <p:sp>
          <p:nvSpPr>
            <p:cNvPr name="Freeform 14" id="14"/>
            <p:cNvSpPr/>
            <p:nvPr/>
          </p:nvSpPr>
          <p:spPr>
            <a:xfrm flipH="false" flipV="false" rot="0">
              <a:off x="0" y="0"/>
              <a:ext cx="11042749" cy="2665573"/>
            </a:xfrm>
            <a:custGeom>
              <a:avLst/>
              <a:gdLst/>
              <a:ahLst/>
              <a:cxnLst/>
              <a:rect r="r" b="b" t="t" l="l"/>
              <a:pathLst>
                <a:path h="2665573" w="11042749">
                  <a:moveTo>
                    <a:pt x="0" y="0"/>
                  </a:moveTo>
                  <a:lnTo>
                    <a:pt x="11042749" y="0"/>
                  </a:lnTo>
                  <a:lnTo>
                    <a:pt x="11042749" y="2665573"/>
                  </a:lnTo>
                  <a:lnTo>
                    <a:pt x="0" y="2665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322383" y="497127"/>
              <a:ext cx="10137318" cy="1633220"/>
            </a:xfrm>
            <a:prstGeom prst="rect">
              <a:avLst/>
            </a:prstGeom>
          </p:spPr>
          <p:txBody>
            <a:bodyPr anchor="t" rtlCol="false" tIns="0" lIns="0" bIns="0" rIns="0">
              <a:spAutoFit/>
            </a:bodyPr>
            <a:lstStyle/>
            <a:p>
              <a:pPr algn="l" marL="0" indent="0" lvl="1">
                <a:lnSpc>
                  <a:spcPts val="3359"/>
                </a:lnSpc>
                <a:spcBef>
                  <a:spcPct val="0"/>
                </a:spcBef>
              </a:pPr>
              <a:r>
                <a:rPr lang="en-US" b="true" sz="2400" strike="noStrike" u="none">
                  <a:solidFill>
                    <a:srgbClr val="000000"/>
                  </a:solidFill>
                  <a:latin typeface="Canva Sans Bold"/>
                  <a:ea typeface="Canva Sans Bold"/>
                  <a:cs typeface="Canva Sans Bold"/>
                  <a:sym typeface="Canva Sans Bold"/>
                </a:rPr>
                <a:t>Knowing the Attack:</a:t>
              </a:r>
              <a:r>
                <a:rPr lang="en-US" sz="2400" strike="noStrike" u="none">
                  <a:solidFill>
                    <a:srgbClr val="000000"/>
                  </a:solidFill>
                  <a:latin typeface="Canva Sans"/>
                  <a:ea typeface="Canva Sans"/>
                  <a:cs typeface="Canva Sans"/>
                  <a:sym typeface="Canva Sans"/>
                </a:rPr>
                <a:t> It doesn't just say "Danger"; it tells you the exact type of attack (like Ransomware or Phishing).</a:t>
              </a: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2213330" y="1636712"/>
          <a:ext cx="13861340" cy="8229600"/>
        </p:xfrm>
        <a:graphic>
          <a:graphicData uri="http://schemas.openxmlformats.org/presentationml/2006/ole">
            <p:oleObj imgW="16624300" imgH="10998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5311735" y="258763"/>
            <a:ext cx="7664529" cy="1377949"/>
          </a:xfrm>
          <a:prstGeom prst="rect">
            <a:avLst/>
          </a:prstGeom>
        </p:spPr>
        <p:txBody>
          <a:bodyPr anchor="t" rtlCol="false" tIns="0" lIns="0" bIns="0" rIns="0">
            <a:spAutoFit/>
          </a:bodyPr>
          <a:lstStyle/>
          <a:p>
            <a:pPr algn="ctr">
              <a:lnSpc>
                <a:spcPts val="11200"/>
              </a:lnSpc>
              <a:spcBef>
                <a:spcPct val="0"/>
              </a:spcBef>
            </a:pPr>
            <a:r>
              <a:rPr lang="en-US" b="true" sz="80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G</a:t>
            </a:r>
            <a:r>
              <a:rPr lang="en-US" b="true" sz="80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aps We Solve</a:t>
            </a:r>
          </a:p>
        </p:txBody>
      </p:sp>
    </p:spTree>
  </p:cSld>
  <p:clrMapOvr>
    <a:masterClrMapping/>
  </p:clrMapOvr>
</p:sld>
</file>

<file path=ppt/slides/slide4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676592" y="1901176"/>
            <a:ext cx="10934815" cy="3943262"/>
            <a:chOff x="0" y="0"/>
            <a:chExt cx="14579754" cy="5257682"/>
          </a:xfrm>
        </p:grpSpPr>
        <p:grpSp>
          <p:nvGrpSpPr>
            <p:cNvPr name="Group 3" id="3"/>
            <p:cNvGrpSpPr/>
            <p:nvPr/>
          </p:nvGrpSpPr>
          <p:grpSpPr>
            <a:xfrm rot="0">
              <a:off x="0" y="0"/>
              <a:ext cx="3446771" cy="4010788"/>
              <a:chOff x="0" y="0"/>
              <a:chExt cx="698500" cy="812800"/>
            </a:xfrm>
          </p:grpSpPr>
          <p:sp>
            <p:nvSpPr>
              <p:cNvPr name="Freeform 4" id="4"/>
              <p:cNvSpPr/>
              <p:nvPr/>
            </p:nvSpPr>
            <p:spPr>
              <a:xfrm flipH="false" flipV="false" rot="0">
                <a:off x="0" y="20827"/>
                <a:ext cx="698500" cy="771146"/>
              </a:xfrm>
              <a:custGeom>
                <a:avLst/>
                <a:gdLst/>
                <a:ahLst/>
                <a:cxnLst/>
                <a:rect r="r" b="b" t="t" l="l"/>
                <a:pathLst>
                  <a:path h="771146" w="698500">
                    <a:moveTo>
                      <a:pt x="415987" y="18002"/>
                    </a:moveTo>
                    <a:lnTo>
                      <a:pt x="631763" y="143544"/>
                    </a:lnTo>
                    <a:cubicBezTo>
                      <a:pt x="673081" y="167584"/>
                      <a:pt x="698500" y="211781"/>
                      <a:pt x="698500" y="259584"/>
                    </a:cubicBezTo>
                    <a:lnTo>
                      <a:pt x="698500" y="511562"/>
                    </a:lnTo>
                    <a:cubicBezTo>
                      <a:pt x="698500" y="559365"/>
                      <a:pt x="673081" y="603562"/>
                      <a:pt x="631763" y="627602"/>
                    </a:cubicBezTo>
                    <a:lnTo>
                      <a:pt x="415987" y="753144"/>
                    </a:lnTo>
                    <a:cubicBezTo>
                      <a:pt x="374733" y="777147"/>
                      <a:pt x="323767" y="777147"/>
                      <a:pt x="282513" y="753144"/>
                    </a:cubicBezTo>
                    <a:lnTo>
                      <a:pt x="66737" y="627602"/>
                    </a:lnTo>
                    <a:cubicBezTo>
                      <a:pt x="25419" y="603562"/>
                      <a:pt x="0" y="559365"/>
                      <a:pt x="0" y="511562"/>
                    </a:cubicBezTo>
                    <a:lnTo>
                      <a:pt x="0" y="259584"/>
                    </a:lnTo>
                    <a:cubicBezTo>
                      <a:pt x="0" y="211781"/>
                      <a:pt x="25419" y="167584"/>
                      <a:pt x="66737" y="143544"/>
                    </a:cubicBezTo>
                    <a:lnTo>
                      <a:pt x="282513" y="18002"/>
                    </a:lnTo>
                    <a:cubicBezTo>
                      <a:pt x="323767" y="-6001"/>
                      <a:pt x="374733" y="-6001"/>
                      <a:pt x="415987" y="18002"/>
                    </a:cubicBezTo>
                    <a:close/>
                  </a:path>
                </a:pathLst>
              </a:custGeom>
              <a:solidFill>
                <a:srgbClr val="FFFDF2"/>
              </a:solidFill>
              <a:ln w="95250" cap="rnd">
                <a:solidFill>
                  <a:srgbClr val="36B060"/>
                </a:solidFill>
                <a:prstDash val="solid"/>
                <a:round/>
              </a:ln>
            </p:spPr>
          </p:sp>
          <p:sp>
            <p:nvSpPr>
              <p:cNvPr name="TextBox 5" id="5"/>
              <p:cNvSpPr txBox="true"/>
              <p:nvPr/>
            </p:nvSpPr>
            <p:spPr>
              <a:xfrm>
                <a:off x="0" y="101600"/>
                <a:ext cx="698500" cy="571500"/>
              </a:xfrm>
              <a:prstGeom prst="rect">
                <a:avLst/>
              </a:prstGeom>
            </p:spPr>
            <p:txBody>
              <a:bodyPr anchor="ctr" rtlCol="false" tIns="45512" lIns="45512" bIns="45512" rIns="45512"/>
              <a:lstStyle/>
              <a:p>
                <a:pPr algn="ctr">
                  <a:lnSpc>
                    <a:spcPts val="2660"/>
                  </a:lnSpc>
                  <a:spcBef>
                    <a:spcPct val="0"/>
                  </a:spcBef>
                </a:pPr>
              </a:p>
            </p:txBody>
          </p:sp>
        </p:grpSp>
        <p:grpSp>
          <p:nvGrpSpPr>
            <p:cNvPr name="Group 6" id="6"/>
            <p:cNvGrpSpPr/>
            <p:nvPr/>
          </p:nvGrpSpPr>
          <p:grpSpPr>
            <a:xfrm rot="0">
              <a:off x="3710994" y="1246894"/>
              <a:ext cx="3446771" cy="4010788"/>
              <a:chOff x="0" y="0"/>
              <a:chExt cx="698500" cy="812800"/>
            </a:xfrm>
          </p:grpSpPr>
          <p:sp>
            <p:nvSpPr>
              <p:cNvPr name="Freeform 7" id="7"/>
              <p:cNvSpPr/>
              <p:nvPr/>
            </p:nvSpPr>
            <p:spPr>
              <a:xfrm flipH="false" flipV="false" rot="0">
                <a:off x="0" y="20827"/>
                <a:ext cx="698500" cy="771146"/>
              </a:xfrm>
              <a:custGeom>
                <a:avLst/>
                <a:gdLst/>
                <a:ahLst/>
                <a:cxnLst/>
                <a:rect r="r" b="b" t="t" l="l"/>
                <a:pathLst>
                  <a:path h="771146" w="698500">
                    <a:moveTo>
                      <a:pt x="415987" y="18002"/>
                    </a:moveTo>
                    <a:lnTo>
                      <a:pt x="631763" y="143544"/>
                    </a:lnTo>
                    <a:cubicBezTo>
                      <a:pt x="673081" y="167584"/>
                      <a:pt x="698500" y="211781"/>
                      <a:pt x="698500" y="259584"/>
                    </a:cubicBezTo>
                    <a:lnTo>
                      <a:pt x="698500" y="511562"/>
                    </a:lnTo>
                    <a:cubicBezTo>
                      <a:pt x="698500" y="559365"/>
                      <a:pt x="673081" y="603562"/>
                      <a:pt x="631763" y="627602"/>
                    </a:cubicBezTo>
                    <a:lnTo>
                      <a:pt x="415987" y="753144"/>
                    </a:lnTo>
                    <a:cubicBezTo>
                      <a:pt x="374733" y="777147"/>
                      <a:pt x="323767" y="777147"/>
                      <a:pt x="282513" y="753144"/>
                    </a:cubicBezTo>
                    <a:lnTo>
                      <a:pt x="66737" y="627602"/>
                    </a:lnTo>
                    <a:cubicBezTo>
                      <a:pt x="25419" y="603562"/>
                      <a:pt x="0" y="559365"/>
                      <a:pt x="0" y="511562"/>
                    </a:cubicBezTo>
                    <a:lnTo>
                      <a:pt x="0" y="259584"/>
                    </a:lnTo>
                    <a:cubicBezTo>
                      <a:pt x="0" y="211781"/>
                      <a:pt x="25419" y="167584"/>
                      <a:pt x="66737" y="143544"/>
                    </a:cubicBezTo>
                    <a:lnTo>
                      <a:pt x="282513" y="18002"/>
                    </a:lnTo>
                    <a:cubicBezTo>
                      <a:pt x="323767" y="-6001"/>
                      <a:pt x="374733" y="-6001"/>
                      <a:pt x="415987" y="18002"/>
                    </a:cubicBezTo>
                    <a:close/>
                  </a:path>
                </a:pathLst>
              </a:custGeom>
              <a:solidFill>
                <a:srgbClr val="FFFDF2"/>
              </a:solidFill>
              <a:ln w="95250" cap="rnd">
                <a:solidFill>
                  <a:srgbClr val="36B060"/>
                </a:solidFill>
                <a:prstDash val="solid"/>
                <a:round/>
              </a:ln>
            </p:spPr>
          </p:sp>
          <p:sp>
            <p:nvSpPr>
              <p:cNvPr name="TextBox 8" id="8"/>
              <p:cNvSpPr txBox="true"/>
              <p:nvPr/>
            </p:nvSpPr>
            <p:spPr>
              <a:xfrm>
                <a:off x="0" y="101600"/>
                <a:ext cx="698500" cy="571500"/>
              </a:xfrm>
              <a:prstGeom prst="rect">
                <a:avLst/>
              </a:prstGeom>
            </p:spPr>
            <p:txBody>
              <a:bodyPr anchor="ctr" rtlCol="false" tIns="45512" lIns="45512" bIns="45512" rIns="45512"/>
              <a:lstStyle/>
              <a:p>
                <a:pPr algn="ctr">
                  <a:lnSpc>
                    <a:spcPts val="2660"/>
                  </a:lnSpc>
                  <a:spcBef>
                    <a:spcPct val="0"/>
                  </a:spcBef>
                </a:pPr>
              </a:p>
            </p:txBody>
          </p:sp>
        </p:grpSp>
        <p:grpSp>
          <p:nvGrpSpPr>
            <p:cNvPr name="Group 9" id="9"/>
            <p:cNvGrpSpPr/>
            <p:nvPr/>
          </p:nvGrpSpPr>
          <p:grpSpPr>
            <a:xfrm rot="0">
              <a:off x="7421988" y="0"/>
              <a:ext cx="3446771" cy="4010788"/>
              <a:chOff x="0" y="0"/>
              <a:chExt cx="698500" cy="812800"/>
            </a:xfrm>
          </p:grpSpPr>
          <p:sp>
            <p:nvSpPr>
              <p:cNvPr name="Freeform 10" id="10"/>
              <p:cNvSpPr/>
              <p:nvPr/>
            </p:nvSpPr>
            <p:spPr>
              <a:xfrm flipH="false" flipV="false" rot="0">
                <a:off x="0" y="20827"/>
                <a:ext cx="698500" cy="771146"/>
              </a:xfrm>
              <a:custGeom>
                <a:avLst/>
                <a:gdLst/>
                <a:ahLst/>
                <a:cxnLst/>
                <a:rect r="r" b="b" t="t" l="l"/>
                <a:pathLst>
                  <a:path h="771146" w="698500">
                    <a:moveTo>
                      <a:pt x="415987" y="18002"/>
                    </a:moveTo>
                    <a:lnTo>
                      <a:pt x="631763" y="143544"/>
                    </a:lnTo>
                    <a:cubicBezTo>
                      <a:pt x="673081" y="167584"/>
                      <a:pt x="698500" y="211781"/>
                      <a:pt x="698500" y="259584"/>
                    </a:cubicBezTo>
                    <a:lnTo>
                      <a:pt x="698500" y="511562"/>
                    </a:lnTo>
                    <a:cubicBezTo>
                      <a:pt x="698500" y="559365"/>
                      <a:pt x="673081" y="603562"/>
                      <a:pt x="631763" y="627602"/>
                    </a:cubicBezTo>
                    <a:lnTo>
                      <a:pt x="415987" y="753144"/>
                    </a:lnTo>
                    <a:cubicBezTo>
                      <a:pt x="374733" y="777147"/>
                      <a:pt x="323767" y="777147"/>
                      <a:pt x="282513" y="753144"/>
                    </a:cubicBezTo>
                    <a:lnTo>
                      <a:pt x="66737" y="627602"/>
                    </a:lnTo>
                    <a:cubicBezTo>
                      <a:pt x="25419" y="603562"/>
                      <a:pt x="0" y="559365"/>
                      <a:pt x="0" y="511562"/>
                    </a:cubicBezTo>
                    <a:lnTo>
                      <a:pt x="0" y="259584"/>
                    </a:lnTo>
                    <a:cubicBezTo>
                      <a:pt x="0" y="211781"/>
                      <a:pt x="25419" y="167584"/>
                      <a:pt x="66737" y="143544"/>
                    </a:cubicBezTo>
                    <a:lnTo>
                      <a:pt x="282513" y="18002"/>
                    </a:lnTo>
                    <a:cubicBezTo>
                      <a:pt x="323767" y="-6001"/>
                      <a:pt x="374733" y="-6001"/>
                      <a:pt x="415987" y="18002"/>
                    </a:cubicBezTo>
                    <a:close/>
                  </a:path>
                </a:pathLst>
              </a:custGeom>
              <a:solidFill>
                <a:srgbClr val="FFFDF2"/>
              </a:solidFill>
              <a:ln w="95250" cap="rnd">
                <a:solidFill>
                  <a:srgbClr val="8363B8"/>
                </a:solidFill>
                <a:prstDash val="solid"/>
                <a:round/>
              </a:ln>
            </p:spPr>
          </p:sp>
          <p:sp>
            <p:nvSpPr>
              <p:cNvPr name="TextBox 11" id="11"/>
              <p:cNvSpPr txBox="true"/>
              <p:nvPr/>
            </p:nvSpPr>
            <p:spPr>
              <a:xfrm>
                <a:off x="0" y="101600"/>
                <a:ext cx="698500" cy="571500"/>
              </a:xfrm>
              <a:prstGeom prst="rect">
                <a:avLst/>
              </a:prstGeom>
            </p:spPr>
            <p:txBody>
              <a:bodyPr anchor="ctr" rtlCol="false" tIns="45512" lIns="45512" bIns="45512" rIns="45512"/>
              <a:lstStyle/>
              <a:p>
                <a:pPr algn="ctr">
                  <a:lnSpc>
                    <a:spcPts val="2660"/>
                  </a:lnSpc>
                  <a:spcBef>
                    <a:spcPct val="0"/>
                  </a:spcBef>
                </a:pPr>
              </a:p>
            </p:txBody>
          </p:sp>
        </p:grpSp>
        <p:grpSp>
          <p:nvGrpSpPr>
            <p:cNvPr name="Group 12" id="12"/>
            <p:cNvGrpSpPr/>
            <p:nvPr/>
          </p:nvGrpSpPr>
          <p:grpSpPr>
            <a:xfrm rot="0">
              <a:off x="11132982" y="1246894"/>
              <a:ext cx="3446771" cy="4010788"/>
              <a:chOff x="0" y="0"/>
              <a:chExt cx="698500" cy="812800"/>
            </a:xfrm>
          </p:grpSpPr>
          <p:sp>
            <p:nvSpPr>
              <p:cNvPr name="Freeform 13" id="13"/>
              <p:cNvSpPr/>
              <p:nvPr/>
            </p:nvSpPr>
            <p:spPr>
              <a:xfrm flipH="false" flipV="false" rot="0">
                <a:off x="0" y="20827"/>
                <a:ext cx="698500" cy="771146"/>
              </a:xfrm>
              <a:custGeom>
                <a:avLst/>
                <a:gdLst/>
                <a:ahLst/>
                <a:cxnLst/>
                <a:rect r="r" b="b" t="t" l="l"/>
                <a:pathLst>
                  <a:path h="771146" w="698500">
                    <a:moveTo>
                      <a:pt x="415987" y="18002"/>
                    </a:moveTo>
                    <a:lnTo>
                      <a:pt x="631763" y="143544"/>
                    </a:lnTo>
                    <a:cubicBezTo>
                      <a:pt x="673081" y="167584"/>
                      <a:pt x="698500" y="211781"/>
                      <a:pt x="698500" y="259584"/>
                    </a:cubicBezTo>
                    <a:lnTo>
                      <a:pt x="698500" y="511562"/>
                    </a:lnTo>
                    <a:cubicBezTo>
                      <a:pt x="698500" y="559365"/>
                      <a:pt x="673081" y="603562"/>
                      <a:pt x="631763" y="627602"/>
                    </a:cubicBezTo>
                    <a:lnTo>
                      <a:pt x="415987" y="753144"/>
                    </a:lnTo>
                    <a:cubicBezTo>
                      <a:pt x="374733" y="777147"/>
                      <a:pt x="323767" y="777147"/>
                      <a:pt x="282513" y="753144"/>
                    </a:cubicBezTo>
                    <a:lnTo>
                      <a:pt x="66737" y="627602"/>
                    </a:lnTo>
                    <a:cubicBezTo>
                      <a:pt x="25419" y="603562"/>
                      <a:pt x="0" y="559365"/>
                      <a:pt x="0" y="511562"/>
                    </a:cubicBezTo>
                    <a:lnTo>
                      <a:pt x="0" y="259584"/>
                    </a:lnTo>
                    <a:cubicBezTo>
                      <a:pt x="0" y="211781"/>
                      <a:pt x="25419" y="167584"/>
                      <a:pt x="66737" y="143544"/>
                    </a:cubicBezTo>
                    <a:lnTo>
                      <a:pt x="282513" y="18002"/>
                    </a:lnTo>
                    <a:cubicBezTo>
                      <a:pt x="323767" y="-6001"/>
                      <a:pt x="374733" y="-6001"/>
                      <a:pt x="415987" y="18002"/>
                    </a:cubicBezTo>
                    <a:close/>
                  </a:path>
                </a:pathLst>
              </a:custGeom>
              <a:solidFill>
                <a:srgbClr val="FFFDF2"/>
              </a:solidFill>
              <a:ln w="95250" cap="rnd">
                <a:solidFill>
                  <a:srgbClr val="8363B8"/>
                </a:solidFill>
                <a:prstDash val="solid"/>
                <a:round/>
              </a:ln>
            </p:spPr>
          </p:sp>
          <p:sp>
            <p:nvSpPr>
              <p:cNvPr name="TextBox 14" id="14"/>
              <p:cNvSpPr txBox="true"/>
              <p:nvPr/>
            </p:nvSpPr>
            <p:spPr>
              <a:xfrm>
                <a:off x="0" y="101600"/>
                <a:ext cx="698500" cy="571500"/>
              </a:xfrm>
              <a:prstGeom prst="rect">
                <a:avLst/>
              </a:prstGeom>
            </p:spPr>
            <p:txBody>
              <a:bodyPr anchor="ctr" rtlCol="false" tIns="45512" lIns="45512" bIns="45512" rIns="45512"/>
              <a:lstStyle/>
              <a:p>
                <a:pPr algn="ctr">
                  <a:lnSpc>
                    <a:spcPts val="2660"/>
                  </a:lnSpc>
                  <a:spcBef>
                    <a:spcPct val="0"/>
                  </a:spcBef>
                </a:pPr>
              </a:p>
            </p:txBody>
          </p:sp>
        </p:grpSp>
        <p:sp>
          <p:nvSpPr>
            <p:cNvPr name="TextBox 15" id="15"/>
            <p:cNvSpPr txBox="true"/>
            <p:nvPr/>
          </p:nvSpPr>
          <p:spPr>
            <a:xfrm rot="0">
              <a:off x="465997" y="954354"/>
              <a:ext cx="2514778" cy="2340206"/>
            </a:xfrm>
            <a:prstGeom prst="rect">
              <a:avLst/>
            </a:prstGeom>
          </p:spPr>
          <p:txBody>
            <a:bodyPr anchor="t" rtlCol="false" tIns="0" lIns="0" bIns="0" rIns="0">
              <a:spAutoFit/>
            </a:bodyPr>
            <a:lstStyle/>
            <a:p>
              <a:pPr algn="ctr">
                <a:lnSpc>
                  <a:spcPts val="12711"/>
                </a:lnSpc>
                <a:spcBef>
                  <a:spcPct val="0"/>
                </a:spcBef>
              </a:pPr>
              <a:r>
                <a:rPr lang="en-US" b="true" sz="12711">
                  <a:solidFill>
                    <a:srgbClr val="249E4E"/>
                  </a:solidFill>
                  <a:latin typeface="Barlow Ultra-Bold"/>
                  <a:ea typeface="Barlow Ultra-Bold"/>
                  <a:cs typeface="Barlow Ultra-Bold"/>
                  <a:sym typeface="Barlow Ultra-Bold"/>
                </a:rPr>
                <a:t>S</a:t>
              </a:r>
            </a:p>
          </p:txBody>
        </p:sp>
        <p:sp>
          <p:nvSpPr>
            <p:cNvPr name="TextBox 16" id="16"/>
            <p:cNvSpPr txBox="true"/>
            <p:nvPr/>
          </p:nvSpPr>
          <p:spPr>
            <a:xfrm rot="0">
              <a:off x="4176991" y="2201248"/>
              <a:ext cx="2514778" cy="2340206"/>
            </a:xfrm>
            <a:prstGeom prst="rect">
              <a:avLst/>
            </a:prstGeom>
          </p:spPr>
          <p:txBody>
            <a:bodyPr anchor="t" rtlCol="false" tIns="0" lIns="0" bIns="0" rIns="0">
              <a:spAutoFit/>
            </a:bodyPr>
            <a:lstStyle/>
            <a:p>
              <a:pPr algn="ctr">
                <a:lnSpc>
                  <a:spcPts val="12711"/>
                </a:lnSpc>
                <a:spcBef>
                  <a:spcPct val="0"/>
                </a:spcBef>
              </a:pPr>
              <a:r>
                <a:rPr lang="en-US" b="true" sz="12711">
                  <a:solidFill>
                    <a:srgbClr val="249E4E"/>
                  </a:solidFill>
                  <a:latin typeface="Barlow Ultra-Bold"/>
                  <a:ea typeface="Barlow Ultra-Bold"/>
                  <a:cs typeface="Barlow Ultra-Bold"/>
                  <a:sym typeface="Barlow Ultra-Bold"/>
                </a:rPr>
                <a:t>W</a:t>
              </a:r>
            </a:p>
          </p:txBody>
        </p:sp>
        <p:sp>
          <p:nvSpPr>
            <p:cNvPr name="TextBox 17" id="17"/>
            <p:cNvSpPr txBox="true"/>
            <p:nvPr/>
          </p:nvSpPr>
          <p:spPr>
            <a:xfrm rot="0">
              <a:off x="7887985" y="954354"/>
              <a:ext cx="2514778" cy="2340206"/>
            </a:xfrm>
            <a:prstGeom prst="rect">
              <a:avLst/>
            </a:prstGeom>
          </p:spPr>
          <p:txBody>
            <a:bodyPr anchor="t" rtlCol="false" tIns="0" lIns="0" bIns="0" rIns="0">
              <a:spAutoFit/>
            </a:bodyPr>
            <a:lstStyle/>
            <a:p>
              <a:pPr algn="ctr">
                <a:lnSpc>
                  <a:spcPts val="12711"/>
                </a:lnSpc>
                <a:spcBef>
                  <a:spcPct val="0"/>
                </a:spcBef>
              </a:pPr>
              <a:r>
                <a:rPr lang="en-US" b="true" sz="12711">
                  <a:solidFill>
                    <a:srgbClr val="8363B8"/>
                  </a:solidFill>
                  <a:latin typeface="Barlow Ultra-Bold"/>
                  <a:ea typeface="Barlow Ultra-Bold"/>
                  <a:cs typeface="Barlow Ultra-Bold"/>
                  <a:sym typeface="Barlow Ultra-Bold"/>
                </a:rPr>
                <a:t>O</a:t>
              </a:r>
            </a:p>
          </p:txBody>
        </p:sp>
        <p:sp>
          <p:nvSpPr>
            <p:cNvPr name="TextBox 18" id="18"/>
            <p:cNvSpPr txBox="true"/>
            <p:nvPr/>
          </p:nvSpPr>
          <p:spPr>
            <a:xfrm rot="0">
              <a:off x="11598979" y="2201248"/>
              <a:ext cx="2514778" cy="2340206"/>
            </a:xfrm>
            <a:prstGeom prst="rect">
              <a:avLst/>
            </a:prstGeom>
          </p:spPr>
          <p:txBody>
            <a:bodyPr anchor="t" rtlCol="false" tIns="0" lIns="0" bIns="0" rIns="0">
              <a:spAutoFit/>
            </a:bodyPr>
            <a:lstStyle/>
            <a:p>
              <a:pPr algn="ctr">
                <a:lnSpc>
                  <a:spcPts val="12711"/>
                </a:lnSpc>
                <a:spcBef>
                  <a:spcPct val="0"/>
                </a:spcBef>
              </a:pPr>
              <a:r>
                <a:rPr lang="en-US" b="true" sz="12711">
                  <a:solidFill>
                    <a:srgbClr val="8363B8"/>
                  </a:solidFill>
                  <a:latin typeface="Barlow Ultra-Bold"/>
                  <a:ea typeface="Barlow Ultra-Bold"/>
                  <a:cs typeface="Barlow Ultra-Bold"/>
                  <a:sym typeface="Barlow Ultra-Bold"/>
                </a:rPr>
                <a:t>T</a:t>
              </a:r>
            </a:p>
          </p:txBody>
        </p:sp>
      </p:grpSp>
      <p:grpSp>
        <p:nvGrpSpPr>
          <p:cNvPr name="Group 19" id="19"/>
          <p:cNvGrpSpPr/>
          <p:nvPr/>
        </p:nvGrpSpPr>
        <p:grpSpPr>
          <a:xfrm rot="0">
            <a:off x="4334720" y="6686725"/>
            <a:ext cx="9618561" cy="1517798"/>
            <a:chOff x="0" y="0"/>
            <a:chExt cx="12824748" cy="2023730"/>
          </a:xfrm>
        </p:grpSpPr>
        <p:grpSp>
          <p:nvGrpSpPr>
            <p:cNvPr name="Group 20" id="20"/>
            <p:cNvGrpSpPr/>
            <p:nvPr/>
          </p:nvGrpSpPr>
          <p:grpSpPr>
            <a:xfrm rot="0">
              <a:off x="0" y="0"/>
              <a:ext cx="12824748" cy="2023730"/>
              <a:chOff x="0" y="0"/>
              <a:chExt cx="2533284" cy="399749"/>
            </a:xfrm>
          </p:grpSpPr>
          <p:sp>
            <p:nvSpPr>
              <p:cNvPr name="Freeform 21" id="21"/>
              <p:cNvSpPr/>
              <p:nvPr/>
            </p:nvSpPr>
            <p:spPr>
              <a:xfrm flipH="false" flipV="false" rot="0">
                <a:off x="0" y="0"/>
                <a:ext cx="2533284" cy="399749"/>
              </a:xfrm>
              <a:custGeom>
                <a:avLst/>
                <a:gdLst/>
                <a:ahLst/>
                <a:cxnLst/>
                <a:rect r="r" b="b" t="t" l="l"/>
                <a:pathLst>
                  <a:path h="399749" w="2533284">
                    <a:moveTo>
                      <a:pt x="37025" y="0"/>
                    </a:moveTo>
                    <a:lnTo>
                      <a:pt x="2496258" y="0"/>
                    </a:lnTo>
                    <a:cubicBezTo>
                      <a:pt x="2506078" y="0"/>
                      <a:pt x="2515496" y="3901"/>
                      <a:pt x="2522439" y="10844"/>
                    </a:cubicBezTo>
                    <a:cubicBezTo>
                      <a:pt x="2529383" y="17788"/>
                      <a:pt x="2533284" y="27205"/>
                      <a:pt x="2533284" y="37025"/>
                    </a:cubicBezTo>
                    <a:lnTo>
                      <a:pt x="2533284" y="362724"/>
                    </a:lnTo>
                    <a:cubicBezTo>
                      <a:pt x="2533284" y="383172"/>
                      <a:pt x="2516707" y="399749"/>
                      <a:pt x="2496258" y="399749"/>
                    </a:cubicBezTo>
                    <a:lnTo>
                      <a:pt x="37025" y="399749"/>
                    </a:lnTo>
                    <a:cubicBezTo>
                      <a:pt x="27205" y="399749"/>
                      <a:pt x="17788" y="395848"/>
                      <a:pt x="10844" y="388905"/>
                    </a:cubicBezTo>
                    <a:cubicBezTo>
                      <a:pt x="3901" y="381961"/>
                      <a:pt x="0" y="372544"/>
                      <a:pt x="0" y="362724"/>
                    </a:cubicBezTo>
                    <a:lnTo>
                      <a:pt x="0" y="37025"/>
                    </a:lnTo>
                    <a:cubicBezTo>
                      <a:pt x="0" y="27205"/>
                      <a:pt x="3901" y="17788"/>
                      <a:pt x="10844" y="10844"/>
                    </a:cubicBezTo>
                    <a:cubicBezTo>
                      <a:pt x="17788" y="3901"/>
                      <a:pt x="27205" y="0"/>
                      <a:pt x="37025" y="0"/>
                    </a:cubicBezTo>
                    <a:close/>
                  </a:path>
                </a:pathLst>
              </a:custGeom>
              <a:solidFill>
                <a:srgbClr val="8363B8"/>
              </a:solidFill>
            </p:spPr>
          </p:sp>
          <p:sp>
            <p:nvSpPr>
              <p:cNvPr name="TextBox 22" id="22"/>
              <p:cNvSpPr txBox="true"/>
              <p:nvPr/>
            </p:nvSpPr>
            <p:spPr>
              <a:xfrm>
                <a:off x="0" y="-9525"/>
                <a:ext cx="2533284" cy="409274"/>
              </a:xfrm>
              <a:prstGeom prst="rect">
                <a:avLst/>
              </a:prstGeom>
            </p:spPr>
            <p:txBody>
              <a:bodyPr anchor="ctr" rtlCol="false" tIns="50800" lIns="50800" bIns="50800" rIns="50800"/>
              <a:lstStyle/>
              <a:p>
                <a:pPr algn="ctr">
                  <a:lnSpc>
                    <a:spcPts val="2999"/>
                  </a:lnSpc>
                </a:pPr>
              </a:p>
            </p:txBody>
          </p:sp>
        </p:grpSp>
        <p:sp>
          <p:nvSpPr>
            <p:cNvPr name="TextBox 23" id="23"/>
            <p:cNvSpPr txBox="true"/>
            <p:nvPr/>
          </p:nvSpPr>
          <p:spPr>
            <a:xfrm rot="0">
              <a:off x="341408" y="326065"/>
              <a:ext cx="12141932" cy="1371600"/>
            </a:xfrm>
            <a:prstGeom prst="rect">
              <a:avLst/>
            </a:prstGeom>
          </p:spPr>
          <p:txBody>
            <a:bodyPr anchor="t" rtlCol="false" tIns="0" lIns="0" bIns="0" rIns="0">
              <a:spAutoFit/>
            </a:bodyPr>
            <a:lstStyle/>
            <a:p>
              <a:pPr algn="ctr">
                <a:lnSpc>
                  <a:spcPts val="4095"/>
                </a:lnSpc>
              </a:pPr>
              <a:r>
                <a:rPr lang="en-US" b="true" sz="3412" spc="354">
                  <a:solidFill>
                    <a:srgbClr val="FFF9F0"/>
                  </a:solidFill>
                  <a:latin typeface="Barlow Bold"/>
                  <a:ea typeface="Barlow Bold"/>
                  <a:cs typeface="Barlow Bold"/>
                  <a:sym typeface="Barlow Bold"/>
                </a:rPr>
                <a:t>A TOOL FOR DEVELOPING THE RIGHT BUSINESS STRATEGY</a:t>
              </a:r>
            </a:p>
          </p:txBody>
        </p:sp>
      </p:grpSp>
    </p:spTree>
  </p:cSld>
  <p:clrMapOvr>
    <a:masterClrMapping/>
  </p:clrMapOvr>
</p:sld>
</file>

<file path=ppt/slides/slide4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1028700"/>
            <a:ext cx="3143250" cy="314325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DF2"/>
            </a:solidFill>
            <a:ln w="95250" cap="sq">
              <a:solidFill>
                <a:srgbClr val="2C92D5"/>
              </a:solidFill>
              <a:prstDash val="solid"/>
              <a:miter/>
            </a:ln>
          </p:spPr>
        </p:sp>
        <p:sp>
          <p:nvSpPr>
            <p:cNvPr name="TextBox 4" id="4"/>
            <p:cNvSpPr txBox="true"/>
            <p:nvPr/>
          </p:nvSpPr>
          <p:spPr>
            <a:xfrm>
              <a:off x="76200" y="247650"/>
              <a:ext cx="660400" cy="488950"/>
            </a:xfrm>
            <a:prstGeom prst="rect">
              <a:avLst/>
            </a:prstGeom>
          </p:spPr>
          <p:txBody>
            <a:bodyPr anchor="ctr" rtlCol="false" tIns="0" lIns="0" bIns="0" rIns="0"/>
            <a:lstStyle/>
            <a:p>
              <a:pPr algn="ctr">
                <a:lnSpc>
                  <a:spcPts val="8799"/>
                </a:lnSpc>
              </a:pPr>
              <a:r>
                <a:rPr lang="en-US" b="true" sz="8799">
                  <a:solidFill>
                    <a:srgbClr val="2C92D5"/>
                  </a:solidFill>
                  <a:latin typeface="Aileron Ultra-Bold"/>
                  <a:ea typeface="Aileron Ultra-Bold"/>
                  <a:cs typeface="Aileron Ultra-Bold"/>
                  <a:sym typeface="Aileron Ultra-Bold"/>
                </a:rPr>
                <a:t>S</a:t>
              </a:r>
            </a:p>
          </p:txBody>
        </p:sp>
      </p:grpSp>
      <p:grpSp>
        <p:nvGrpSpPr>
          <p:cNvPr name="Group 5" id="5"/>
          <p:cNvGrpSpPr/>
          <p:nvPr/>
        </p:nvGrpSpPr>
        <p:grpSpPr>
          <a:xfrm rot="0">
            <a:off x="5400675" y="3200400"/>
            <a:ext cx="3143250" cy="31432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DF2"/>
            </a:solidFill>
            <a:ln w="95250" cap="sq">
              <a:solidFill>
                <a:srgbClr val="37C9EF"/>
              </a:solidFill>
              <a:prstDash val="solid"/>
              <a:miter/>
            </a:ln>
          </p:spPr>
        </p:sp>
        <p:sp>
          <p:nvSpPr>
            <p:cNvPr name="TextBox 7" id="7"/>
            <p:cNvSpPr txBox="true"/>
            <p:nvPr/>
          </p:nvSpPr>
          <p:spPr>
            <a:xfrm>
              <a:off x="76200" y="247650"/>
              <a:ext cx="660400" cy="488950"/>
            </a:xfrm>
            <a:prstGeom prst="rect">
              <a:avLst/>
            </a:prstGeom>
          </p:spPr>
          <p:txBody>
            <a:bodyPr anchor="ctr" rtlCol="false" tIns="0" lIns="0" bIns="0" rIns="0"/>
            <a:lstStyle/>
            <a:p>
              <a:pPr algn="ctr">
                <a:lnSpc>
                  <a:spcPts val="8799"/>
                </a:lnSpc>
              </a:pPr>
              <a:r>
                <a:rPr lang="en-US" b="true" sz="8799">
                  <a:solidFill>
                    <a:srgbClr val="37C9EF"/>
                  </a:solidFill>
                  <a:latin typeface="Aileron Ultra-Bold"/>
                  <a:ea typeface="Aileron Ultra-Bold"/>
                  <a:cs typeface="Aileron Ultra-Bold"/>
                  <a:sym typeface="Aileron Ultra-Bold"/>
                </a:rPr>
                <a:t>W</a:t>
              </a:r>
            </a:p>
          </p:txBody>
        </p:sp>
      </p:grpSp>
      <p:grpSp>
        <p:nvGrpSpPr>
          <p:cNvPr name="Group 8" id="8"/>
          <p:cNvGrpSpPr/>
          <p:nvPr/>
        </p:nvGrpSpPr>
        <p:grpSpPr>
          <a:xfrm rot="0">
            <a:off x="9772650" y="1028700"/>
            <a:ext cx="3143250" cy="314325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DF2"/>
            </a:solidFill>
            <a:ln w="95250" cap="sq">
              <a:solidFill>
                <a:srgbClr val="2C92D5"/>
              </a:solidFill>
              <a:prstDash val="solid"/>
              <a:miter/>
            </a:ln>
          </p:spPr>
        </p:sp>
        <p:sp>
          <p:nvSpPr>
            <p:cNvPr name="TextBox 10" id="10"/>
            <p:cNvSpPr txBox="true"/>
            <p:nvPr/>
          </p:nvSpPr>
          <p:spPr>
            <a:xfrm>
              <a:off x="76200" y="247650"/>
              <a:ext cx="660400" cy="488950"/>
            </a:xfrm>
            <a:prstGeom prst="rect">
              <a:avLst/>
            </a:prstGeom>
          </p:spPr>
          <p:txBody>
            <a:bodyPr anchor="ctr" rtlCol="false" tIns="0" lIns="0" bIns="0" rIns="0"/>
            <a:lstStyle/>
            <a:p>
              <a:pPr algn="ctr">
                <a:lnSpc>
                  <a:spcPts val="8799"/>
                </a:lnSpc>
              </a:pPr>
              <a:r>
                <a:rPr lang="en-US" b="true" sz="8799">
                  <a:solidFill>
                    <a:srgbClr val="2C92D5"/>
                  </a:solidFill>
                  <a:latin typeface="Aileron Ultra-Bold"/>
                  <a:ea typeface="Aileron Ultra-Bold"/>
                  <a:cs typeface="Aileron Ultra-Bold"/>
                  <a:sym typeface="Aileron Ultra-Bold"/>
                </a:rPr>
                <a:t>O</a:t>
              </a:r>
            </a:p>
          </p:txBody>
        </p:sp>
      </p:grpSp>
      <p:grpSp>
        <p:nvGrpSpPr>
          <p:cNvPr name="Group 11" id="11"/>
          <p:cNvGrpSpPr/>
          <p:nvPr/>
        </p:nvGrpSpPr>
        <p:grpSpPr>
          <a:xfrm rot="0">
            <a:off x="14278371" y="3200400"/>
            <a:ext cx="3143250" cy="314325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DF2"/>
            </a:solidFill>
            <a:ln w="95250" cap="sq">
              <a:solidFill>
                <a:srgbClr val="37C9EF"/>
              </a:solidFill>
              <a:prstDash val="solid"/>
              <a:miter/>
            </a:ln>
          </p:spPr>
        </p:sp>
        <p:sp>
          <p:nvSpPr>
            <p:cNvPr name="TextBox 13" id="13"/>
            <p:cNvSpPr txBox="true"/>
            <p:nvPr/>
          </p:nvSpPr>
          <p:spPr>
            <a:xfrm>
              <a:off x="76200" y="247650"/>
              <a:ext cx="660400" cy="488950"/>
            </a:xfrm>
            <a:prstGeom prst="rect">
              <a:avLst/>
            </a:prstGeom>
          </p:spPr>
          <p:txBody>
            <a:bodyPr anchor="ctr" rtlCol="false" tIns="0" lIns="0" bIns="0" rIns="0"/>
            <a:lstStyle/>
            <a:p>
              <a:pPr algn="ctr">
                <a:lnSpc>
                  <a:spcPts val="8799"/>
                </a:lnSpc>
              </a:pPr>
              <a:r>
                <a:rPr lang="en-US" b="true" sz="8799">
                  <a:solidFill>
                    <a:srgbClr val="37C9EF"/>
                  </a:solidFill>
                  <a:latin typeface="Aileron Ultra-Bold"/>
                  <a:ea typeface="Aileron Ultra-Bold"/>
                  <a:cs typeface="Aileron Ultra-Bold"/>
                  <a:sym typeface="Aileron Ultra-Bold"/>
                </a:rPr>
                <a:t>T</a:t>
              </a:r>
            </a:p>
          </p:txBody>
        </p:sp>
      </p:grpSp>
      <p:sp>
        <p:nvSpPr>
          <p:cNvPr name="TextBox 14" id="14"/>
          <p:cNvSpPr txBox="true"/>
          <p:nvPr/>
        </p:nvSpPr>
        <p:spPr>
          <a:xfrm rot="0">
            <a:off x="1450062" y="4505325"/>
            <a:ext cx="2300526" cy="409575"/>
          </a:xfrm>
          <a:prstGeom prst="rect">
            <a:avLst/>
          </a:prstGeom>
        </p:spPr>
        <p:txBody>
          <a:bodyPr anchor="t" rtlCol="false" tIns="0" lIns="0" bIns="0" rIns="0">
            <a:spAutoFit/>
          </a:bodyPr>
          <a:lstStyle/>
          <a:p>
            <a:pPr algn="ctr">
              <a:lnSpc>
                <a:spcPts val="3000"/>
              </a:lnSpc>
              <a:spcBef>
                <a:spcPct val="0"/>
              </a:spcBef>
            </a:pPr>
            <a:r>
              <a:rPr lang="en-US" b="true" sz="3000">
                <a:solidFill>
                  <a:srgbClr val="2C92D5"/>
                </a:solidFill>
                <a:latin typeface="Aileron Ultra-Bold"/>
                <a:ea typeface="Aileron Ultra-Bold"/>
                <a:cs typeface="Aileron Ultra-Bold"/>
                <a:sym typeface="Aileron Ultra-Bold"/>
              </a:rPr>
              <a:t>STRENGTHS</a:t>
            </a:r>
          </a:p>
        </p:txBody>
      </p:sp>
      <p:sp>
        <p:nvSpPr>
          <p:cNvPr name="TextBox 15" id="15"/>
          <p:cNvSpPr txBox="true"/>
          <p:nvPr/>
        </p:nvSpPr>
        <p:spPr>
          <a:xfrm rot="0">
            <a:off x="5657612" y="6677025"/>
            <a:ext cx="2629376" cy="409575"/>
          </a:xfrm>
          <a:prstGeom prst="rect">
            <a:avLst/>
          </a:prstGeom>
        </p:spPr>
        <p:txBody>
          <a:bodyPr anchor="t" rtlCol="false" tIns="0" lIns="0" bIns="0" rIns="0">
            <a:spAutoFit/>
          </a:bodyPr>
          <a:lstStyle/>
          <a:p>
            <a:pPr algn="ctr" marL="0" indent="0" lvl="0">
              <a:lnSpc>
                <a:spcPts val="3000"/>
              </a:lnSpc>
              <a:spcBef>
                <a:spcPct val="0"/>
              </a:spcBef>
            </a:pPr>
            <a:r>
              <a:rPr lang="en-US" b="true" sz="3000" strike="noStrike" u="none">
                <a:solidFill>
                  <a:srgbClr val="37C9EF"/>
                </a:solidFill>
                <a:latin typeface="Aileron Ultra-Bold"/>
                <a:ea typeface="Aileron Ultra-Bold"/>
                <a:cs typeface="Aileron Ultra-Bold"/>
                <a:sym typeface="Aileron Ultra-Bold"/>
              </a:rPr>
              <a:t>WEAKNESSES</a:t>
            </a:r>
          </a:p>
        </p:txBody>
      </p:sp>
      <p:sp>
        <p:nvSpPr>
          <p:cNvPr name="TextBox 16" id="16"/>
          <p:cNvSpPr txBox="true"/>
          <p:nvPr/>
        </p:nvSpPr>
        <p:spPr>
          <a:xfrm rot="0">
            <a:off x="9807654" y="4505325"/>
            <a:ext cx="3073241" cy="409575"/>
          </a:xfrm>
          <a:prstGeom prst="rect">
            <a:avLst/>
          </a:prstGeom>
        </p:spPr>
        <p:txBody>
          <a:bodyPr anchor="t" rtlCol="false" tIns="0" lIns="0" bIns="0" rIns="0">
            <a:spAutoFit/>
          </a:bodyPr>
          <a:lstStyle/>
          <a:p>
            <a:pPr algn="ctr" marL="0" indent="0" lvl="0">
              <a:lnSpc>
                <a:spcPts val="3000"/>
              </a:lnSpc>
              <a:spcBef>
                <a:spcPct val="0"/>
              </a:spcBef>
            </a:pPr>
            <a:r>
              <a:rPr lang="en-US" b="true" sz="3000" strike="noStrike" u="none">
                <a:solidFill>
                  <a:srgbClr val="2C92D5"/>
                </a:solidFill>
                <a:latin typeface="Aileron Ultra-Bold"/>
                <a:ea typeface="Aileron Ultra-Bold"/>
                <a:cs typeface="Aileron Ultra-Bold"/>
                <a:sym typeface="Aileron Ultra-Bold"/>
              </a:rPr>
              <a:t>OPPORTUNITIES</a:t>
            </a:r>
          </a:p>
        </p:txBody>
      </p:sp>
      <p:sp>
        <p:nvSpPr>
          <p:cNvPr name="TextBox 17" id="17"/>
          <p:cNvSpPr txBox="true"/>
          <p:nvPr/>
        </p:nvSpPr>
        <p:spPr>
          <a:xfrm rot="0">
            <a:off x="14985126" y="6677025"/>
            <a:ext cx="1729740" cy="409575"/>
          </a:xfrm>
          <a:prstGeom prst="rect">
            <a:avLst/>
          </a:prstGeom>
        </p:spPr>
        <p:txBody>
          <a:bodyPr anchor="t" rtlCol="false" tIns="0" lIns="0" bIns="0" rIns="0">
            <a:spAutoFit/>
          </a:bodyPr>
          <a:lstStyle/>
          <a:p>
            <a:pPr algn="ctr" marL="0" indent="0" lvl="0">
              <a:lnSpc>
                <a:spcPts val="3000"/>
              </a:lnSpc>
              <a:spcBef>
                <a:spcPct val="0"/>
              </a:spcBef>
            </a:pPr>
            <a:r>
              <a:rPr lang="en-US" b="true" sz="3000" strike="noStrike" u="none">
                <a:solidFill>
                  <a:srgbClr val="37C9EF"/>
                </a:solidFill>
                <a:latin typeface="Aileron Ultra-Bold"/>
                <a:ea typeface="Aileron Ultra-Bold"/>
                <a:cs typeface="Aileron Ultra-Bold"/>
                <a:sym typeface="Aileron Ultra-Bold"/>
              </a:rPr>
              <a:t>THREATS</a:t>
            </a:r>
          </a:p>
        </p:txBody>
      </p:sp>
      <p:sp>
        <p:nvSpPr>
          <p:cNvPr name="TextBox 18" id="18"/>
          <p:cNvSpPr txBox="true"/>
          <p:nvPr/>
        </p:nvSpPr>
        <p:spPr>
          <a:xfrm rot="0">
            <a:off x="543461" y="5659778"/>
            <a:ext cx="4107418" cy="1150620"/>
          </a:xfrm>
          <a:prstGeom prst="rect">
            <a:avLst/>
          </a:prstGeom>
        </p:spPr>
        <p:txBody>
          <a:bodyPr anchor="t" rtlCol="false" tIns="0" lIns="0" bIns="0" rIns="0">
            <a:spAutoFit/>
          </a:bodyPr>
          <a:lstStyle/>
          <a:p>
            <a:pPr algn="l" marL="388620" indent="-194310" lvl="1">
              <a:lnSpc>
                <a:spcPts val="1800"/>
              </a:lnSpc>
              <a:buFont typeface="Arial"/>
              <a:buChar char="•"/>
            </a:pPr>
            <a:r>
              <a:rPr lang="en-US" b="true" sz="1800">
                <a:solidFill>
                  <a:srgbClr val="000000"/>
                </a:solidFill>
                <a:latin typeface="Canva Sans Bold"/>
                <a:ea typeface="Canva Sans Bold"/>
                <a:cs typeface="Canva Sans Bold"/>
                <a:sym typeface="Canva Sans Bold"/>
              </a:rPr>
              <a:t>ADVANCED AI INTEGRATION</a:t>
            </a:r>
          </a:p>
          <a:p>
            <a:pPr algn="l">
              <a:lnSpc>
                <a:spcPts val="1800"/>
              </a:lnSpc>
            </a:pPr>
          </a:p>
          <a:p>
            <a:pPr algn="l" marL="388620" indent="-194310" lvl="1">
              <a:lnSpc>
                <a:spcPts val="1800"/>
              </a:lnSpc>
              <a:buFont typeface="Arial"/>
              <a:buChar char="•"/>
            </a:pPr>
            <a:r>
              <a:rPr lang="en-US" b="true" sz="1800">
                <a:solidFill>
                  <a:srgbClr val="000000"/>
                </a:solidFill>
                <a:latin typeface="Canva Sans Bold"/>
                <a:ea typeface="Canva Sans Bold"/>
                <a:cs typeface="Canva Sans Bold"/>
                <a:sym typeface="Canva Sans Bold"/>
              </a:rPr>
              <a:t>SCALABLE WEB UI</a:t>
            </a:r>
          </a:p>
          <a:p>
            <a:pPr algn="l">
              <a:lnSpc>
                <a:spcPts val="1800"/>
              </a:lnSpc>
            </a:pPr>
          </a:p>
          <a:p>
            <a:pPr algn="l" marL="388620" indent="-194310" lvl="1">
              <a:lnSpc>
                <a:spcPts val="1800"/>
              </a:lnSpc>
              <a:buFont typeface="Arial"/>
              <a:buChar char="•"/>
            </a:pPr>
            <a:r>
              <a:rPr lang="en-US" b="true" sz="1800">
                <a:solidFill>
                  <a:srgbClr val="000000"/>
                </a:solidFill>
                <a:latin typeface="Canva Sans Bold"/>
                <a:ea typeface="Canva Sans Bold"/>
                <a:cs typeface="Canva Sans Bold"/>
                <a:sym typeface="Canva Sans Bold"/>
              </a:rPr>
              <a:t>REAL-TIME THREAT MONITORING</a:t>
            </a:r>
          </a:p>
        </p:txBody>
      </p:sp>
      <p:sp>
        <p:nvSpPr>
          <p:cNvPr name="TextBox 19" id="19"/>
          <p:cNvSpPr txBox="true"/>
          <p:nvPr/>
        </p:nvSpPr>
        <p:spPr>
          <a:xfrm rot="0">
            <a:off x="5089626" y="7124700"/>
            <a:ext cx="3765348" cy="1172476"/>
          </a:xfrm>
          <a:prstGeom prst="rect">
            <a:avLst/>
          </a:prstGeom>
        </p:spPr>
        <p:txBody>
          <a:bodyPr anchor="t" rtlCol="false" tIns="0" lIns="0" bIns="0" rIns="0">
            <a:spAutoFit/>
          </a:bodyPr>
          <a:lstStyle/>
          <a:p>
            <a:pPr algn="l">
              <a:lnSpc>
                <a:spcPts val="1833"/>
              </a:lnSpc>
              <a:spcBef>
                <a:spcPct val="0"/>
              </a:spcBef>
            </a:pPr>
          </a:p>
          <a:p>
            <a:pPr algn="l">
              <a:lnSpc>
                <a:spcPts val="1833"/>
              </a:lnSpc>
              <a:spcBef>
                <a:spcPct val="0"/>
              </a:spcBef>
            </a:pPr>
          </a:p>
          <a:p>
            <a:pPr algn="l" marL="395765" indent="-197883" lvl="1">
              <a:lnSpc>
                <a:spcPts val="1833"/>
              </a:lnSpc>
              <a:spcBef>
                <a:spcPct val="0"/>
              </a:spcBef>
              <a:buFont typeface="Arial"/>
              <a:buChar char="•"/>
            </a:pPr>
            <a:r>
              <a:rPr lang="en-US" b="true" sz="1833" strike="noStrike" u="none">
                <a:solidFill>
                  <a:srgbClr val="000000"/>
                </a:solidFill>
                <a:latin typeface="Canva Sans Bold"/>
                <a:ea typeface="Canva Sans Bold"/>
                <a:cs typeface="Canva Sans Bold"/>
                <a:sym typeface="Canva Sans Bold"/>
              </a:rPr>
              <a:t>FALSE POSITIVES/NEGATIVES</a:t>
            </a:r>
          </a:p>
          <a:p>
            <a:pPr algn="l">
              <a:lnSpc>
                <a:spcPts val="1833"/>
              </a:lnSpc>
              <a:spcBef>
                <a:spcPct val="0"/>
              </a:spcBef>
            </a:pPr>
          </a:p>
          <a:p>
            <a:pPr algn="l" marL="395765" indent="-197883" lvl="1">
              <a:lnSpc>
                <a:spcPts val="1833"/>
              </a:lnSpc>
              <a:spcBef>
                <a:spcPct val="0"/>
              </a:spcBef>
              <a:buFont typeface="Arial"/>
              <a:buChar char="•"/>
            </a:pPr>
            <a:r>
              <a:rPr lang="en-US" b="true" sz="1833" strike="noStrike" u="none">
                <a:solidFill>
                  <a:srgbClr val="000000"/>
                </a:solidFill>
                <a:latin typeface="Canva Sans Bold"/>
                <a:ea typeface="Canva Sans Bold"/>
                <a:cs typeface="Canva Sans Bold"/>
                <a:sym typeface="Canva Sans Bold"/>
              </a:rPr>
              <a:t>LIMITED RESOURCES</a:t>
            </a:r>
          </a:p>
        </p:txBody>
      </p:sp>
      <p:sp>
        <p:nvSpPr>
          <p:cNvPr name="TextBox 20" id="20"/>
          <p:cNvSpPr txBox="true"/>
          <p:nvPr/>
        </p:nvSpPr>
        <p:spPr>
          <a:xfrm rot="0">
            <a:off x="8914626" y="5659778"/>
            <a:ext cx="4859298" cy="1150620"/>
          </a:xfrm>
          <a:prstGeom prst="rect">
            <a:avLst/>
          </a:prstGeom>
        </p:spPr>
        <p:txBody>
          <a:bodyPr anchor="t" rtlCol="false" tIns="0" lIns="0" bIns="0" rIns="0">
            <a:spAutoFit/>
          </a:bodyPr>
          <a:lstStyle/>
          <a:p>
            <a:pPr algn="l" marL="388620" indent="-194310" lvl="1">
              <a:lnSpc>
                <a:spcPts val="1800"/>
              </a:lnSpc>
              <a:spcBef>
                <a:spcPct val="0"/>
              </a:spcBef>
              <a:buFont typeface="Arial"/>
              <a:buChar char="•"/>
            </a:pPr>
            <a:r>
              <a:rPr lang="en-US" b="true" sz="1800" strike="noStrike" u="none">
                <a:solidFill>
                  <a:srgbClr val="000000"/>
                </a:solidFill>
                <a:latin typeface="Canva Sans Bold"/>
                <a:ea typeface="Canva Sans Bold"/>
                <a:cs typeface="Canva Sans Bold"/>
                <a:sym typeface="Canva Sans Bold"/>
              </a:rPr>
              <a:t>GROWING DEMAND IN CYBERSECURITY</a:t>
            </a:r>
          </a:p>
          <a:p>
            <a:pPr algn="l">
              <a:lnSpc>
                <a:spcPts val="1800"/>
              </a:lnSpc>
              <a:spcBef>
                <a:spcPct val="0"/>
              </a:spcBef>
            </a:pPr>
          </a:p>
          <a:p>
            <a:pPr algn="l" marL="388620" indent="-194310" lvl="1">
              <a:lnSpc>
                <a:spcPts val="1800"/>
              </a:lnSpc>
              <a:spcBef>
                <a:spcPct val="0"/>
              </a:spcBef>
              <a:buFont typeface="Arial"/>
              <a:buChar char="•"/>
            </a:pPr>
            <a:r>
              <a:rPr lang="en-US" b="true" sz="1800" strike="noStrike" u="none">
                <a:solidFill>
                  <a:srgbClr val="000000"/>
                </a:solidFill>
                <a:latin typeface="Canva Sans Bold"/>
                <a:ea typeface="Canva Sans Bold"/>
                <a:cs typeface="Canva Sans Bold"/>
                <a:sym typeface="Canva Sans Bold"/>
              </a:rPr>
              <a:t>IOT INTEGRATION</a:t>
            </a:r>
          </a:p>
          <a:p>
            <a:pPr algn="l">
              <a:lnSpc>
                <a:spcPts val="1800"/>
              </a:lnSpc>
              <a:spcBef>
                <a:spcPct val="0"/>
              </a:spcBef>
            </a:pPr>
          </a:p>
          <a:p>
            <a:pPr algn="l" marL="388620" indent="-194310" lvl="1">
              <a:lnSpc>
                <a:spcPts val="1800"/>
              </a:lnSpc>
              <a:spcBef>
                <a:spcPct val="0"/>
              </a:spcBef>
              <a:buFont typeface="Arial"/>
              <a:buChar char="•"/>
            </a:pPr>
            <a:r>
              <a:rPr lang="en-US" b="true" sz="1800" strike="noStrike" u="none">
                <a:solidFill>
                  <a:srgbClr val="000000"/>
                </a:solidFill>
                <a:latin typeface="Canva Sans Bold"/>
                <a:ea typeface="Canva Sans Bold"/>
                <a:cs typeface="Canva Sans Bold"/>
                <a:sym typeface="Canva Sans Bold"/>
              </a:rPr>
              <a:t>AI DEVELOPMENT</a:t>
            </a:r>
          </a:p>
        </p:txBody>
      </p:sp>
      <p:sp>
        <p:nvSpPr>
          <p:cNvPr name="TextBox 21" id="21"/>
          <p:cNvSpPr txBox="true"/>
          <p:nvPr/>
        </p:nvSpPr>
        <p:spPr>
          <a:xfrm rot="0">
            <a:off x="13891894" y="7570964"/>
            <a:ext cx="3916204" cy="922020"/>
          </a:xfrm>
          <a:prstGeom prst="rect">
            <a:avLst/>
          </a:prstGeom>
        </p:spPr>
        <p:txBody>
          <a:bodyPr anchor="t" rtlCol="false" tIns="0" lIns="0" bIns="0" rIns="0">
            <a:spAutoFit/>
          </a:bodyPr>
          <a:lstStyle/>
          <a:p>
            <a:pPr algn="l" marL="388620" indent="-194310" lvl="1">
              <a:lnSpc>
                <a:spcPts val="1800"/>
              </a:lnSpc>
              <a:spcBef>
                <a:spcPct val="0"/>
              </a:spcBef>
              <a:buFont typeface="Arial"/>
              <a:buChar char="•"/>
            </a:pPr>
            <a:r>
              <a:rPr lang="en-US" b="true" sz="1800" strike="noStrike" u="none">
                <a:solidFill>
                  <a:srgbClr val="000000"/>
                </a:solidFill>
                <a:latin typeface="Canva Sans Bold"/>
                <a:ea typeface="Canva Sans Bold"/>
                <a:cs typeface="Canva Sans Bold"/>
                <a:sym typeface="Canva Sans Bold"/>
              </a:rPr>
              <a:t>RAPID EVOLUTION OF ATTACKS</a:t>
            </a:r>
          </a:p>
          <a:p>
            <a:pPr algn="l">
              <a:lnSpc>
                <a:spcPts val="1800"/>
              </a:lnSpc>
              <a:spcBef>
                <a:spcPct val="0"/>
              </a:spcBef>
            </a:pPr>
          </a:p>
          <a:p>
            <a:pPr algn="l" marL="388620" indent="-194310" lvl="1">
              <a:lnSpc>
                <a:spcPts val="1800"/>
              </a:lnSpc>
              <a:spcBef>
                <a:spcPct val="0"/>
              </a:spcBef>
              <a:buFont typeface="Arial"/>
              <a:buChar char="•"/>
            </a:pPr>
            <a:r>
              <a:rPr lang="en-US" b="true" sz="1800" strike="noStrike" u="none">
                <a:solidFill>
                  <a:srgbClr val="000000"/>
                </a:solidFill>
                <a:latin typeface="Canva Sans Bold"/>
                <a:ea typeface="Canva Sans Bold"/>
                <a:cs typeface="Canva Sans Bold"/>
                <a:sym typeface="Canva Sans Bold"/>
              </a:rPr>
              <a:t>OUTDATED DATA</a:t>
            </a:r>
          </a:p>
          <a:p>
            <a:pPr algn="l">
              <a:lnSpc>
                <a:spcPts val="1800"/>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04875"/>
            <a:ext cx="5774531" cy="1226820"/>
          </a:xfrm>
          <a:prstGeom prst="rect">
            <a:avLst/>
          </a:prstGeom>
        </p:spPr>
        <p:txBody>
          <a:bodyPr anchor="t" rtlCol="false" tIns="0" lIns="0" bIns="0" rIns="0">
            <a:spAutoFit/>
          </a:bodyPr>
          <a:lstStyle/>
          <a:p>
            <a:pPr algn="ctr">
              <a:lnSpc>
                <a:spcPts val="10080"/>
              </a:lnSpc>
            </a:pPr>
            <a:r>
              <a:rPr lang="en-US" b="true" sz="7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Future Work</a:t>
            </a:r>
          </a:p>
        </p:txBody>
      </p:sp>
      <p:sp>
        <p:nvSpPr>
          <p:cNvPr name="AutoShape 3" id="3"/>
          <p:cNvSpPr/>
          <p:nvPr/>
        </p:nvSpPr>
        <p:spPr>
          <a:xfrm flipH="true">
            <a:off x="1028700" y="2131695"/>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grpSp>
        <p:nvGrpSpPr>
          <p:cNvPr name="Group 4" id="4"/>
          <p:cNvGrpSpPr/>
          <p:nvPr/>
        </p:nvGrpSpPr>
        <p:grpSpPr>
          <a:xfrm rot="0">
            <a:off x="12367379" y="3397549"/>
            <a:ext cx="4891921" cy="4871631"/>
            <a:chOff x="0" y="0"/>
            <a:chExt cx="1288407" cy="1283063"/>
          </a:xfrm>
        </p:grpSpPr>
        <p:sp>
          <p:nvSpPr>
            <p:cNvPr name="Freeform 5" id="5"/>
            <p:cNvSpPr/>
            <p:nvPr/>
          </p:nvSpPr>
          <p:spPr>
            <a:xfrm flipH="false" flipV="false" rot="0">
              <a:off x="0" y="0"/>
              <a:ext cx="1288407" cy="1283063"/>
            </a:xfrm>
            <a:custGeom>
              <a:avLst/>
              <a:gdLst/>
              <a:ahLst/>
              <a:cxnLst/>
              <a:rect r="r" b="b" t="t" l="l"/>
              <a:pathLst>
                <a:path h="1283063" w="1288407">
                  <a:moveTo>
                    <a:pt x="80712" y="0"/>
                  </a:moveTo>
                  <a:lnTo>
                    <a:pt x="1207695" y="0"/>
                  </a:lnTo>
                  <a:cubicBezTo>
                    <a:pt x="1229101" y="0"/>
                    <a:pt x="1249631" y="8504"/>
                    <a:pt x="1264767" y="23640"/>
                  </a:cubicBezTo>
                  <a:cubicBezTo>
                    <a:pt x="1279904" y="38777"/>
                    <a:pt x="1288407" y="59306"/>
                    <a:pt x="1288407" y="80712"/>
                  </a:cubicBezTo>
                  <a:lnTo>
                    <a:pt x="1288407" y="1202351"/>
                  </a:lnTo>
                  <a:cubicBezTo>
                    <a:pt x="1288407" y="1223757"/>
                    <a:pt x="1279904" y="1244287"/>
                    <a:pt x="1264767" y="1259423"/>
                  </a:cubicBezTo>
                  <a:cubicBezTo>
                    <a:pt x="1249631" y="1274560"/>
                    <a:pt x="1229101" y="1283063"/>
                    <a:pt x="1207695" y="1283063"/>
                  </a:cubicBezTo>
                  <a:lnTo>
                    <a:pt x="80712" y="1283063"/>
                  </a:lnTo>
                  <a:cubicBezTo>
                    <a:pt x="59306" y="1283063"/>
                    <a:pt x="38777" y="1274560"/>
                    <a:pt x="23640" y="1259423"/>
                  </a:cubicBezTo>
                  <a:cubicBezTo>
                    <a:pt x="8504" y="1244287"/>
                    <a:pt x="0" y="1223757"/>
                    <a:pt x="0" y="1202351"/>
                  </a:cubicBezTo>
                  <a:lnTo>
                    <a:pt x="0" y="80712"/>
                  </a:lnTo>
                  <a:cubicBezTo>
                    <a:pt x="0" y="59306"/>
                    <a:pt x="8504" y="38777"/>
                    <a:pt x="23640" y="23640"/>
                  </a:cubicBezTo>
                  <a:cubicBezTo>
                    <a:pt x="38777" y="8504"/>
                    <a:pt x="59306" y="0"/>
                    <a:pt x="80712" y="0"/>
                  </a:cubicBezTo>
                  <a:close/>
                </a:path>
              </a:pathLst>
            </a:custGeom>
            <a:solidFill>
              <a:srgbClr val="09145C">
                <a:alpha val="46667"/>
              </a:srgbClr>
            </a:solidFill>
            <a:ln cap="rnd">
              <a:noFill/>
              <a:prstDash val="solid"/>
              <a:round/>
            </a:ln>
          </p:spPr>
        </p:sp>
        <p:sp>
          <p:nvSpPr>
            <p:cNvPr name="TextBox 6" id="6"/>
            <p:cNvSpPr txBox="true"/>
            <p:nvPr/>
          </p:nvSpPr>
          <p:spPr>
            <a:xfrm>
              <a:off x="0" y="38100"/>
              <a:ext cx="1288407" cy="1244963"/>
            </a:xfrm>
            <a:prstGeom prst="rect">
              <a:avLst/>
            </a:prstGeom>
          </p:spPr>
          <p:txBody>
            <a:bodyPr anchor="ctr" rtlCol="false" tIns="50800" lIns="50800" bIns="50800" rIns="50800"/>
            <a:lstStyle/>
            <a:p>
              <a:pPr algn="ctr" marL="0" indent="0" lvl="0">
                <a:lnSpc>
                  <a:spcPts val="1800"/>
                </a:lnSpc>
                <a:spcBef>
                  <a:spcPct val="0"/>
                </a:spcBef>
              </a:pPr>
            </a:p>
          </p:txBody>
        </p:sp>
      </p:grpSp>
      <p:grpSp>
        <p:nvGrpSpPr>
          <p:cNvPr name="Group 7" id="7"/>
          <p:cNvGrpSpPr/>
          <p:nvPr/>
        </p:nvGrpSpPr>
        <p:grpSpPr>
          <a:xfrm rot="0">
            <a:off x="6698039" y="3397549"/>
            <a:ext cx="4891921" cy="4871631"/>
            <a:chOff x="0" y="0"/>
            <a:chExt cx="1288407" cy="1283063"/>
          </a:xfrm>
        </p:grpSpPr>
        <p:sp>
          <p:nvSpPr>
            <p:cNvPr name="Freeform 8" id="8"/>
            <p:cNvSpPr/>
            <p:nvPr/>
          </p:nvSpPr>
          <p:spPr>
            <a:xfrm flipH="false" flipV="false" rot="0">
              <a:off x="0" y="0"/>
              <a:ext cx="1288407" cy="1283063"/>
            </a:xfrm>
            <a:custGeom>
              <a:avLst/>
              <a:gdLst/>
              <a:ahLst/>
              <a:cxnLst/>
              <a:rect r="r" b="b" t="t" l="l"/>
              <a:pathLst>
                <a:path h="1283063" w="1288407">
                  <a:moveTo>
                    <a:pt x="80712" y="0"/>
                  </a:moveTo>
                  <a:lnTo>
                    <a:pt x="1207695" y="0"/>
                  </a:lnTo>
                  <a:cubicBezTo>
                    <a:pt x="1229101" y="0"/>
                    <a:pt x="1249631" y="8504"/>
                    <a:pt x="1264767" y="23640"/>
                  </a:cubicBezTo>
                  <a:cubicBezTo>
                    <a:pt x="1279904" y="38777"/>
                    <a:pt x="1288407" y="59306"/>
                    <a:pt x="1288407" y="80712"/>
                  </a:cubicBezTo>
                  <a:lnTo>
                    <a:pt x="1288407" y="1202351"/>
                  </a:lnTo>
                  <a:cubicBezTo>
                    <a:pt x="1288407" y="1223757"/>
                    <a:pt x="1279904" y="1244287"/>
                    <a:pt x="1264767" y="1259423"/>
                  </a:cubicBezTo>
                  <a:cubicBezTo>
                    <a:pt x="1249631" y="1274560"/>
                    <a:pt x="1229101" y="1283063"/>
                    <a:pt x="1207695" y="1283063"/>
                  </a:cubicBezTo>
                  <a:lnTo>
                    <a:pt x="80712" y="1283063"/>
                  </a:lnTo>
                  <a:cubicBezTo>
                    <a:pt x="59306" y="1283063"/>
                    <a:pt x="38777" y="1274560"/>
                    <a:pt x="23640" y="1259423"/>
                  </a:cubicBezTo>
                  <a:cubicBezTo>
                    <a:pt x="8504" y="1244287"/>
                    <a:pt x="0" y="1223757"/>
                    <a:pt x="0" y="1202351"/>
                  </a:cubicBezTo>
                  <a:lnTo>
                    <a:pt x="0" y="80712"/>
                  </a:lnTo>
                  <a:cubicBezTo>
                    <a:pt x="0" y="59306"/>
                    <a:pt x="8504" y="38777"/>
                    <a:pt x="23640" y="23640"/>
                  </a:cubicBezTo>
                  <a:cubicBezTo>
                    <a:pt x="38777" y="8504"/>
                    <a:pt x="59306" y="0"/>
                    <a:pt x="80712" y="0"/>
                  </a:cubicBezTo>
                  <a:close/>
                </a:path>
              </a:pathLst>
            </a:custGeom>
            <a:solidFill>
              <a:srgbClr val="09145C">
                <a:alpha val="46667"/>
              </a:srgbClr>
            </a:solidFill>
            <a:ln cap="rnd">
              <a:noFill/>
              <a:prstDash val="solid"/>
              <a:round/>
            </a:ln>
          </p:spPr>
        </p:sp>
        <p:sp>
          <p:nvSpPr>
            <p:cNvPr name="TextBox 9" id="9"/>
            <p:cNvSpPr txBox="true"/>
            <p:nvPr/>
          </p:nvSpPr>
          <p:spPr>
            <a:xfrm>
              <a:off x="0" y="38100"/>
              <a:ext cx="1288407" cy="1244963"/>
            </a:xfrm>
            <a:prstGeom prst="rect">
              <a:avLst/>
            </a:prstGeom>
          </p:spPr>
          <p:txBody>
            <a:bodyPr anchor="ctr" rtlCol="false" tIns="50800" lIns="50800" bIns="50800" rIns="50800"/>
            <a:lstStyle/>
            <a:p>
              <a:pPr algn="ctr" marL="0" indent="0" lvl="0">
                <a:lnSpc>
                  <a:spcPts val="1800"/>
                </a:lnSpc>
                <a:spcBef>
                  <a:spcPct val="0"/>
                </a:spcBef>
              </a:pPr>
            </a:p>
          </p:txBody>
        </p:sp>
      </p:grpSp>
      <p:grpSp>
        <p:nvGrpSpPr>
          <p:cNvPr name="Group 10" id="10"/>
          <p:cNvGrpSpPr/>
          <p:nvPr/>
        </p:nvGrpSpPr>
        <p:grpSpPr>
          <a:xfrm rot="0">
            <a:off x="1028700" y="3397549"/>
            <a:ext cx="4891921" cy="4871631"/>
            <a:chOff x="0" y="0"/>
            <a:chExt cx="1288407" cy="1283063"/>
          </a:xfrm>
        </p:grpSpPr>
        <p:sp>
          <p:nvSpPr>
            <p:cNvPr name="Freeform 11" id="11"/>
            <p:cNvSpPr/>
            <p:nvPr/>
          </p:nvSpPr>
          <p:spPr>
            <a:xfrm flipH="false" flipV="false" rot="0">
              <a:off x="0" y="0"/>
              <a:ext cx="1288407" cy="1283063"/>
            </a:xfrm>
            <a:custGeom>
              <a:avLst/>
              <a:gdLst/>
              <a:ahLst/>
              <a:cxnLst/>
              <a:rect r="r" b="b" t="t" l="l"/>
              <a:pathLst>
                <a:path h="1283063" w="1288407">
                  <a:moveTo>
                    <a:pt x="80712" y="0"/>
                  </a:moveTo>
                  <a:lnTo>
                    <a:pt x="1207695" y="0"/>
                  </a:lnTo>
                  <a:cubicBezTo>
                    <a:pt x="1229101" y="0"/>
                    <a:pt x="1249631" y="8504"/>
                    <a:pt x="1264767" y="23640"/>
                  </a:cubicBezTo>
                  <a:cubicBezTo>
                    <a:pt x="1279904" y="38777"/>
                    <a:pt x="1288407" y="59306"/>
                    <a:pt x="1288407" y="80712"/>
                  </a:cubicBezTo>
                  <a:lnTo>
                    <a:pt x="1288407" y="1202351"/>
                  </a:lnTo>
                  <a:cubicBezTo>
                    <a:pt x="1288407" y="1223757"/>
                    <a:pt x="1279904" y="1244287"/>
                    <a:pt x="1264767" y="1259423"/>
                  </a:cubicBezTo>
                  <a:cubicBezTo>
                    <a:pt x="1249631" y="1274560"/>
                    <a:pt x="1229101" y="1283063"/>
                    <a:pt x="1207695" y="1283063"/>
                  </a:cubicBezTo>
                  <a:lnTo>
                    <a:pt x="80712" y="1283063"/>
                  </a:lnTo>
                  <a:cubicBezTo>
                    <a:pt x="59306" y="1283063"/>
                    <a:pt x="38777" y="1274560"/>
                    <a:pt x="23640" y="1259423"/>
                  </a:cubicBezTo>
                  <a:cubicBezTo>
                    <a:pt x="8504" y="1244287"/>
                    <a:pt x="0" y="1223757"/>
                    <a:pt x="0" y="1202351"/>
                  </a:cubicBezTo>
                  <a:lnTo>
                    <a:pt x="0" y="80712"/>
                  </a:lnTo>
                  <a:cubicBezTo>
                    <a:pt x="0" y="59306"/>
                    <a:pt x="8504" y="38777"/>
                    <a:pt x="23640" y="23640"/>
                  </a:cubicBezTo>
                  <a:cubicBezTo>
                    <a:pt x="38777" y="8504"/>
                    <a:pt x="59306" y="0"/>
                    <a:pt x="80712" y="0"/>
                  </a:cubicBezTo>
                  <a:close/>
                </a:path>
              </a:pathLst>
            </a:custGeom>
            <a:solidFill>
              <a:srgbClr val="09145C">
                <a:alpha val="46667"/>
              </a:srgbClr>
            </a:solidFill>
            <a:ln cap="rnd">
              <a:noFill/>
              <a:prstDash val="solid"/>
              <a:round/>
            </a:ln>
          </p:spPr>
        </p:sp>
        <p:sp>
          <p:nvSpPr>
            <p:cNvPr name="TextBox 12" id="12"/>
            <p:cNvSpPr txBox="true"/>
            <p:nvPr/>
          </p:nvSpPr>
          <p:spPr>
            <a:xfrm>
              <a:off x="0" y="38100"/>
              <a:ext cx="1288407" cy="1244963"/>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Freeform 13" id="13"/>
          <p:cNvSpPr/>
          <p:nvPr/>
        </p:nvSpPr>
        <p:spPr>
          <a:xfrm flipH="false" flipV="false" rot="0">
            <a:off x="14333497" y="4183815"/>
            <a:ext cx="959685" cy="959685"/>
          </a:xfrm>
          <a:custGeom>
            <a:avLst/>
            <a:gdLst/>
            <a:ahLst/>
            <a:cxnLst/>
            <a:rect r="r" b="b" t="t" l="l"/>
            <a:pathLst>
              <a:path h="959685" w="959685">
                <a:moveTo>
                  <a:pt x="0" y="0"/>
                </a:moveTo>
                <a:lnTo>
                  <a:pt x="959685" y="0"/>
                </a:lnTo>
                <a:lnTo>
                  <a:pt x="959685" y="959685"/>
                </a:lnTo>
                <a:lnTo>
                  <a:pt x="0" y="9596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8636042" y="4268543"/>
            <a:ext cx="1015915" cy="874957"/>
          </a:xfrm>
          <a:custGeom>
            <a:avLst/>
            <a:gdLst/>
            <a:ahLst/>
            <a:cxnLst/>
            <a:rect r="r" b="b" t="t" l="l"/>
            <a:pathLst>
              <a:path h="874957" w="1015915">
                <a:moveTo>
                  <a:pt x="0" y="0"/>
                </a:moveTo>
                <a:lnTo>
                  <a:pt x="1015916" y="0"/>
                </a:lnTo>
                <a:lnTo>
                  <a:pt x="1015916" y="874957"/>
                </a:lnTo>
                <a:lnTo>
                  <a:pt x="0" y="874957"/>
                </a:lnTo>
                <a:lnTo>
                  <a:pt x="0" y="0"/>
                </a:lnTo>
                <a:close/>
              </a:path>
            </a:pathLst>
          </a:custGeom>
          <a:blipFill>
            <a:blip r:embed="rId4">
              <a:alphaModFix amt="69000"/>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2950972" y="4127915"/>
            <a:ext cx="1047377" cy="1071485"/>
          </a:xfrm>
          <a:custGeom>
            <a:avLst/>
            <a:gdLst/>
            <a:ahLst/>
            <a:cxnLst/>
            <a:rect r="r" b="b" t="t" l="l"/>
            <a:pathLst>
              <a:path h="1071485" w="1047377">
                <a:moveTo>
                  <a:pt x="0" y="0"/>
                </a:moveTo>
                <a:lnTo>
                  <a:pt x="1047377" y="0"/>
                </a:lnTo>
                <a:lnTo>
                  <a:pt x="1047377" y="1071485"/>
                </a:lnTo>
                <a:lnTo>
                  <a:pt x="0" y="10714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12367379" y="5537297"/>
            <a:ext cx="4891921" cy="2038604"/>
          </a:xfrm>
          <a:prstGeom prst="rect">
            <a:avLst/>
          </a:prstGeom>
        </p:spPr>
        <p:txBody>
          <a:bodyPr anchor="t" rtlCol="false" tIns="0" lIns="0" bIns="0" rIns="0">
            <a:spAutoFit/>
          </a:bodyPr>
          <a:lstStyle/>
          <a:p>
            <a:pPr algn="ctr">
              <a:lnSpc>
                <a:spcPts val="2000"/>
              </a:lnSpc>
              <a:spcBef>
                <a:spcPct val="0"/>
              </a:spcBef>
            </a:pPr>
            <a:r>
              <a:rPr lang="en-US" b="true" sz="2000">
                <a:solidFill>
                  <a:srgbClr val="FFFFFF"/>
                </a:solidFill>
                <a:latin typeface="Canva Sans Bold"/>
                <a:ea typeface="Canva Sans Bold"/>
                <a:cs typeface="Canva Sans Bold"/>
                <a:sym typeface="Canva Sans Bold"/>
              </a:rPr>
              <a:t>AGENTIC AI</a:t>
            </a:r>
          </a:p>
          <a:p>
            <a:pPr algn="ctr">
              <a:lnSpc>
                <a:spcPts val="1800"/>
              </a:lnSpc>
              <a:spcBef>
                <a:spcPct val="0"/>
              </a:spcBef>
            </a:pPr>
          </a:p>
          <a:p>
            <a:pPr algn="ctr">
              <a:lnSpc>
                <a:spcPts val="1800"/>
              </a:lnSpc>
              <a:spcBef>
                <a:spcPct val="0"/>
              </a:spcBef>
            </a:pPr>
          </a:p>
          <a:p>
            <a:pPr algn="ctr">
              <a:lnSpc>
                <a:spcPts val="2106"/>
              </a:lnSpc>
            </a:pPr>
            <a:r>
              <a:rPr lang="en-US" sz="1800">
                <a:solidFill>
                  <a:srgbClr val="FFFFFF"/>
                </a:solidFill>
                <a:latin typeface="Canva Sans"/>
                <a:ea typeface="Canva Sans"/>
                <a:cs typeface="Canva Sans"/>
                <a:sym typeface="Canva Sans"/>
              </a:rPr>
              <a:t>MOVING BEYOND SIMPLE DETECTION. AUTONOMOUS AGENTS WILL ACTIVELY ISOLATE THREATS AND MITIGATE RISKS IN REAL-TIME WITHOUT HUMAN INTERVENTION.</a:t>
            </a:r>
          </a:p>
        </p:txBody>
      </p:sp>
      <p:sp>
        <p:nvSpPr>
          <p:cNvPr name="TextBox 17" id="17"/>
          <p:cNvSpPr txBox="true"/>
          <p:nvPr/>
        </p:nvSpPr>
        <p:spPr>
          <a:xfrm rot="0">
            <a:off x="6698039" y="5537297"/>
            <a:ext cx="4891921" cy="2057654"/>
          </a:xfrm>
          <a:prstGeom prst="rect">
            <a:avLst/>
          </a:prstGeom>
        </p:spPr>
        <p:txBody>
          <a:bodyPr anchor="t" rtlCol="false" tIns="0" lIns="0" bIns="0" rIns="0">
            <a:spAutoFit/>
          </a:bodyPr>
          <a:lstStyle/>
          <a:p>
            <a:pPr algn="ctr">
              <a:lnSpc>
                <a:spcPts val="2000"/>
              </a:lnSpc>
              <a:spcBef>
                <a:spcPct val="0"/>
              </a:spcBef>
            </a:pPr>
            <a:r>
              <a:rPr lang="en-US" b="true" sz="2000">
                <a:solidFill>
                  <a:srgbClr val="FFFFFF"/>
                </a:solidFill>
                <a:latin typeface="Canva Sans Bold"/>
                <a:ea typeface="Canva Sans Bold"/>
                <a:cs typeface="Canva Sans Bold"/>
                <a:sym typeface="Canva Sans Bold"/>
              </a:rPr>
              <a:t>CHATBOT INTEGRATION</a:t>
            </a:r>
          </a:p>
          <a:p>
            <a:pPr algn="ctr">
              <a:lnSpc>
                <a:spcPts val="2000"/>
              </a:lnSpc>
              <a:spcBef>
                <a:spcPct val="0"/>
              </a:spcBef>
            </a:pPr>
          </a:p>
          <a:p>
            <a:pPr algn="ctr">
              <a:lnSpc>
                <a:spcPts val="1800"/>
              </a:lnSpc>
              <a:spcBef>
                <a:spcPct val="0"/>
              </a:spcBef>
            </a:pPr>
          </a:p>
          <a:p>
            <a:pPr algn="ctr">
              <a:lnSpc>
                <a:spcPts val="2106"/>
              </a:lnSpc>
            </a:pPr>
            <a:r>
              <a:rPr lang="en-US" sz="1800">
                <a:solidFill>
                  <a:srgbClr val="FFFFFF"/>
                </a:solidFill>
                <a:latin typeface="Canva Sans"/>
                <a:ea typeface="Canva Sans"/>
                <a:cs typeface="Canva Sans"/>
                <a:sym typeface="Canva Sans"/>
              </a:rPr>
              <a:t>TRANSFORMING SECURITY LOGS INTO CONVERSATIONS. A RAG-POWERED ASSISTANT THAT MAKES COMPLEX SECURITY DATA UNDERSTANDABLE FOR EVERYONE.</a:t>
            </a:r>
          </a:p>
        </p:txBody>
      </p:sp>
      <p:sp>
        <p:nvSpPr>
          <p:cNvPr name="TextBox 18" id="18"/>
          <p:cNvSpPr txBox="true"/>
          <p:nvPr/>
        </p:nvSpPr>
        <p:spPr>
          <a:xfrm rot="0">
            <a:off x="1028700" y="5508722"/>
            <a:ext cx="4891921" cy="1902714"/>
          </a:xfrm>
          <a:prstGeom prst="rect">
            <a:avLst/>
          </a:prstGeom>
        </p:spPr>
        <p:txBody>
          <a:bodyPr anchor="t" rtlCol="false" tIns="0" lIns="0" bIns="0" rIns="0">
            <a:spAutoFit/>
          </a:bodyPr>
          <a:lstStyle/>
          <a:p>
            <a:pPr algn="ctr" marL="0" indent="0" lvl="0">
              <a:lnSpc>
                <a:spcPts val="2340"/>
              </a:lnSpc>
              <a:spcBef>
                <a:spcPct val="0"/>
              </a:spcBef>
            </a:pPr>
            <a:r>
              <a:rPr lang="en-US" b="true" sz="2000">
                <a:solidFill>
                  <a:srgbClr val="FFFFFF"/>
                </a:solidFill>
                <a:latin typeface="Canva Sans Bold"/>
                <a:ea typeface="Canva Sans Bold"/>
                <a:cs typeface="Canva Sans Bold"/>
                <a:sym typeface="Canva Sans Bold"/>
              </a:rPr>
              <a:t>NETWORK </a:t>
            </a:r>
            <a:r>
              <a:rPr lang="en-US" b="true" sz="2000" strike="noStrike" u="none">
                <a:solidFill>
                  <a:srgbClr val="FFFFFF"/>
                </a:solidFill>
                <a:latin typeface="Canva Sans Bold"/>
                <a:ea typeface="Canva Sans Bold"/>
                <a:cs typeface="Canva Sans Bold"/>
                <a:sym typeface="Canva Sans Bold"/>
              </a:rPr>
              <a:t>INTEGRATION</a:t>
            </a:r>
          </a:p>
          <a:p>
            <a:pPr algn="ctr" marL="0" indent="0" lvl="0">
              <a:lnSpc>
                <a:spcPts val="2106"/>
              </a:lnSpc>
              <a:spcBef>
                <a:spcPct val="0"/>
              </a:spcBef>
            </a:pPr>
          </a:p>
          <a:p>
            <a:pPr algn="ctr" marL="0" indent="0" lvl="0">
              <a:lnSpc>
                <a:spcPts val="2106"/>
              </a:lnSpc>
              <a:spcBef>
                <a:spcPct val="0"/>
              </a:spcBef>
            </a:pPr>
          </a:p>
          <a:p>
            <a:pPr algn="ctr" marL="0" indent="0" lvl="0">
              <a:lnSpc>
                <a:spcPts val="2106"/>
              </a:lnSpc>
              <a:spcBef>
                <a:spcPct val="0"/>
              </a:spcBef>
            </a:pPr>
            <a:r>
              <a:rPr lang="en-US" sz="1800" strike="noStrike" u="none">
                <a:solidFill>
                  <a:srgbClr val="FFFFFF"/>
                </a:solidFill>
                <a:latin typeface="Canva Sans"/>
                <a:ea typeface="Canva Sans"/>
                <a:cs typeface="Canva Sans"/>
                <a:sym typeface="Canva Sans"/>
              </a:rPr>
              <a:t>SCALING FROM LAB TO ENTERPRISE. SEAMLESS REAL-TIME TRAFFIC MONITORING ACROSS COMPLEX, LIVE NETWORK ENVIRONMENTS.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23925"/>
            <a:ext cx="4851346" cy="1068705"/>
          </a:xfrm>
          <a:prstGeom prst="rect">
            <a:avLst/>
          </a:prstGeom>
        </p:spPr>
        <p:txBody>
          <a:bodyPr anchor="t" rtlCol="false" tIns="0" lIns="0" bIns="0" rIns="0">
            <a:spAutoFit/>
          </a:bodyPr>
          <a:lstStyle/>
          <a:p>
            <a:pPr algn="ctr" rtl="true">
              <a:lnSpc>
                <a:spcPts val="8819"/>
              </a:lnSpc>
            </a:pPr>
            <a:r>
              <a:rPr lang="en-US" b="true" sz="63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References</a:t>
            </a:r>
          </a:p>
        </p:txBody>
      </p:sp>
      <p:sp>
        <p:nvSpPr>
          <p:cNvPr name="AutoShape 3" id="3"/>
          <p:cNvSpPr/>
          <p:nvPr/>
        </p:nvSpPr>
        <p:spPr>
          <a:xfrm flipH="true">
            <a:off x="1028700" y="1992630"/>
            <a:ext cx="10961021"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
        <p:nvSpPr>
          <p:cNvPr name="TextBox 4" id="4"/>
          <p:cNvSpPr txBox="true"/>
          <p:nvPr/>
        </p:nvSpPr>
        <p:spPr>
          <a:xfrm rot="0">
            <a:off x="1028700" y="2800350"/>
            <a:ext cx="16230600" cy="5095876"/>
          </a:xfrm>
          <a:prstGeom prst="rect">
            <a:avLst/>
          </a:prstGeom>
        </p:spPr>
        <p:txBody>
          <a:bodyPr anchor="t" rtlCol="false" tIns="0" lIns="0" bIns="0" rIns="0">
            <a:spAutoFit/>
          </a:bodyPr>
          <a:lstStyle/>
          <a:p>
            <a:pPr algn="l" marL="518157" indent="-259078" lvl="1">
              <a:lnSpc>
                <a:spcPts val="4079"/>
              </a:lnSpc>
              <a:buFont typeface="Arial"/>
              <a:buChar char="•"/>
            </a:pPr>
            <a:r>
              <a:rPr lang="en-US" b="true" sz="2399" u="sng">
                <a:solidFill>
                  <a:srgbClr val="2C92D5"/>
                </a:solidFill>
                <a:latin typeface="Canva Sans Bold"/>
                <a:ea typeface="Canva Sans Bold"/>
                <a:cs typeface="Canva Sans Bold"/>
                <a:sym typeface="Canva Sans Bold"/>
                <a:hlinkClick r:id="rId2" tooltip="https://link.springer.com/book/10.1007/978-3-031-54497-2"/>
              </a:rPr>
              <a:t>HTTPS://LINK.SPRINGER.COM/BOOK/10.1007/978-3-031-54497-2</a:t>
            </a:r>
          </a:p>
          <a:p>
            <a:pPr algn="l" marL="518157" indent="-259078" lvl="1">
              <a:lnSpc>
                <a:spcPts val="4079"/>
              </a:lnSpc>
              <a:buFont typeface="Arial"/>
              <a:buChar char="•"/>
            </a:pPr>
            <a:r>
              <a:rPr lang="en-US" b="true" sz="2399" u="sng">
                <a:solidFill>
                  <a:srgbClr val="2C92D5"/>
                </a:solidFill>
                <a:latin typeface="Canva Sans Bold"/>
                <a:ea typeface="Canva Sans Bold"/>
                <a:cs typeface="Canva Sans Bold"/>
                <a:sym typeface="Canva Sans Bold"/>
              </a:rPr>
              <a:t>HTTPS://WWW.KAGGLE.COM/DATASETS/MRWELLSDAVID/UNSW-NB15?SELECT=UNSW_NB15_TRAINING-SET.CSV</a:t>
            </a:r>
          </a:p>
          <a:p>
            <a:pPr algn="l" marL="518157" indent="-259078" lvl="1">
              <a:lnSpc>
                <a:spcPts val="4079"/>
              </a:lnSpc>
              <a:buFont typeface="Arial"/>
              <a:buChar char="•"/>
            </a:pPr>
            <a:r>
              <a:rPr lang="en-US" b="true" sz="2399" u="sng">
                <a:solidFill>
                  <a:srgbClr val="2C92D5"/>
                </a:solidFill>
                <a:latin typeface="Canva Sans Bold"/>
                <a:ea typeface="Canva Sans Bold"/>
                <a:cs typeface="Canva Sans Bold"/>
                <a:sym typeface="Canva Sans Bold"/>
                <a:hlinkClick r:id="rId3" tooltip="https://www.kaggle.com/datasets/supplejade/rt-iot2022real-time-internet-of-things"/>
              </a:rPr>
              <a:t>HTTPS://WWW.KAGGLE.COM/DATASETS/SUPPLEJADE/RT-IOT2022REAL-TIME-INTERNET-OF-THINGS</a:t>
            </a:r>
          </a:p>
          <a:p>
            <a:pPr algn="l" marL="518157" indent="-259078" lvl="1">
              <a:lnSpc>
                <a:spcPts val="4079"/>
              </a:lnSpc>
              <a:buFont typeface="Arial"/>
              <a:buChar char="•"/>
            </a:pPr>
            <a:r>
              <a:rPr lang="en-US" b="true" sz="2399" u="sng">
                <a:solidFill>
                  <a:srgbClr val="2C92D5"/>
                </a:solidFill>
                <a:latin typeface="Canva Sans Bold"/>
                <a:ea typeface="Canva Sans Bold"/>
                <a:cs typeface="Canva Sans Bold"/>
                <a:sym typeface="Canva Sans Bold"/>
                <a:hlinkClick r:id="rId4" tooltip="https://www.kaggle.com/datasets/sid321axn/malicious-urls-dataset/data"/>
              </a:rPr>
              <a:t>HTTPS://WWW.KAGGLE.COM/DATASETS/SID321AXN/MALICIOUS-URLS-DATASET/DATA</a:t>
            </a:r>
          </a:p>
          <a:p>
            <a:pPr algn="l" marL="518157" indent="-259078" lvl="1">
              <a:lnSpc>
                <a:spcPts val="4079"/>
              </a:lnSpc>
              <a:buFont typeface="Arial"/>
              <a:buChar char="•"/>
            </a:pPr>
            <a:r>
              <a:rPr lang="en-US" b="true" sz="2399" u="sng">
                <a:solidFill>
                  <a:srgbClr val="2C92D5"/>
                </a:solidFill>
                <a:latin typeface="Canva Sans Bold"/>
                <a:ea typeface="Canva Sans Bold"/>
                <a:cs typeface="Canva Sans Bold"/>
                <a:sym typeface="Canva Sans Bold"/>
                <a:hlinkClick r:id="rId5" tooltip="https://www.sciencedirect.com/science/article/pii/S1877050924008871?fr=RR-2&amp;ref=pdf_download&amp;rr=9f317f25bff5defa"/>
              </a:rPr>
              <a:t>HTTPS://WWW.SCIENCEDIRECT.COM/SCIENCE/ARTICLE/PII/S1877050924008871?FR=RR-2&amp;REF=PDF_DOWNLOAD&amp;RR=9F317F25BFF5DEFA</a:t>
            </a:r>
          </a:p>
          <a:p>
            <a:pPr algn="l" marL="518157" indent="-259078" lvl="1">
              <a:lnSpc>
                <a:spcPts val="4079"/>
              </a:lnSpc>
              <a:buFont typeface="Arial"/>
              <a:buChar char="•"/>
            </a:pPr>
            <a:r>
              <a:rPr lang="en-US" b="true" sz="2399" u="sng">
                <a:solidFill>
                  <a:srgbClr val="2C92D5"/>
                </a:solidFill>
                <a:latin typeface="Canva Sans Bold"/>
                <a:ea typeface="Canva Sans Bold"/>
                <a:cs typeface="Canva Sans Bold"/>
                <a:sym typeface="Canva Sans Bold"/>
                <a:hlinkClick r:id="rId6" tooltip="https://www.netacad.com/cisco-packet-tracer"/>
              </a:rPr>
              <a:t>HTTPS://WWW.NETACAD.COM/CISCO-PACKET-TRACER</a:t>
            </a:r>
          </a:p>
          <a:p>
            <a:pPr algn="l" marL="518157" indent="-259078" lvl="1">
              <a:lnSpc>
                <a:spcPts val="4079"/>
              </a:lnSpc>
              <a:buFont typeface="Arial"/>
              <a:buChar char="•"/>
            </a:pPr>
            <a:r>
              <a:rPr lang="en-US" b="true" sz="2399" u="sng">
                <a:solidFill>
                  <a:srgbClr val="2C92D5"/>
                </a:solidFill>
                <a:latin typeface="Canva Sans Bold"/>
                <a:ea typeface="Canva Sans Bold"/>
                <a:cs typeface="Canva Sans Bold"/>
                <a:sym typeface="Canva Sans Bold"/>
                <a:hlinkClick r:id="rId7" tooltip="https://www.gns3.com"/>
              </a:rPr>
              <a:t>HTTPS://WWW.GNS3.COM/</a:t>
            </a:r>
          </a:p>
          <a:p>
            <a:pPr algn="l" marL="518157" indent="-259078" lvl="1">
              <a:lnSpc>
                <a:spcPts val="4079"/>
              </a:lnSpc>
              <a:buFont typeface="Arial"/>
              <a:buChar char="•"/>
            </a:pPr>
            <a:r>
              <a:rPr lang="en-US" b="true" sz="2399" u="sng">
                <a:solidFill>
                  <a:srgbClr val="2C92D5"/>
                </a:solidFill>
                <a:latin typeface="Canva Sans Bold"/>
                <a:ea typeface="Canva Sans Bold"/>
                <a:cs typeface="Canva Sans Bold"/>
                <a:sym typeface="Canva Sans Bold"/>
                <a:hlinkClick r:id="rId8" tooltip="https://www.ic3.gov/AnnualReport/Reports/2025_IC3Report.pdf"/>
              </a:rPr>
              <a:t>HTTPS://WWW.IC3.GOV/ANNUALREPORT/REPORTS/2025_IC3REPORT.PDF</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64947" y="4165923"/>
            <a:ext cx="7315200" cy="1955153"/>
          </a:xfrm>
          <a:custGeom>
            <a:avLst/>
            <a:gdLst/>
            <a:ahLst/>
            <a:cxnLst/>
            <a:rect r="r" b="b" t="t" l="l"/>
            <a:pathLst>
              <a:path h="1955153" w="7315200">
                <a:moveTo>
                  <a:pt x="0" y="0"/>
                </a:moveTo>
                <a:lnTo>
                  <a:pt x="7315200" y="0"/>
                </a:lnTo>
                <a:lnTo>
                  <a:pt x="7315200" y="1955154"/>
                </a:lnTo>
                <a:lnTo>
                  <a:pt x="0" y="1955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307417" y="5928037"/>
            <a:ext cx="2693551" cy="424180"/>
          </a:xfrm>
          <a:prstGeom prst="rect">
            <a:avLst/>
          </a:prstGeom>
        </p:spPr>
        <p:txBody>
          <a:bodyPr anchor="t" rtlCol="false" tIns="0" lIns="0" bIns="0" rIns="0">
            <a:spAutoFit/>
          </a:bodyPr>
          <a:lstStyle/>
          <a:p>
            <a:pPr algn="ctr">
              <a:lnSpc>
                <a:spcPts val="3200"/>
              </a:lnSpc>
              <a:spcBef>
                <a:spcPct val="0"/>
              </a:spcBef>
            </a:pPr>
            <a:r>
              <a:rPr lang="en-US" b="true" sz="3200">
                <a:gradFill>
                  <a:gsLst>
                    <a:gs pos="0">
                      <a:srgbClr val="004AAD">
                        <a:alpha val="100000"/>
                      </a:srgbClr>
                    </a:gs>
                    <a:gs pos="100000">
                      <a:srgbClr val="CB6CE6">
                        <a:alpha val="100000"/>
                      </a:srgbClr>
                    </a:gs>
                  </a:gsLst>
                  <a:lin ang="0"/>
                </a:gradFill>
                <a:latin typeface="TT Lakes Neue Bold"/>
                <a:ea typeface="TT Lakes Neue Bold"/>
                <a:cs typeface="TT Lakes Neue Bold"/>
                <a:sym typeface="TT Lakes Neue Bold"/>
              </a:rPr>
              <a:t>7ARTH TEAM</a:t>
            </a:r>
          </a:p>
        </p:txBody>
      </p:sp>
      <p:sp>
        <p:nvSpPr>
          <p:cNvPr name="AutoShape 4" id="4"/>
          <p:cNvSpPr/>
          <p:nvPr/>
        </p:nvSpPr>
        <p:spPr>
          <a:xfrm flipH="true">
            <a:off x="11307417" y="6361742"/>
            <a:ext cx="5097246" cy="0"/>
          </a:xfrm>
          <a:prstGeom prst="line">
            <a:avLst/>
          </a:prstGeom>
          <a:ln cap="flat" w="19050">
            <a:gradFill>
              <a:gsLst>
                <a:gs pos="0">
                  <a:srgbClr val="004AAD">
                    <a:alpha val="100000"/>
                  </a:srgbClr>
                </a:gs>
                <a:gs pos="100000">
                  <a:srgbClr val="CB6CE6">
                    <a:alpha val="100000"/>
                  </a:srgbClr>
                </a:gs>
              </a:gsLst>
              <a:lin ang="0"/>
            </a:gra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DAG6rfzfCE4</dc:identifier>
  <dcterms:modified xsi:type="dcterms:W3CDTF">2011-08-01T06:04:30Z</dcterms:modified>
  <cp:revision>1</cp:revision>
  <dc:title>project presentation </dc:title>
</cp:coreProperties>
</file>